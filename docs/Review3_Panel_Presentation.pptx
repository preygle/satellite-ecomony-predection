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5" d="100"/>
          <a:sy n="115" d="100"/>
        </p:scale>
        <p:origin x="7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794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team and say who presents which part: architecture and pipeline, the typology and the growth model, validation and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Varanasi is growing, but satellite built-up maps only say that land was built, not whether anyone uses it. We combine built-up area with signals of use - night-time light as a proxy for activity, points of interest, population - to separate new development that is filling up from development that is not. The third part predicts where growth goes next.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correction: it is the strongest evidence of technical accuracy that we found and fixed our own mistake. Every number after this slide is on observed data only.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above the last row runs today and can be shown live. The whole chain - tests, analysis, models, validation, figures - runs as one step in about three and a half minutes on the data already downloaded.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kinds of source: open downloads with no account (GHSL built-up and population, OpenStreetMap), Google Earth Engine (night light, Sentinel-2, Landsat, MODIS, Dynamic World, Open Buildings, WorldCover, SRTM, WorldPop) and Indian records. The second layer puts every source on one 100 m grid; the 500 m reporting grid nests exactly, 25 cells to one. Earth Engine computes on Google's servers and sends back only the clipped study area, which is why the whole system runs on a laptop.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dataset is named by its official identifier. Night-time light is used as an indirect indicator of activity - a proxy, not a measurement of the economy. The Indian records are used only to check our results, never as inputs.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1, built-up, feeds almost everything: the 2020 built fraction for vegetation, the 2010-2020 gain for the typology, and the mask of land already urban in 2010 that defines 'the established city' for the light trend. Stage 6 is where the three signals meet. Before anything runs, a check refuses any GHSL year after 2020 as a measurement - that is the Review 2 defect, fixed in the system itself.</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VIIRS pixels are about 463 m, so 500 m is the honest reporting scale for activity, while 100 m keeps built-up change sharp. Totals are summed, averages averaged, yes/no findings use 'any', class maps use 'priority'. A majority vote erased every ghost-growth cell from the map, because a finding is always a minority of its block.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Built-up change is 2010 to 2020, observed only. The growth model trains on 2010-2015 and is tested on 2015-2020; the typology classifies on 2013-2020 and is checked on 2021-2024. In both, the check uses years the method never saw. Activity uses the 2022-2024 light mean, which gives land built by 2020 two years to be occupied.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activity index ranks each signal per square kilometre built - light 0.45, points of interest 0.35, population 0.20 - so a large built-up area is not 'active' just because it is large. Expected activity is the median of cells with a similar built-up fraction. New, under-used cells then split on the light trend: emerging if it rises significantly faster than the city, otherwise ghost growth. It is a screening rule; its precision is unmeasured until image labels exist.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raw radiance, 51.4% of urban cells show a significant rise, so 'rising' on the raw sign says little - Review 2 used that rule. The 2021 to 2022 change of product version adds a step. Subtracting the established city's median cancels both, and leaves which cells are catching up.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Cloud, shadow and cirrus are masked and every composite needs at least four dates. The rural reference now excludes the Ganga and recently built land; that moved it from 41.18 to 41.42 degrees C. The mean is taken over urban cells only.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Logistic regression is a straight-line model with readable weights; random forest combines 300 decision trees and captures non-linear effects. Both get the same eight drivers and the same split. A cellular automaton places the demanded number of cells, mixing suitability (0.65) with built-up nearby (0.35), so growth attaches to growth. We choose the model on Figure of Merit because it scores the placed map.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Green means the independent evidence supports the claim; amber means it supports it with a stated qualification. No evidence here was used to build the result it checks.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Built-up surface grew 23.8% in ten years while population grew 10 to 18% depending on the dataset, so land is consumed faster than people arrive: 1.3 to 2.3 times, reported as a range because the two population datasets disagree. Almost half the new urban land is leapfrog - detached from the existing city. The 2025 values are drawn dashed: GHSL's projection, not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how the result depends on the definition of 'rising'. Our rule - faster than the city and significant - gives 4.12 square kilometres emerging and 1.44 ghost growth. Right: the hold-out test. The outcome was never seen by the classifier.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card shows Sentinel-2 true colour in 2018 and 2024, Open Buildings presence in 2016 and 2023, and the zone's night-light series against the city. This zone was built up, but its light has stayed flat relative to the city since 2014.</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of Merit measures how much of the real 2015-2020 growth the placed map caught. Random forest catches 18.7 times more than random placement. AUC ranks all cells; FoM scores the map we actually publish, so we choose on FoM. The demand assumes the 2010-2020 growth rate of 1.86% a year continues.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2 reported +1.10 degrees because it averaged only the cells warmer than rural - positive by construction. Dry, bare fields heat faster than the city by day before the monsoon; this pattern is reported for Indian cities in the literature (Shastri et al. 2017). Heat vulnerability, which weights heat by residents, remains the planning layer.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Indian sources the panel asked about. They are used only as checks. The district result matches Henderson et al. (2012): light tracks economic output well at district scale.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built-up surface fell from 23.47 to 17.25 square kilometres because Review 2 counted GHSL's 2025 projection as data. Heat intensity changed sign once the mean was taken over urban cells and water left the rural reference. AUC fell from 0.99 to 0.91 because 0.99 was measured on the training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left of the 'today' line is done. The hatched bars are planned, not claimed.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limitations before the panel does. The main one is that the ghost flag has no ground truth yet; Review 4 measures its precision with image labels.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Questions to expect: why the 2025 epoch mattered; why the heat result reversed; why the forest wins on Figure of Merit but loses on AUC; what the ghost flag can and cannot claim.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74519"/>
            <a:ext cx="10515600" cy="2011680"/>
          </a:xfrm>
          <a:prstGeom prst="rect">
            <a:avLst/>
          </a:prstGeom>
          <a:noFill/>
        </p:spPr>
        <p:txBody>
          <a:bodyPr wrap="square">
            <a:spAutoFit/>
          </a:bodyPr>
          <a:lstStyle/>
          <a:p>
            <a:pPr algn="l">
              <a:spcAft>
                <a:spcPts val="200"/>
              </a:spcAft>
            </a:pPr>
            <a:r>
              <a:rPr sz="3600" b="1">
                <a:solidFill>
                  <a:srgbClr val="101826"/>
                </a:solidFill>
                <a:latin typeface="Segoe UI"/>
              </a:rPr>
              <a:t>Satellite-Based Urban Growth and</a:t>
            </a:r>
          </a:p>
          <a:p>
            <a:pPr>
              <a:spcAft>
                <a:spcPts val="1000"/>
              </a:spcAft>
            </a:pPr>
            <a:r>
              <a:rPr sz="3600" b="1">
                <a:solidFill>
                  <a:srgbClr val="101826"/>
                </a:solidFill>
                <a:latin typeface="Segoe UI"/>
              </a:rPr>
              <a:t>Economic Activity Intelligence System</a:t>
            </a:r>
          </a:p>
          <a:p>
            <a:pPr>
              <a:spcAft>
                <a:spcPts val="0"/>
              </a:spcAft>
            </a:pPr>
            <a:r>
              <a:rPr sz="1600" b="0">
                <a:solidFill>
                  <a:srgbClr val="1B5FAF"/>
                </a:solidFill>
                <a:latin typeface="Segoe UI"/>
              </a:rPr>
              <a:t>Review 3  -  Architecture, Methods and Results  -  Varanasi, Uttar Pradesh</a:t>
            </a:r>
          </a:p>
        </p:txBody>
      </p:sp>
      <p:sp>
        <p:nvSpPr>
          <p:cNvPr id="4" name="Rectangle 3"/>
          <p:cNvSpPr/>
          <p:nvPr/>
        </p:nvSpPr>
        <p:spPr>
          <a:xfrm>
            <a:off x="822960" y="4069080"/>
            <a:ext cx="1828800" cy="36576"/>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389120"/>
            <a:ext cx="10515600" cy="1463040"/>
          </a:xfrm>
          <a:prstGeom prst="rect">
            <a:avLst/>
          </a:prstGeom>
          <a:noFill/>
        </p:spPr>
        <p:txBody>
          <a:bodyPr wrap="square">
            <a:spAutoFit/>
          </a:bodyPr>
          <a:lstStyle/>
          <a:p>
            <a:pPr algn="l">
              <a:spcAft>
                <a:spcPts val="600"/>
              </a:spcAft>
            </a:pPr>
            <a:r>
              <a:rPr sz="1400" b="0">
                <a:solidFill>
                  <a:srgbClr val="101826"/>
                </a:solidFill>
                <a:latin typeface="Segoe UI"/>
              </a:rPr>
              <a:t>Mayank  23BCE1753        Achal Pramod Tripathi  23BCE1734        Mohammad Owais  23BCE1746</a:t>
            </a:r>
          </a:p>
          <a:p>
            <a:pPr>
              <a:spcAft>
                <a:spcPts val="600"/>
              </a:spcAft>
            </a:pPr>
            <a:r>
              <a:rPr sz="1300" b="0">
                <a:solidFill>
                  <a:srgbClr val="5A6474"/>
                </a:solidFill>
                <a:latin typeface="Segoe UI"/>
              </a:rPr>
              <a:t>Guide: Joshan        BCSE497J Project I  -  SCOPE  -  Fall 2026-27</a:t>
            </a:r>
          </a:p>
          <a:p>
            <a:pPr>
              <a:spcAft>
                <a:spcPts val="0"/>
              </a:spcAft>
            </a:pPr>
            <a:r>
              <a:rPr sz="1300" b="0">
                <a:solidFill>
                  <a:srgbClr val="5A6474"/>
                </a:solidFill>
                <a:latin typeface="Segoe UI"/>
              </a:rPr>
              <a:t>Panel review, 16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What the system answers</a:t>
            </a:r>
          </a:p>
          <a:p>
            <a:pPr>
              <a:spcAft>
                <a:spcPts val="0"/>
              </a:spcAft>
            </a:pPr>
            <a:r>
              <a:rPr sz="1350" b="0">
                <a:solidFill>
                  <a:srgbClr val="1B5FAF"/>
                </a:solidFill>
                <a:latin typeface="Segoe UI"/>
              </a:rPr>
              <a:t>Three questions about Varanasi, from open satellite data</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3520440" cy="22860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755648"/>
            <a:ext cx="3154680" cy="2057400"/>
          </a:xfrm>
          <a:prstGeom prst="rect">
            <a:avLst/>
          </a:prstGeom>
          <a:noFill/>
        </p:spPr>
        <p:txBody>
          <a:bodyPr wrap="square">
            <a:spAutoFit/>
          </a:bodyPr>
          <a:lstStyle/>
          <a:p>
            <a:pPr algn="l">
              <a:spcAft>
                <a:spcPts val="800"/>
              </a:spcAft>
            </a:pPr>
            <a:r>
              <a:rPr sz="1600" b="1">
                <a:solidFill>
                  <a:srgbClr val="1B5FAF"/>
                </a:solidFill>
                <a:latin typeface="Segoe UI"/>
              </a:rPr>
              <a:t>Where and how fast did the city grow?</a:t>
            </a:r>
          </a:p>
          <a:p>
            <a:pPr>
              <a:spcAft>
                <a:spcPts val="0"/>
              </a:spcAft>
            </a:pPr>
            <a:r>
              <a:rPr sz="1350" b="0">
                <a:solidFill>
                  <a:srgbClr val="5A6474"/>
                </a:solidFill>
                <a:latin typeface="Segoe UI"/>
              </a:rPr>
              <a:t>Built-up change from 2010 to 2020, measured on a 100 m grid, and the form it took: infill, edge expansion or leapfrog.</a:t>
            </a:r>
          </a:p>
        </p:txBody>
      </p:sp>
      <p:sp>
        <p:nvSpPr>
          <p:cNvPr id="7" name="Rectangle 6"/>
          <p:cNvSpPr/>
          <p:nvPr/>
        </p:nvSpPr>
        <p:spPr>
          <a:xfrm>
            <a:off x="4315967" y="1600200"/>
            <a:ext cx="3520440" cy="22860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17135" y="1755648"/>
            <a:ext cx="3154680" cy="2057400"/>
          </a:xfrm>
          <a:prstGeom prst="rect">
            <a:avLst/>
          </a:prstGeom>
          <a:noFill/>
        </p:spPr>
        <p:txBody>
          <a:bodyPr wrap="square">
            <a:spAutoFit/>
          </a:bodyPr>
          <a:lstStyle/>
          <a:p>
            <a:pPr algn="l">
              <a:spcAft>
                <a:spcPts val="800"/>
              </a:spcAft>
            </a:pPr>
            <a:r>
              <a:rPr sz="1600" b="1">
                <a:solidFill>
                  <a:srgbClr val="B26A00"/>
                </a:solidFill>
                <a:latin typeface="Segoe UI"/>
              </a:rPr>
              <a:t>Is the new development being used?</a:t>
            </a:r>
          </a:p>
          <a:p>
            <a:pPr>
              <a:spcAft>
                <a:spcPts val="0"/>
              </a:spcAft>
            </a:pPr>
            <a:r>
              <a:rPr sz="1350" b="0">
                <a:solidFill>
                  <a:srgbClr val="5A6474"/>
                </a:solidFill>
                <a:latin typeface="Segoe UI"/>
              </a:rPr>
              <a:t>Night-time light, points of interest and population, compared with how much is built. New land that stays dark and empty is flagged as ghost growth.</a:t>
            </a:r>
          </a:p>
        </p:txBody>
      </p:sp>
      <p:sp>
        <p:nvSpPr>
          <p:cNvPr id="9" name="Rectangle 8"/>
          <p:cNvSpPr/>
          <p:nvPr/>
        </p:nvSpPr>
        <p:spPr>
          <a:xfrm>
            <a:off x="7991854" y="1600200"/>
            <a:ext cx="3520440" cy="22860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93022" y="1755648"/>
            <a:ext cx="3154680" cy="2057400"/>
          </a:xfrm>
          <a:prstGeom prst="rect">
            <a:avLst/>
          </a:prstGeom>
          <a:noFill/>
        </p:spPr>
        <p:txBody>
          <a:bodyPr wrap="square">
            <a:spAutoFit/>
          </a:bodyPr>
          <a:lstStyle/>
          <a:p>
            <a:pPr algn="l">
              <a:spcAft>
                <a:spcPts val="800"/>
              </a:spcAft>
            </a:pPr>
            <a:r>
              <a:rPr sz="1600" b="1">
                <a:solidFill>
                  <a:srgbClr val="0E7A52"/>
                </a:solidFill>
                <a:latin typeface="Segoe UI"/>
              </a:rPr>
              <a:t>Where will it grow next?</a:t>
            </a:r>
          </a:p>
          <a:p>
            <a:pPr>
              <a:spcAft>
                <a:spcPts val="0"/>
              </a:spcAft>
            </a:pPr>
            <a:r>
              <a:rPr sz="1350" b="0">
                <a:solidFill>
                  <a:srgbClr val="5A6474"/>
                </a:solidFill>
                <a:latin typeface="Segoe UI"/>
              </a:rPr>
              <a:t>A growth model learns from 2010-2015, is tested on 2015-2020, and predicts new urban land for 2025 and 2030.</a:t>
            </a:r>
          </a:p>
        </p:txBody>
      </p:sp>
      <p:sp>
        <p:nvSpPr>
          <p:cNvPr id="11" name="Rectangle 10"/>
          <p:cNvSpPr/>
          <p:nvPr/>
        </p:nvSpPr>
        <p:spPr>
          <a:xfrm>
            <a:off x="640080" y="4160520"/>
            <a:ext cx="205740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 y="4251960"/>
            <a:ext cx="1801368" cy="822960"/>
          </a:xfrm>
          <a:prstGeom prst="rect">
            <a:avLst/>
          </a:prstGeom>
          <a:noFill/>
        </p:spPr>
        <p:txBody>
          <a:bodyPr wrap="square">
            <a:spAutoFit/>
          </a:bodyPr>
          <a:lstStyle/>
          <a:p>
            <a:pPr algn="l">
              <a:spcAft>
                <a:spcPts val="200"/>
              </a:spcAft>
            </a:pPr>
            <a:r>
              <a:rPr sz="2000" b="1">
                <a:solidFill>
                  <a:srgbClr val="1B5FAF"/>
                </a:solidFill>
                <a:latin typeface="Segoe UI"/>
              </a:rPr>
              <a:t>1,206 km²</a:t>
            </a:r>
          </a:p>
          <a:p>
            <a:pPr>
              <a:spcAft>
                <a:spcPts val="0"/>
              </a:spcAft>
            </a:pPr>
            <a:r>
              <a:rPr sz="1050" b="0">
                <a:solidFill>
                  <a:srgbClr val="5A6474"/>
                </a:solidFill>
                <a:latin typeface="Segoe UI"/>
              </a:rPr>
              <a:t>study area around the city</a:t>
            </a:r>
          </a:p>
        </p:txBody>
      </p:sp>
      <p:sp>
        <p:nvSpPr>
          <p:cNvPr id="13" name="Rectangle 12"/>
          <p:cNvSpPr/>
          <p:nvPr/>
        </p:nvSpPr>
        <p:spPr>
          <a:xfrm>
            <a:off x="2843784" y="4160520"/>
            <a:ext cx="205740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71800" y="4251960"/>
            <a:ext cx="1801368" cy="822960"/>
          </a:xfrm>
          <a:prstGeom prst="rect">
            <a:avLst/>
          </a:prstGeom>
          <a:noFill/>
        </p:spPr>
        <p:txBody>
          <a:bodyPr wrap="square">
            <a:spAutoFit/>
          </a:bodyPr>
          <a:lstStyle/>
          <a:p>
            <a:pPr algn="l">
              <a:spcAft>
                <a:spcPts val="200"/>
              </a:spcAft>
            </a:pPr>
            <a:r>
              <a:rPr sz="2000" b="1">
                <a:solidFill>
                  <a:srgbClr val="1B5FAF"/>
                </a:solidFill>
                <a:latin typeface="Segoe UI"/>
              </a:rPr>
              <a:t>100 m</a:t>
            </a:r>
          </a:p>
          <a:p>
            <a:pPr>
              <a:spcAft>
                <a:spcPts val="0"/>
              </a:spcAft>
            </a:pPr>
            <a:r>
              <a:rPr sz="1050" b="0">
                <a:solidFill>
                  <a:srgbClr val="5A6474"/>
                </a:solidFill>
                <a:latin typeface="Segoe UI"/>
              </a:rPr>
              <a:t>analysis grid</a:t>
            </a:r>
          </a:p>
        </p:txBody>
      </p:sp>
      <p:sp>
        <p:nvSpPr>
          <p:cNvPr id="15" name="Rectangle 14"/>
          <p:cNvSpPr/>
          <p:nvPr/>
        </p:nvSpPr>
        <p:spPr>
          <a:xfrm>
            <a:off x="5047488" y="4160520"/>
            <a:ext cx="205740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75504" y="4251960"/>
            <a:ext cx="1801368" cy="822960"/>
          </a:xfrm>
          <a:prstGeom prst="rect">
            <a:avLst/>
          </a:prstGeom>
          <a:noFill/>
        </p:spPr>
        <p:txBody>
          <a:bodyPr wrap="square">
            <a:spAutoFit/>
          </a:bodyPr>
          <a:lstStyle/>
          <a:p>
            <a:pPr algn="l">
              <a:spcAft>
                <a:spcPts val="200"/>
              </a:spcAft>
            </a:pPr>
            <a:r>
              <a:rPr sz="2000" b="1">
                <a:solidFill>
                  <a:srgbClr val="1B5FAF"/>
                </a:solidFill>
                <a:latin typeface="Segoe UI"/>
              </a:rPr>
              <a:t>500 m</a:t>
            </a:r>
          </a:p>
          <a:p>
            <a:pPr>
              <a:spcAft>
                <a:spcPts val="0"/>
              </a:spcAft>
            </a:pPr>
            <a:r>
              <a:rPr sz="1050" b="0">
                <a:solidFill>
                  <a:srgbClr val="5A6474"/>
                </a:solidFill>
                <a:latin typeface="Segoe UI"/>
              </a:rPr>
              <a:t>reporting grid</a:t>
            </a:r>
          </a:p>
        </p:txBody>
      </p:sp>
      <p:sp>
        <p:nvSpPr>
          <p:cNvPr id="17" name="Rectangle 16"/>
          <p:cNvSpPr/>
          <p:nvPr/>
        </p:nvSpPr>
        <p:spPr>
          <a:xfrm>
            <a:off x="7251192" y="4160520"/>
            <a:ext cx="205740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79208" y="4251960"/>
            <a:ext cx="1801368" cy="822960"/>
          </a:xfrm>
          <a:prstGeom prst="rect">
            <a:avLst/>
          </a:prstGeom>
          <a:noFill/>
        </p:spPr>
        <p:txBody>
          <a:bodyPr wrap="square">
            <a:spAutoFit/>
          </a:bodyPr>
          <a:lstStyle/>
          <a:p>
            <a:pPr algn="l">
              <a:spcAft>
                <a:spcPts val="200"/>
              </a:spcAft>
            </a:pPr>
            <a:r>
              <a:rPr sz="2000" b="1">
                <a:solidFill>
                  <a:srgbClr val="1B5FAF"/>
                </a:solidFill>
                <a:latin typeface="Segoe UI"/>
              </a:rPr>
              <a:t>2010-2020</a:t>
            </a:r>
          </a:p>
          <a:p>
            <a:pPr>
              <a:spcAft>
                <a:spcPts val="0"/>
              </a:spcAft>
            </a:pPr>
            <a:r>
              <a:rPr sz="1050" b="0">
                <a:solidFill>
                  <a:srgbClr val="5A6474"/>
                </a:solidFill>
                <a:latin typeface="Segoe UI"/>
              </a:rPr>
              <a:t>observed built-up years</a:t>
            </a:r>
          </a:p>
        </p:txBody>
      </p:sp>
      <p:sp>
        <p:nvSpPr>
          <p:cNvPr id="19" name="Rectangle 18"/>
          <p:cNvSpPr/>
          <p:nvPr/>
        </p:nvSpPr>
        <p:spPr>
          <a:xfrm>
            <a:off x="9454896" y="4160520"/>
            <a:ext cx="205740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82912" y="4251960"/>
            <a:ext cx="1801368" cy="822960"/>
          </a:xfrm>
          <a:prstGeom prst="rect">
            <a:avLst/>
          </a:prstGeom>
          <a:noFill/>
        </p:spPr>
        <p:txBody>
          <a:bodyPr wrap="square">
            <a:spAutoFit/>
          </a:bodyPr>
          <a:lstStyle/>
          <a:p>
            <a:pPr algn="l">
              <a:spcAft>
                <a:spcPts val="200"/>
              </a:spcAft>
            </a:pPr>
            <a:r>
              <a:rPr sz="2000" b="1">
                <a:solidFill>
                  <a:srgbClr val="1B5FAF"/>
                </a:solidFill>
                <a:latin typeface="Segoe UI"/>
              </a:rPr>
              <a:t>2013-2024</a:t>
            </a:r>
          </a:p>
          <a:p>
            <a:pPr>
              <a:spcAft>
                <a:spcPts val="0"/>
              </a:spcAft>
            </a:pPr>
            <a:r>
              <a:rPr sz="1050" b="0">
                <a:solidFill>
                  <a:srgbClr val="5A6474"/>
                </a:solidFill>
                <a:latin typeface="Segoe UI"/>
              </a:rPr>
              <a:t>night-light years</a:t>
            </a:r>
          </a:p>
        </p:txBody>
      </p:sp>
      <p:sp>
        <p:nvSpPr>
          <p:cNvPr id="21" name="TextBox 20"/>
          <p:cNvSpPr txBox="1"/>
          <p:nvPr/>
        </p:nvSpPr>
        <p:spPr>
          <a:xfrm>
            <a:off x="640080" y="6291072"/>
            <a:ext cx="10972800" cy="274320"/>
          </a:xfrm>
          <a:prstGeom prst="rect">
            <a:avLst/>
          </a:prstGeom>
          <a:noFill/>
        </p:spPr>
        <p:txBody>
          <a:bodyPr wrap="square">
            <a:spAutoFit/>
          </a:bodyPr>
          <a:lstStyle/>
          <a:p>
            <a:pPr algn="l">
              <a:spcAft>
                <a:spcPts val="0"/>
              </a:spcAft>
            </a:pPr>
            <a:r>
              <a:rPr sz="950" b="0">
                <a:solidFill>
                  <a:srgbClr val="5A6474"/>
                </a:solidFill>
                <a:latin typeface="Segoe UI"/>
              </a:rPr>
              <a:t>Ghost growth: land that became built-up after 2010 but shows much less activity than comparable built-up land in the same city.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What changed since Review 2</a:t>
            </a:r>
          </a:p>
          <a:p>
            <a:pPr>
              <a:spcAft>
                <a:spcPts val="0"/>
              </a:spcAft>
            </a:pPr>
            <a:r>
              <a:rPr sz="1350" b="0">
                <a:solidFill>
                  <a:srgbClr val="1B5FAF"/>
                </a:solidFill>
                <a:latin typeface="Segoe UI"/>
              </a:rPr>
              <a:t>Three things, in order of importance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10881360" cy="14173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46504"/>
            <a:ext cx="10424160" cy="1143000"/>
          </a:xfrm>
          <a:prstGeom prst="rect">
            <a:avLst/>
          </a:prstGeom>
          <a:noFill/>
        </p:spPr>
        <p:txBody>
          <a:bodyPr wrap="square">
            <a:spAutoFit/>
          </a:bodyPr>
          <a:lstStyle/>
          <a:p>
            <a:pPr algn="l">
              <a:spcAft>
                <a:spcPts val="400"/>
              </a:spcAft>
            </a:pPr>
            <a:r>
              <a:rPr sz="1600" b="1">
                <a:solidFill>
                  <a:srgbClr val="1B5FAF"/>
                </a:solidFill>
                <a:latin typeface="Segoe UI"/>
              </a:rPr>
              <a:t>1. We fixed what was wrong</a:t>
            </a:r>
          </a:p>
          <a:p>
            <a:pPr>
              <a:spcAft>
                <a:spcPts val="0"/>
              </a:spcAft>
            </a:pPr>
            <a:r>
              <a:rPr sz="1300" b="0">
                <a:solidFill>
                  <a:srgbClr val="5A6474"/>
                </a:solidFill>
                <a:latin typeface="Segoe UI"/>
              </a:rPr>
              <a:t>An audit of our own work found 15 defects. The most serious: GHSL's 2025 epoch - a projection, not an observation - was used as the current year, so every 2010-2025 figure was measured against a forecast. Every number is now recomputed on the observed epochs 2010, 2015 and 2020.</a:t>
            </a:r>
          </a:p>
        </p:txBody>
      </p:sp>
      <p:sp>
        <p:nvSpPr>
          <p:cNvPr id="7" name="Rectangle 6"/>
          <p:cNvSpPr/>
          <p:nvPr/>
        </p:nvSpPr>
        <p:spPr>
          <a:xfrm>
            <a:off x="640080" y="3172968"/>
            <a:ext cx="10881360" cy="14173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3319272"/>
            <a:ext cx="10424160" cy="1143000"/>
          </a:xfrm>
          <a:prstGeom prst="rect">
            <a:avLst/>
          </a:prstGeom>
          <a:noFill/>
        </p:spPr>
        <p:txBody>
          <a:bodyPr wrap="square">
            <a:spAutoFit/>
          </a:bodyPr>
          <a:lstStyle/>
          <a:p>
            <a:pPr algn="l">
              <a:spcAft>
                <a:spcPts val="400"/>
              </a:spcAft>
            </a:pPr>
            <a:r>
              <a:rPr sz="1600" b="1">
                <a:solidFill>
                  <a:srgbClr val="0E7A52"/>
                </a:solidFill>
                <a:latin typeface="Segoe UI"/>
              </a:rPr>
              <a:t>2. We tested the results against independent data</a:t>
            </a:r>
          </a:p>
          <a:p>
            <a:pPr>
              <a:spcAft>
                <a:spcPts val="0"/>
              </a:spcAft>
            </a:pPr>
            <a:r>
              <a:rPr sz="1300" b="0">
                <a:solidFill>
                  <a:srgbClr val="5A6474"/>
                </a:solidFill>
                <a:latin typeface="Segoe UI"/>
              </a:rPr>
              <a:t>Six built-up datasets, a second temperature sensor, a hold-out test of the ghost-growth classes, and Indian records: Census of India 2001 and 2011, the 2013 Economic Census, and district GDP from the Government of Uttar Pradesh.</a:t>
            </a:r>
          </a:p>
        </p:txBody>
      </p:sp>
      <p:sp>
        <p:nvSpPr>
          <p:cNvPr id="9" name="Rectangle 8"/>
          <p:cNvSpPr/>
          <p:nvPr/>
        </p:nvSpPr>
        <p:spPr>
          <a:xfrm>
            <a:off x="640080" y="4745736"/>
            <a:ext cx="10881360" cy="14173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892040"/>
            <a:ext cx="10424160" cy="1143000"/>
          </a:xfrm>
          <a:prstGeom prst="rect">
            <a:avLst/>
          </a:prstGeom>
          <a:noFill/>
        </p:spPr>
        <p:txBody>
          <a:bodyPr wrap="square">
            <a:spAutoFit/>
          </a:bodyPr>
          <a:lstStyle/>
          <a:p>
            <a:pPr algn="l">
              <a:spcAft>
                <a:spcPts val="400"/>
              </a:spcAft>
            </a:pPr>
            <a:r>
              <a:rPr sz="1600" b="1">
                <a:solidFill>
                  <a:srgbClr val="B26A00"/>
                </a:solidFill>
                <a:latin typeface="Segoe UI"/>
              </a:rPr>
              <a:t>3. We finished the prediction module</a:t>
            </a:r>
          </a:p>
          <a:p>
            <a:pPr>
              <a:spcAft>
                <a:spcPts val="0"/>
              </a:spcAft>
            </a:pPr>
            <a:r>
              <a:rPr sz="1300" b="0">
                <a:solidFill>
                  <a:srgbClr val="5A6474"/>
                </a:solidFill>
                <a:latin typeface="Segoe UI"/>
              </a:rPr>
              <a:t>Logistic regression and random forest, trained on 2010-2015, scored on a held-out 2015-2020; the better one predicts growth 5 and 10 years ahead.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Implementation status</a:t>
            </a:r>
          </a:p>
          <a:p>
            <a:pPr>
              <a:spcAft>
                <a:spcPts val="0"/>
              </a:spcAft>
            </a:pPr>
            <a:r>
              <a:rPr sz="1350" b="0">
                <a:solidFill>
                  <a:srgbClr val="1B5FAF"/>
                </a:solidFill>
                <a:latin typeface="Segoe UI"/>
              </a:rPr>
              <a:t>What works today</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600200"/>
          <a:ext cx="10881359" cy="2468880"/>
        </p:xfrm>
        <a:graphic>
          <a:graphicData uri="http://schemas.openxmlformats.org/drawingml/2006/table">
            <a:tbl>
              <a:tblPr firstRow="1" bandRow="1">
                <a:tableStyleId>{5C22544A-7EE6-4342-B048-85BDC9FD1C3A}</a:tableStyleId>
              </a:tblPr>
              <a:tblGrid>
                <a:gridCol w="5440680">
                  <a:extLst>
                    <a:ext uri="{9D8B030D-6E8A-4147-A177-3AD203B41FA5}">
                      <a16:colId xmlns:a16="http://schemas.microsoft.com/office/drawing/2014/main" val="20000"/>
                    </a:ext>
                  </a:extLst>
                </a:gridCol>
                <a:gridCol w="1305763">
                  <a:extLst>
                    <a:ext uri="{9D8B030D-6E8A-4147-A177-3AD203B41FA5}">
                      <a16:colId xmlns:a16="http://schemas.microsoft.com/office/drawing/2014/main" val="20001"/>
                    </a:ext>
                  </a:extLst>
                </a:gridCol>
                <a:gridCol w="4134916">
                  <a:extLst>
                    <a:ext uri="{9D8B030D-6E8A-4147-A177-3AD203B41FA5}">
                      <a16:colId xmlns:a16="http://schemas.microsoft.com/office/drawing/2014/main" val="20002"/>
                    </a:ext>
                  </a:extLst>
                </a:gridCol>
              </a:tblGrid>
              <a:tr h="274320">
                <a:tc>
                  <a:txBody>
                    <a:bodyPr/>
                    <a:lstStyle/>
                    <a:p>
                      <a:pPr algn="l"/>
                      <a:r>
                        <a:rPr sz="1050" b="1">
                          <a:solidFill>
                            <a:srgbClr val="101826"/>
                          </a:solidFill>
                          <a:latin typeface="Segoe UI"/>
                        </a:rPr>
                        <a:t>Component</a:t>
                      </a:r>
                    </a:p>
                  </a:txBody>
                  <a:tcPr marL="64008" marR="64008" marT="18288" marB="18288">
                    <a:solidFill>
                      <a:srgbClr val="F1F5FA"/>
                    </a:solidFill>
                  </a:tcPr>
                </a:tc>
                <a:tc>
                  <a:txBody>
                    <a:bodyPr/>
                    <a:lstStyle/>
                    <a:p>
                      <a:pPr algn="l"/>
                      <a:r>
                        <a:rPr sz="1050" b="1">
                          <a:solidFill>
                            <a:srgbClr val="101826"/>
                          </a:solidFill>
                          <a:latin typeface="Segoe UI"/>
                        </a:rPr>
                        <a:t>Status</a:t>
                      </a:r>
                    </a:p>
                  </a:txBody>
                  <a:tcPr marL="64008" marR="64008" marT="18288" marB="18288">
                    <a:solidFill>
                      <a:srgbClr val="F1F5FA"/>
                    </a:solidFill>
                  </a:tcPr>
                </a:tc>
                <a:tc>
                  <a:txBody>
                    <a:bodyPr/>
                    <a:lstStyle/>
                    <a:p>
                      <a:pPr algn="l"/>
                      <a:r>
                        <a:rPr sz="1050" b="1">
                          <a:solidFill>
                            <a:srgbClr val="101826"/>
                          </a:solidFill>
                          <a:latin typeface="Segoe UI"/>
                        </a:rPr>
                        <a:t>What it delivers</a:t>
                      </a:r>
                    </a:p>
                  </a:txBody>
                  <a:tcPr marL="64008" marR="64008" marT="18288" marB="18288">
                    <a:solidFill>
                      <a:srgbClr val="F1F5FA"/>
                    </a:solidFill>
                  </a:tcPr>
                </a:tc>
                <a:extLst>
                  <a:ext uri="{0D108BD9-81ED-4DB2-BD59-A6C34878D82A}">
                    <a16:rowId xmlns:a16="http://schemas.microsoft.com/office/drawing/2014/main" val="10000"/>
                  </a:ext>
                </a:extLst>
              </a:tr>
              <a:tr h="274320">
                <a:tc>
                  <a:txBody>
                    <a:bodyPr/>
                    <a:lstStyle/>
                    <a:p>
                      <a:pPr algn="l"/>
                      <a:r>
                        <a:rPr sz="1050" b="0">
                          <a:solidFill>
                            <a:srgbClr val="5A6474"/>
                          </a:solidFill>
                          <a:latin typeface="Segoe UI"/>
                        </a:rPr>
                        <a:t>Data acquisition - GHSL, OpenStreetMap, 13 Earth Engine layers</a:t>
                      </a:r>
                    </a:p>
                  </a:txBody>
                  <a:tcPr marL="64008" marR="64008" marT="18288" marB="18288">
                    <a:solidFill>
                      <a:srgbClr val="FFFFFF"/>
                    </a:solidFill>
                  </a:tcPr>
                </a:tc>
                <a:tc>
                  <a:txBody>
                    <a:bodyPr/>
                    <a:lstStyle/>
                    <a:p>
                      <a:pPr algn="l"/>
                      <a:r>
                        <a:rPr sz="1050" b="0">
                          <a:solidFill>
                            <a:srgbClr val="5A6474"/>
                          </a:solidFill>
                          <a:latin typeface="Segoe UI"/>
                        </a:rPr>
                        <a:t>Done</a:t>
                      </a:r>
                    </a:p>
                  </a:txBody>
                  <a:tcPr marL="64008" marR="64008" marT="18288" marB="18288">
                    <a:solidFill>
                      <a:srgbClr val="FFFFFF"/>
                    </a:solidFill>
                  </a:tcPr>
                </a:tc>
                <a:tc>
                  <a:txBody>
                    <a:bodyPr/>
                    <a:lstStyle/>
                    <a:p>
                      <a:pPr algn="l"/>
                      <a:r>
                        <a:rPr sz="1050" b="0">
                          <a:solidFill>
                            <a:srgbClr val="5A6474"/>
                          </a:solidFill>
                          <a:latin typeface="Segoe UI"/>
                        </a:rPr>
                        <a:t>every layer on one 100 m grid</a:t>
                      </a:r>
                    </a:p>
                  </a:txBody>
                  <a:tcPr marL="64008" marR="64008" marT="18288" marB="18288">
                    <a:solidFill>
                      <a:srgbClr val="FFFFFF"/>
                    </a:solidFill>
                  </a:tcPr>
                </a:tc>
                <a:extLst>
                  <a:ext uri="{0D108BD9-81ED-4DB2-BD59-A6C34878D82A}">
                    <a16:rowId xmlns:a16="http://schemas.microsoft.com/office/drawing/2014/main" val="10001"/>
                  </a:ext>
                </a:extLst>
              </a:tr>
              <a:tr h="274320">
                <a:tc>
                  <a:txBody>
                    <a:bodyPr/>
                    <a:lstStyle/>
                    <a:p>
                      <a:pPr algn="l"/>
                      <a:r>
                        <a:rPr sz="1050" b="0">
                          <a:solidFill>
                            <a:srgbClr val="5A6474"/>
                          </a:solidFill>
                          <a:latin typeface="Segoe UI"/>
                        </a:rPr>
                        <a:t>Indian datasets - Census, Economic Census, UP district GDP</a:t>
                      </a:r>
                    </a:p>
                  </a:txBody>
                  <a:tcPr marL="64008" marR="64008" marT="18288" marB="18288">
                    <a:solidFill>
                      <a:srgbClr val="FFFFFF"/>
                    </a:solidFill>
                  </a:tcPr>
                </a:tc>
                <a:tc>
                  <a:txBody>
                    <a:bodyPr/>
                    <a:lstStyle/>
                    <a:p>
                      <a:pPr algn="l"/>
                      <a:r>
                        <a:rPr sz="1050" b="0">
                          <a:solidFill>
                            <a:srgbClr val="5A6474"/>
                          </a:solidFill>
                          <a:latin typeface="Segoe UI"/>
                        </a:rPr>
                        <a:t>New</a:t>
                      </a:r>
                    </a:p>
                  </a:txBody>
                  <a:tcPr marL="64008" marR="64008" marT="18288" marB="18288">
                    <a:solidFill>
                      <a:srgbClr val="FFFFFF"/>
                    </a:solidFill>
                  </a:tcPr>
                </a:tc>
                <a:tc>
                  <a:txBody>
                    <a:bodyPr/>
                    <a:lstStyle/>
                    <a:p>
                      <a:pPr algn="l"/>
                      <a:r>
                        <a:rPr sz="1050" b="0">
                          <a:solidFill>
                            <a:srgbClr val="5A6474"/>
                          </a:solidFill>
                          <a:latin typeface="Segoe UI"/>
                        </a:rPr>
                        <a:t>independent checks from Indian records</a:t>
                      </a:r>
                    </a:p>
                  </a:txBody>
                  <a:tcPr marL="64008" marR="64008" marT="18288" marB="18288">
                    <a:solidFill>
                      <a:srgbClr val="FFFFFF"/>
                    </a:solidFill>
                  </a:tcPr>
                </a:tc>
                <a:extLst>
                  <a:ext uri="{0D108BD9-81ED-4DB2-BD59-A6C34878D82A}">
                    <a16:rowId xmlns:a16="http://schemas.microsoft.com/office/drawing/2014/main" val="10002"/>
                  </a:ext>
                </a:extLst>
              </a:tr>
              <a:tr h="274320">
                <a:tc>
                  <a:txBody>
                    <a:bodyPr/>
                    <a:lstStyle/>
                    <a:p>
                      <a:pPr algn="l"/>
                      <a:r>
                        <a:rPr sz="1050" b="0">
                          <a:solidFill>
                            <a:srgbClr val="5A6474"/>
                          </a:solidFill>
                          <a:latin typeface="Segoe UI"/>
                        </a:rPr>
                        <a:t>Analysis - built-up, activity, green cover, heat, typology</a:t>
                      </a:r>
                    </a:p>
                  </a:txBody>
                  <a:tcPr marL="64008" marR="64008" marT="18288" marB="18288">
                    <a:solidFill>
                      <a:srgbClr val="FFFFFF"/>
                    </a:solidFill>
                  </a:tcPr>
                </a:tc>
                <a:tc>
                  <a:txBody>
                    <a:bodyPr/>
                    <a:lstStyle/>
                    <a:p>
                      <a:pPr algn="l"/>
                      <a:r>
                        <a:rPr sz="1050" b="0">
                          <a:solidFill>
                            <a:srgbClr val="5A6474"/>
                          </a:solidFill>
                          <a:latin typeface="Segoe UI"/>
                        </a:rPr>
                        <a:t>Done</a:t>
                      </a:r>
                    </a:p>
                  </a:txBody>
                  <a:tcPr marL="64008" marR="64008" marT="18288" marB="18288">
                    <a:solidFill>
                      <a:srgbClr val="FFFFFF"/>
                    </a:solidFill>
                  </a:tcPr>
                </a:tc>
                <a:tc>
                  <a:txBody>
                    <a:bodyPr/>
                    <a:lstStyle/>
                    <a:p>
                      <a:pPr algn="l"/>
                      <a:r>
                        <a:rPr sz="1050" b="0">
                          <a:solidFill>
                            <a:srgbClr val="5A6474"/>
                          </a:solidFill>
                          <a:latin typeface="Segoe UI"/>
                        </a:rPr>
                        <a:t>change maps and a six-class growth typology</a:t>
                      </a:r>
                    </a:p>
                  </a:txBody>
                  <a:tcPr marL="64008" marR="64008" marT="18288" marB="18288">
                    <a:solidFill>
                      <a:srgbClr val="FFFFFF"/>
                    </a:solidFill>
                  </a:tcPr>
                </a:tc>
                <a:extLst>
                  <a:ext uri="{0D108BD9-81ED-4DB2-BD59-A6C34878D82A}">
                    <a16:rowId xmlns:a16="http://schemas.microsoft.com/office/drawing/2014/main" val="10003"/>
                  </a:ext>
                </a:extLst>
              </a:tr>
              <a:tr h="274320">
                <a:tc>
                  <a:txBody>
                    <a:bodyPr/>
                    <a:lstStyle/>
                    <a:p>
                      <a:pPr algn="l"/>
                      <a:r>
                        <a:rPr sz="1050" b="0">
                          <a:solidFill>
                            <a:srgbClr val="5A6474"/>
                          </a:solidFill>
                          <a:latin typeface="Segoe UI"/>
                        </a:rPr>
                        <a:t>Growth models - logistic regression, random forest</a:t>
                      </a:r>
                    </a:p>
                  </a:txBody>
                  <a:tcPr marL="64008" marR="64008" marT="18288" marB="18288">
                    <a:solidFill>
                      <a:srgbClr val="FFFFFF"/>
                    </a:solidFill>
                  </a:tcPr>
                </a:tc>
                <a:tc>
                  <a:txBody>
                    <a:bodyPr/>
                    <a:lstStyle/>
                    <a:p>
                      <a:pPr algn="l"/>
                      <a:r>
                        <a:rPr sz="1050" b="0">
                          <a:solidFill>
                            <a:srgbClr val="5A6474"/>
                          </a:solidFill>
                          <a:latin typeface="Segoe UI"/>
                        </a:rPr>
                        <a:t>Extended</a:t>
                      </a:r>
                    </a:p>
                  </a:txBody>
                  <a:tcPr marL="64008" marR="64008" marT="18288" marB="18288">
                    <a:solidFill>
                      <a:srgbClr val="FFFFFF"/>
                    </a:solidFill>
                  </a:tcPr>
                </a:tc>
                <a:tc>
                  <a:txBody>
                    <a:bodyPr/>
                    <a:lstStyle/>
                    <a:p>
                      <a:pPr algn="l"/>
                      <a:r>
                        <a:rPr sz="1050" b="0">
                          <a:solidFill>
                            <a:srgbClr val="5A6474"/>
                          </a:solidFill>
                          <a:latin typeface="Segoe UI"/>
                        </a:rPr>
                        <a:t>held-out test; 2025 and 2030 predictions</a:t>
                      </a:r>
                    </a:p>
                  </a:txBody>
                  <a:tcPr marL="64008" marR="64008" marT="18288" marB="18288">
                    <a:solidFill>
                      <a:srgbClr val="FFFFFF"/>
                    </a:solidFill>
                  </a:tcPr>
                </a:tc>
                <a:extLst>
                  <a:ext uri="{0D108BD9-81ED-4DB2-BD59-A6C34878D82A}">
                    <a16:rowId xmlns:a16="http://schemas.microsoft.com/office/drawing/2014/main" val="10004"/>
                  </a:ext>
                </a:extLst>
              </a:tr>
              <a:tr h="274320">
                <a:tc>
                  <a:txBody>
                    <a:bodyPr/>
                    <a:lstStyle/>
                    <a:p>
                      <a:pPr algn="l"/>
                      <a:r>
                        <a:rPr sz="1050" b="0">
                          <a:solidFill>
                            <a:srgbClr val="5A6474"/>
                          </a:solidFill>
                          <a:latin typeface="Segoe UI"/>
                        </a:rPr>
                        <a:t>Validation - hold-out test, cross-checks, census, economy</a:t>
                      </a:r>
                    </a:p>
                  </a:txBody>
                  <a:tcPr marL="64008" marR="64008" marT="18288" marB="18288">
                    <a:solidFill>
                      <a:srgbClr val="FFFFFF"/>
                    </a:solidFill>
                  </a:tcPr>
                </a:tc>
                <a:tc>
                  <a:txBody>
                    <a:bodyPr/>
                    <a:lstStyle/>
                    <a:p>
                      <a:pPr algn="l"/>
                      <a:r>
                        <a:rPr sz="1050" b="0">
                          <a:solidFill>
                            <a:srgbClr val="5A6474"/>
                          </a:solidFill>
                          <a:latin typeface="Segoe UI"/>
                        </a:rPr>
                        <a:t>New</a:t>
                      </a:r>
                    </a:p>
                  </a:txBody>
                  <a:tcPr marL="64008" marR="64008" marT="18288" marB="18288">
                    <a:solidFill>
                      <a:srgbClr val="FFFFFF"/>
                    </a:solidFill>
                  </a:tcPr>
                </a:tc>
                <a:tc>
                  <a:txBody>
                    <a:bodyPr/>
                    <a:lstStyle/>
                    <a:p>
                      <a:pPr algn="l"/>
                      <a:r>
                        <a:rPr sz="1050" b="0">
                          <a:solidFill>
                            <a:srgbClr val="5A6474"/>
                          </a:solidFill>
                          <a:latin typeface="Segoe UI"/>
                        </a:rPr>
                        <a:t>six claims, each tested on independent data</a:t>
                      </a:r>
                    </a:p>
                  </a:txBody>
                  <a:tcPr marL="64008" marR="64008" marT="18288" marB="18288">
                    <a:solidFill>
                      <a:srgbClr val="FFFFFF"/>
                    </a:solidFill>
                  </a:tcPr>
                </a:tc>
                <a:extLst>
                  <a:ext uri="{0D108BD9-81ED-4DB2-BD59-A6C34878D82A}">
                    <a16:rowId xmlns:a16="http://schemas.microsoft.com/office/drawing/2014/main" val="10005"/>
                  </a:ext>
                </a:extLst>
              </a:tr>
              <a:tr h="274320">
                <a:tc>
                  <a:txBody>
                    <a:bodyPr/>
                    <a:lstStyle/>
                    <a:p>
                      <a:pPr algn="l"/>
                      <a:r>
                        <a:rPr sz="1050" b="0">
                          <a:solidFill>
                            <a:srgbClr val="5A6474"/>
                          </a:solidFill>
                          <a:latin typeface="Segoe UI"/>
                        </a:rPr>
                        <a:t>Results - 14 figures, 23 zone evidence cards</a:t>
                      </a:r>
                    </a:p>
                  </a:txBody>
                  <a:tcPr marL="64008" marR="64008" marT="18288" marB="18288">
                    <a:solidFill>
                      <a:srgbClr val="FFFFFF"/>
                    </a:solidFill>
                  </a:tcPr>
                </a:tc>
                <a:tc>
                  <a:txBody>
                    <a:bodyPr/>
                    <a:lstStyle/>
                    <a:p>
                      <a:pPr algn="l"/>
                      <a:r>
                        <a:rPr sz="1050" b="0">
                          <a:solidFill>
                            <a:srgbClr val="5A6474"/>
                          </a:solidFill>
                          <a:latin typeface="Segoe UI"/>
                        </a:rPr>
                        <a:t>New</a:t>
                      </a:r>
                    </a:p>
                  </a:txBody>
                  <a:tcPr marL="64008" marR="64008" marT="18288" marB="18288">
                    <a:solidFill>
                      <a:srgbClr val="FFFFFF"/>
                    </a:solidFill>
                  </a:tcPr>
                </a:tc>
                <a:tc>
                  <a:txBody>
                    <a:bodyPr/>
                    <a:lstStyle/>
                    <a:p>
                      <a:pPr algn="l"/>
                      <a:r>
                        <a:rPr sz="1050" b="0">
                          <a:solidFill>
                            <a:srgbClr val="5A6474"/>
                          </a:solidFill>
                          <a:latin typeface="Segoe UI"/>
                        </a:rPr>
                        <a:t>every number regenerated in one run</a:t>
                      </a:r>
                    </a:p>
                  </a:txBody>
                  <a:tcPr marL="64008" marR="64008" marT="18288" marB="18288">
                    <a:solidFill>
                      <a:srgbClr val="FFFFFF"/>
                    </a:solidFill>
                  </a:tcPr>
                </a:tc>
                <a:extLst>
                  <a:ext uri="{0D108BD9-81ED-4DB2-BD59-A6C34878D82A}">
                    <a16:rowId xmlns:a16="http://schemas.microsoft.com/office/drawing/2014/main" val="10006"/>
                  </a:ext>
                </a:extLst>
              </a:tr>
              <a:tr h="274320">
                <a:tc>
                  <a:txBody>
                    <a:bodyPr/>
                    <a:lstStyle/>
                    <a:p>
                      <a:pPr algn="l"/>
                      <a:r>
                        <a:rPr sz="1050" b="0">
                          <a:solidFill>
                            <a:srgbClr val="5A6474"/>
                          </a:solidFill>
                          <a:latin typeface="Segoe UI"/>
                        </a:rPr>
                        <a:t>Dashboard - seven views, including validation</a:t>
                      </a:r>
                    </a:p>
                  </a:txBody>
                  <a:tcPr marL="64008" marR="64008" marT="18288" marB="18288">
                    <a:solidFill>
                      <a:srgbClr val="FFFFFF"/>
                    </a:solidFill>
                  </a:tcPr>
                </a:tc>
                <a:tc>
                  <a:txBody>
                    <a:bodyPr/>
                    <a:lstStyle/>
                    <a:p>
                      <a:pPr algn="l"/>
                      <a:r>
                        <a:rPr sz="1050" b="0">
                          <a:solidFill>
                            <a:srgbClr val="5A6474"/>
                          </a:solidFill>
                          <a:latin typeface="Segoe UI"/>
                        </a:rPr>
                        <a:t>Updated</a:t>
                      </a:r>
                    </a:p>
                  </a:txBody>
                  <a:tcPr marL="64008" marR="64008" marT="18288" marB="18288">
                    <a:solidFill>
                      <a:srgbClr val="FFFFFF"/>
                    </a:solidFill>
                  </a:tcPr>
                </a:tc>
                <a:tc>
                  <a:txBody>
                    <a:bodyPr/>
                    <a:lstStyle/>
                    <a:p>
                      <a:pPr algn="l"/>
                      <a:r>
                        <a:rPr sz="1050" b="0">
                          <a:solidFill>
                            <a:srgbClr val="5A6474"/>
                          </a:solidFill>
                          <a:latin typeface="Segoe UI"/>
                        </a:rPr>
                        <a:t>interactive maps</a:t>
                      </a:r>
                    </a:p>
                  </a:txBody>
                  <a:tcPr marL="64008" marR="64008" marT="18288" marB="18288">
                    <a:solidFill>
                      <a:srgbClr val="FFFFFF"/>
                    </a:solidFill>
                  </a:tcPr>
                </a:tc>
                <a:extLst>
                  <a:ext uri="{0D108BD9-81ED-4DB2-BD59-A6C34878D82A}">
                    <a16:rowId xmlns:a16="http://schemas.microsoft.com/office/drawing/2014/main" val="10007"/>
                  </a:ext>
                </a:extLst>
              </a:tr>
              <a:tr h="274320">
                <a:tc>
                  <a:txBody>
                    <a:bodyPr/>
                    <a:lstStyle/>
                    <a:p>
                      <a:pPr algn="l"/>
                      <a:r>
                        <a:rPr sz="1050" b="0">
                          <a:solidFill>
                            <a:srgbClr val="5A6474"/>
                          </a:solidFill>
                          <a:latin typeface="Segoe UI"/>
                        </a:rPr>
                        <a:t>City search; image labels for flagged zones</a:t>
                      </a:r>
                    </a:p>
                  </a:txBody>
                  <a:tcPr marL="64008" marR="64008" marT="18288" marB="18288">
                    <a:solidFill>
                      <a:srgbClr val="FFFFFF"/>
                    </a:solidFill>
                  </a:tcPr>
                </a:tc>
                <a:tc>
                  <a:txBody>
                    <a:bodyPr/>
                    <a:lstStyle/>
                    <a:p>
                      <a:pPr algn="l"/>
                      <a:r>
                        <a:rPr sz="1050" b="0">
                          <a:solidFill>
                            <a:srgbClr val="5A6474"/>
                          </a:solidFill>
                          <a:latin typeface="Segoe UI"/>
                        </a:rPr>
                        <a:t>Review 4</a:t>
                      </a:r>
                    </a:p>
                  </a:txBody>
                  <a:tcPr marL="64008" marR="64008" marT="18288" marB="18288">
                    <a:solidFill>
                      <a:srgbClr val="FFFFFF"/>
                    </a:solidFill>
                  </a:tcPr>
                </a:tc>
                <a:tc>
                  <a:txBody>
                    <a:bodyPr/>
                    <a:lstStyle/>
                    <a:p>
                      <a:pPr algn="l"/>
                      <a:r>
                        <a:rPr sz="1050" b="0">
                          <a:solidFill>
                            <a:srgbClr val="5A6474"/>
                          </a:solidFill>
                          <a:latin typeface="Segoe UI"/>
                        </a:rPr>
                        <a:t>-</a:t>
                      </a:r>
                    </a:p>
                  </a:txBody>
                  <a:tcPr marL="64008" marR="64008" marT="18288" marB="18288">
                    <a:solidFill>
                      <a:srgbClr val="FFFFFF"/>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640080" y="5029200"/>
            <a:ext cx="347472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5120640"/>
            <a:ext cx="3218688" cy="822960"/>
          </a:xfrm>
          <a:prstGeom prst="rect">
            <a:avLst/>
          </a:prstGeom>
          <a:noFill/>
        </p:spPr>
        <p:txBody>
          <a:bodyPr wrap="square">
            <a:spAutoFit/>
          </a:bodyPr>
          <a:lstStyle/>
          <a:p>
            <a:pPr algn="l">
              <a:spcAft>
                <a:spcPts val="200"/>
              </a:spcAft>
            </a:pPr>
            <a:r>
              <a:rPr sz="2000" b="1">
                <a:solidFill>
                  <a:srgbClr val="1B5FAF"/>
                </a:solidFill>
                <a:latin typeface="Segoe UI"/>
              </a:rPr>
              <a:t>41 of 41</a:t>
            </a:r>
          </a:p>
          <a:p>
            <a:pPr>
              <a:spcAft>
                <a:spcPts val="0"/>
              </a:spcAft>
            </a:pPr>
            <a:r>
              <a:rPr sz="1050" b="0">
                <a:solidFill>
                  <a:srgbClr val="5A6474"/>
                </a:solidFill>
                <a:latin typeface="Segoe UI"/>
              </a:rPr>
              <a:t>automated tests pass; 16 added for Review 3</a:t>
            </a:r>
          </a:p>
        </p:txBody>
      </p:sp>
      <p:sp>
        <p:nvSpPr>
          <p:cNvPr id="8" name="Rectangle 7"/>
          <p:cNvSpPr/>
          <p:nvPr/>
        </p:nvSpPr>
        <p:spPr>
          <a:xfrm>
            <a:off x="4343400" y="5029200"/>
            <a:ext cx="347472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71416" y="5120640"/>
            <a:ext cx="3218688" cy="822960"/>
          </a:xfrm>
          <a:prstGeom prst="rect">
            <a:avLst/>
          </a:prstGeom>
          <a:noFill/>
        </p:spPr>
        <p:txBody>
          <a:bodyPr wrap="square">
            <a:spAutoFit/>
          </a:bodyPr>
          <a:lstStyle/>
          <a:p>
            <a:pPr algn="l">
              <a:spcAft>
                <a:spcPts val="200"/>
              </a:spcAft>
            </a:pPr>
            <a:r>
              <a:rPr sz="2000" b="1">
                <a:solidFill>
                  <a:srgbClr val="0E7A52"/>
                </a:solidFill>
                <a:latin typeface="Segoe UI"/>
              </a:rPr>
              <a:t>about 3.5 min</a:t>
            </a:r>
          </a:p>
          <a:p>
            <a:pPr>
              <a:spcAft>
                <a:spcPts val="0"/>
              </a:spcAft>
            </a:pPr>
            <a:r>
              <a:rPr sz="1050" b="0">
                <a:solidFill>
                  <a:srgbClr val="5A6474"/>
                </a:solidFill>
                <a:latin typeface="Segoe UI"/>
              </a:rPr>
              <a:t>one end-to-end run, tests to figures</a:t>
            </a:r>
          </a:p>
        </p:txBody>
      </p:sp>
      <p:sp>
        <p:nvSpPr>
          <p:cNvPr id="10" name="Rectangle 9"/>
          <p:cNvSpPr/>
          <p:nvPr/>
        </p:nvSpPr>
        <p:spPr>
          <a:xfrm>
            <a:off x="8046720" y="5029200"/>
            <a:ext cx="3474720" cy="100584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5120640"/>
            <a:ext cx="3218688" cy="822960"/>
          </a:xfrm>
          <a:prstGeom prst="rect">
            <a:avLst/>
          </a:prstGeom>
          <a:noFill/>
        </p:spPr>
        <p:txBody>
          <a:bodyPr wrap="square">
            <a:spAutoFit/>
          </a:bodyPr>
          <a:lstStyle/>
          <a:p>
            <a:pPr algn="l">
              <a:spcAft>
                <a:spcPts val="200"/>
              </a:spcAft>
            </a:pPr>
            <a:r>
              <a:rPr sz="2000" b="1">
                <a:solidFill>
                  <a:srgbClr val="B26A00"/>
                </a:solidFill>
                <a:latin typeface="Segoe UI"/>
              </a:rPr>
              <a:t>15 of 15</a:t>
            </a:r>
          </a:p>
          <a:p>
            <a:pPr>
              <a:spcAft>
                <a:spcPts val="0"/>
              </a:spcAft>
            </a:pPr>
            <a:r>
              <a:rPr sz="1050" b="0">
                <a:solidFill>
                  <a:srgbClr val="5A6474"/>
                </a:solidFill>
                <a:latin typeface="Segoe UI"/>
              </a:rPr>
              <a:t>audit defects fixed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System architecture</a:t>
            </a:r>
          </a:p>
          <a:p>
            <a:pPr>
              <a:spcAft>
                <a:spcPts val="0"/>
              </a:spcAft>
            </a:pPr>
            <a:r>
              <a:rPr sz="1350" b="0">
                <a:solidFill>
                  <a:srgbClr val="1B5FAF"/>
                </a:solidFill>
                <a:latin typeface="Segoe UI"/>
              </a:rPr>
              <a:t>Five layers; data moves top to bottom and every arrow is a real hand-off</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1_system_architecture.png"/>
          <p:cNvPicPr>
            <a:picLocks noChangeAspect="1"/>
          </p:cNvPicPr>
          <p:nvPr/>
        </p:nvPicPr>
        <p:blipFill>
          <a:blip r:embed="rId3"/>
          <a:stretch>
            <a:fillRect/>
          </a:stretch>
        </p:blipFill>
        <p:spPr>
          <a:xfrm>
            <a:off x="1088817" y="1508760"/>
            <a:ext cx="10011318" cy="5074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Datasets</a:t>
            </a:r>
          </a:p>
          <a:p>
            <a:pPr>
              <a:spcAft>
                <a:spcPts val="0"/>
              </a:spcAft>
            </a:pPr>
            <a:r>
              <a:rPr sz="1350" b="0">
                <a:solidFill>
                  <a:srgbClr val="1B5FAF"/>
                </a:solidFill>
                <a:latin typeface="Segoe UI"/>
              </a:rPr>
              <a:t>Official identifiers; the Indian records are new this review</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600200"/>
          <a:ext cx="6400800" cy="3017520"/>
        </p:xfrm>
        <a:graphic>
          <a:graphicData uri="http://schemas.openxmlformats.org/drawingml/2006/table">
            <a:tbl>
              <a:tblPr firstRow="1" bandRow="1">
                <a:tableStyleId>{5C22544A-7EE6-4342-B048-85BDC9FD1C3A}</a:tableStyleId>
              </a:tblPr>
              <a:tblGrid>
                <a:gridCol w="3968496">
                  <a:extLst>
                    <a:ext uri="{9D8B030D-6E8A-4147-A177-3AD203B41FA5}">
                      <a16:colId xmlns:a16="http://schemas.microsoft.com/office/drawing/2014/main" val="20000"/>
                    </a:ext>
                  </a:extLst>
                </a:gridCol>
                <a:gridCol w="2432304">
                  <a:extLst>
                    <a:ext uri="{9D8B030D-6E8A-4147-A177-3AD203B41FA5}">
                      <a16:colId xmlns:a16="http://schemas.microsoft.com/office/drawing/2014/main" val="20001"/>
                    </a:ext>
                  </a:extLst>
                </a:gridCol>
              </a:tblGrid>
              <a:tr h="274320">
                <a:tc>
                  <a:txBody>
                    <a:bodyPr/>
                    <a:lstStyle/>
                    <a:p>
                      <a:pPr algn="l"/>
                      <a:r>
                        <a:rPr sz="1050" b="1">
                          <a:solidFill>
                            <a:srgbClr val="101826"/>
                          </a:solidFill>
                          <a:latin typeface="Segoe UI"/>
                        </a:rPr>
                        <a:t>Satellite and gridded dataset</a:t>
                      </a:r>
                    </a:p>
                  </a:txBody>
                  <a:tcPr marL="64008" marR="64008" marT="18288" marB="18288">
                    <a:solidFill>
                      <a:srgbClr val="F1F5FA"/>
                    </a:solidFill>
                  </a:tcPr>
                </a:tc>
                <a:tc>
                  <a:txBody>
                    <a:bodyPr/>
                    <a:lstStyle/>
                    <a:p>
                      <a:pPr algn="l"/>
                      <a:r>
                        <a:rPr sz="1050" b="1">
                          <a:solidFill>
                            <a:srgbClr val="101826"/>
                          </a:solidFill>
                          <a:latin typeface="Segoe UI"/>
                        </a:rPr>
                        <a:t>Used for</a:t>
                      </a:r>
                    </a:p>
                  </a:txBody>
                  <a:tcPr marL="64008" marR="64008" marT="18288" marB="18288">
                    <a:solidFill>
                      <a:srgbClr val="F1F5FA"/>
                    </a:solidFill>
                  </a:tcPr>
                </a:tc>
                <a:extLst>
                  <a:ext uri="{0D108BD9-81ED-4DB2-BD59-A6C34878D82A}">
                    <a16:rowId xmlns:a16="http://schemas.microsoft.com/office/drawing/2014/main" val="10000"/>
                  </a:ext>
                </a:extLst>
              </a:tr>
              <a:tr h="274320">
                <a:tc>
                  <a:txBody>
                    <a:bodyPr/>
                    <a:lstStyle/>
                    <a:p>
                      <a:pPr algn="l"/>
                      <a:r>
                        <a:rPr sz="1000" b="0">
                          <a:solidFill>
                            <a:srgbClr val="5A6474"/>
                          </a:solidFill>
                          <a:latin typeface="Segoe UI"/>
                        </a:rPr>
                        <a:t>GHS-BUILT-S R2023A, GHS-POP R2023A</a:t>
                      </a:r>
                    </a:p>
                  </a:txBody>
                  <a:tcPr marL="64008" marR="64008" marT="18288" marB="18288">
                    <a:solidFill>
                      <a:srgbClr val="FFFFFF"/>
                    </a:solidFill>
                  </a:tcPr>
                </a:tc>
                <a:tc>
                  <a:txBody>
                    <a:bodyPr/>
                    <a:lstStyle/>
                    <a:p>
                      <a:pPr algn="l"/>
                      <a:r>
                        <a:rPr sz="1000" b="0">
                          <a:solidFill>
                            <a:srgbClr val="5A6474"/>
                          </a:solidFill>
                          <a:latin typeface="Segoe UI"/>
                        </a:rPr>
                        <a:t>built-up surface, population, 100 m</a:t>
                      </a:r>
                    </a:p>
                  </a:txBody>
                  <a:tcPr marL="64008" marR="64008" marT="18288" marB="18288">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5A6474"/>
                          </a:solidFill>
                          <a:latin typeface="Segoe UI"/>
                        </a:rPr>
                        <a:t>NOAA/VIIRS/DNB/ANNUAL_V21 + ANNUAL_V22</a:t>
                      </a:r>
                    </a:p>
                  </a:txBody>
                  <a:tcPr marL="64008" marR="64008" marT="18288" marB="18288">
                    <a:solidFill>
                      <a:srgbClr val="FFFFFF"/>
                    </a:solidFill>
                  </a:tcPr>
                </a:tc>
                <a:tc>
                  <a:txBody>
                    <a:bodyPr/>
                    <a:lstStyle/>
                    <a:p>
                      <a:pPr algn="l"/>
                      <a:r>
                        <a:rPr sz="1000" b="0">
                          <a:solidFill>
                            <a:srgbClr val="5A6474"/>
                          </a:solidFill>
                          <a:latin typeface="Segoe UI"/>
                        </a:rPr>
                        <a:t>night-time light, 2013-2024</a:t>
                      </a:r>
                    </a:p>
                  </a:txBody>
                  <a:tcPr marL="64008" marR="64008"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a:solidFill>
                            <a:srgbClr val="5A6474"/>
                          </a:solidFill>
                          <a:latin typeface="Segoe UI"/>
                        </a:rPr>
                        <a:t>COPERNICUS/S2_SR_HARMONIZED</a:t>
                      </a:r>
                    </a:p>
                  </a:txBody>
                  <a:tcPr marL="64008" marR="64008" marT="18288" marB="18288">
                    <a:solidFill>
                      <a:srgbClr val="FFFFFF"/>
                    </a:solidFill>
                  </a:tcPr>
                </a:tc>
                <a:tc>
                  <a:txBody>
                    <a:bodyPr/>
                    <a:lstStyle/>
                    <a:p>
                      <a:pPr algn="l"/>
                      <a:r>
                        <a:rPr sz="1000" b="0">
                          <a:solidFill>
                            <a:srgbClr val="5A6474"/>
                          </a:solidFill>
                          <a:latin typeface="Segoe UI"/>
                        </a:rPr>
                        <a:t>NDVI, NDBI, true colour</a:t>
                      </a:r>
                    </a:p>
                  </a:txBody>
                  <a:tcPr marL="64008" marR="64008" marT="18288" marB="18288">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5A6474"/>
                          </a:solidFill>
                          <a:latin typeface="Segoe UI"/>
                        </a:rPr>
                        <a:t>LANDSAT/LC08/C02/T1_L2 + LANDSAT/LC09/C02/T1_L2</a:t>
                      </a:r>
                    </a:p>
                  </a:txBody>
                  <a:tcPr marL="64008" marR="64008" marT="18288" marB="18288">
                    <a:solidFill>
                      <a:srgbClr val="FFFFFF"/>
                    </a:solidFill>
                  </a:tcPr>
                </a:tc>
                <a:tc>
                  <a:txBody>
                    <a:bodyPr/>
                    <a:lstStyle/>
                    <a:p>
                      <a:pPr algn="l"/>
                      <a:r>
                        <a:rPr sz="1000" b="0">
                          <a:solidFill>
                            <a:srgbClr val="5A6474"/>
                          </a:solidFill>
                          <a:latin typeface="Segoe UI"/>
                        </a:rPr>
                        <a:t>land surface temperature</a:t>
                      </a:r>
                    </a:p>
                  </a:txBody>
                  <a:tcPr marL="64008" marR="64008" marT="18288" marB="18288">
                    <a:solidFill>
                      <a:srgbClr val="FFFFFF"/>
                    </a:solidFill>
                  </a:tcPr>
                </a:tc>
                <a:extLst>
                  <a:ext uri="{0D108BD9-81ED-4DB2-BD59-A6C34878D82A}">
                    <a16:rowId xmlns:a16="http://schemas.microsoft.com/office/drawing/2014/main" val="10004"/>
                  </a:ext>
                </a:extLst>
              </a:tr>
              <a:tr h="274320">
                <a:tc>
                  <a:txBody>
                    <a:bodyPr/>
                    <a:lstStyle/>
                    <a:p>
                      <a:pPr algn="l"/>
                      <a:r>
                        <a:rPr sz="1000" b="0">
                          <a:solidFill>
                            <a:srgbClr val="5A6474"/>
                          </a:solidFill>
                          <a:latin typeface="Segoe UI"/>
                        </a:rPr>
                        <a:t>MODIS/061/MOD11A2</a:t>
                      </a:r>
                    </a:p>
                  </a:txBody>
                  <a:tcPr marL="64008" marR="64008" marT="18288" marB="18288">
                    <a:solidFill>
                      <a:srgbClr val="FFFFFF"/>
                    </a:solidFill>
                  </a:tcPr>
                </a:tc>
                <a:tc>
                  <a:txBody>
                    <a:bodyPr/>
                    <a:lstStyle/>
                    <a:p>
                      <a:pPr algn="l"/>
                      <a:r>
                        <a:rPr sz="1000" b="0">
                          <a:solidFill>
                            <a:srgbClr val="5A6474"/>
                          </a:solidFill>
                          <a:latin typeface="Segoe UI"/>
                        </a:rPr>
                        <a:t>independent temperature check</a:t>
                      </a:r>
                    </a:p>
                  </a:txBody>
                  <a:tcPr marL="64008" marR="64008" marT="18288" marB="18288">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5A6474"/>
                          </a:solidFill>
                          <a:latin typeface="Segoe UI"/>
                        </a:rPr>
                        <a:t>GOOGLE/DYNAMICWORLD/V1</a:t>
                      </a:r>
                    </a:p>
                  </a:txBody>
                  <a:tcPr marL="64008" marR="64008" marT="18288" marB="18288">
                    <a:solidFill>
                      <a:srgbClr val="FFFFFF"/>
                    </a:solidFill>
                  </a:tcPr>
                </a:tc>
                <a:tc>
                  <a:txBody>
                    <a:bodyPr/>
                    <a:lstStyle/>
                    <a:p>
                      <a:pPr algn="l"/>
                      <a:r>
                        <a:rPr sz="1000" b="0">
                          <a:solidFill>
                            <a:srgbClr val="5A6474"/>
                          </a:solidFill>
                          <a:latin typeface="Segoe UI"/>
                        </a:rPr>
                        <a:t>water mask, built-up gain</a:t>
                      </a:r>
                    </a:p>
                  </a:txBody>
                  <a:tcPr marL="64008" marR="64008" marT="18288" marB="18288">
                    <a:solidFill>
                      <a:srgbClr val="FFFFFF"/>
                    </a:solidFill>
                  </a:tcPr>
                </a:tc>
                <a:extLst>
                  <a:ext uri="{0D108BD9-81ED-4DB2-BD59-A6C34878D82A}">
                    <a16:rowId xmlns:a16="http://schemas.microsoft.com/office/drawing/2014/main" val="10006"/>
                  </a:ext>
                </a:extLst>
              </a:tr>
              <a:tr h="274320">
                <a:tc>
                  <a:txBody>
                    <a:bodyPr/>
                    <a:lstStyle/>
                    <a:p>
                      <a:pPr algn="l"/>
                      <a:r>
                        <a:rPr sz="1000" b="0">
                          <a:solidFill>
                            <a:srgbClr val="5A6474"/>
                          </a:solidFill>
                          <a:latin typeface="Segoe UI"/>
                        </a:rPr>
                        <a:t>GOOGLE/Research/open-buildings-temporal/v1</a:t>
                      </a:r>
                    </a:p>
                  </a:txBody>
                  <a:tcPr marL="64008" marR="64008" marT="18288" marB="18288">
                    <a:solidFill>
                      <a:srgbClr val="FFFFFF"/>
                    </a:solidFill>
                  </a:tcPr>
                </a:tc>
                <a:tc>
                  <a:txBody>
                    <a:bodyPr/>
                    <a:lstStyle/>
                    <a:p>
                      <a:pPr algn="l"/>
                      <a:r>
                        <a:rPr sz="1000" b="0">
                          <a:solidFill>
                            <a:srgbClr val="5A6474"/>
                          </a:solidFill>
                          <a:latin typeface="Segoe UI"/>
                        </a:rPr>
                        <a:t>buildings in flagged cells</a:t>
                      </a:r>
                    </a:p>
                  </a:txBody>
                  <a:tcPr marL="64008" marR="64008" marT="18288" marB="18288">
                    <a:solidFill>
                      <a:srgbClr val="FFFFFF"/>
                    </a:solidFill>
                  </a:tcPr>
                </a:tc>
                <a:extLst>
                  <a:ext uri="{0D108BD9-81ED-4DB2-BD59-A6C34878D82A}">
                    <a16:rowId xmlns:a16="http://schemas.microsoft.com/office/drawing/2014/main" val="10007"/>
                  </a:ext>
                </a:extLst>
              </a:tr>
              <a:tr h="274320">
                <a:tc>
                  <a:txBody>
                    <a:bodyPr/>
                    <a:lstStyle/>
                    <a:p>
                      <a:pPr algn="l"/>
                      <a:r>
                        <a:rPr sz="1000" b="0">
                          <a:solidFill>
                            <a:srgbClr val="5A6474"/>
                          </a:solidFill>
                          <a:latin typeface="Segoe UI"/>
                        </a:rPr>
                        <a:t>ESA/WorldCover/v200</a:t>
                      </a:r>
                    </a:p>
                  </a:txBody>
                  <a:tcPr marL="64008" marR="64008" marT="18288" marB="18288">
                    <a:solidFill>
                      <a:srgbClr val="FFFFFF"/>
                    </a:solidFill>
                  </a:tcPr>
                </a:tc>
                <a:tc>
                  <a:txBody>
                    <a:bodyPr/>
                    <a:lstStyle/>
                    <a:p>
                      <a:pPr algn="l"/>
                      <a:r>
                        <a:rPr sz="1000" b="0">
                          <a:solidFill>
                            <a:srgbClr val="5A6474"/>
                          </a:solidFill>
                          <a:latin typeface="Segoe UI"/>
                        </a:rPr>
                        <a:t>independent built-up map</a:t>
                      </a:r>
                    </a:p>
                  </a:txBody>
                  <a:tcPr marL="64008" marR="64008" marT="18288" marB="18288">
                    <a:solidFill>
                      <a:srgbClr val="FFFFFF"/>
                    </a:solidFill>
                  </a:tcPr>
                </a:tc>
                <a:extLst>
                  <a:ext uri="{0D108BD9-81ED-4DB2-BD59-A6C34878D82A}">
                    <a16:rowId xmlns:a16="http://schemas.microsoft.com/office/drawing/2014/main" val="10008"/>
                  </a:ext>
                </a:extLst>
              </a:tr>
              <a:tr h="274320">
                <a:tc>
                  <a:txBody>
                    <a:bodyPr/>
                    <a:lstStyle/>
                    <a:p>
                      <a:pPr algn="l"/>
                      <a:r>
                        <a:rPr sz="1000" b="0">
                          <a:solidFill>
                            <a:srgbClr val="5A6474"/>
                          </a:solidFill>
                          <a:latin typeface="Segoe UI"/>
                        </a:rPr>
                        <a:t>USGS/SRTMGL1_003</a:t>
                      </a:r>
                    </a:p>
                  </a:txBody>
                  <a:tcPr marL="64008" marR="64008" marT="18288" marB="18288">
                    <a:solidFill>
                      <a:srgbClr val="FFFFFF"/>
                    </a:solidFill>
                  </a:tcPr>
                </a:tc>
                <a:tc>
                  <a:txBody>
                    <a:bodyPr/>
                    <a:lstStyle/>
                    <a:p>
                      <a:pPr algn="l"/>
                      <a:r>
                        <a:rPr sz="1000" b="0">
                          <a:solidFill>
                            <a:srgbClr val="5A6474"/>
                          </a:solidFill>
                          <a:latin typeface="Segoe UI"/>
                        </a:rPr>
                        <a:t>terrain slope</a:t>
                      </a:r>
                    </a:p>
                  </a:txBody>
                  <a:tcPr marL="64008" marR="64008" marT="18288" marB="18288">
                    <a:solidFill>
                      <a:srgbClr val="FFFFFF"/>
                    </a:solidFill>
                  </a:tcPr>
                </a:tc>
                <a:extLst>
                  <a:ext uri="{0D108BD9-81ED-4DB2-BD59-A6C34878D82A}">
                    <a16:rowId xmlns:a16="http://schemas.microsoft.com/office/drawing/2014/main" val="10009"/>
                  </a:ext>
                </a:extLst>
              </a:tr>
              <a:tr h="274320">
                <a:tc>
                  <a:txBody>
                    <a:bodyPr/>
                    <a:lstStyle/>
                    <a:p>
                      <a:pPr algn="l"/>
                      <a:r>
                        <a:rPr sz="1000" b="0">
                          <a:solidFill>
                            <a:srgbClr val="5A6474"/>
                          </a:solidFill>
                          <a:latin typeface="Segoe UI"/>
                        </a:rPr>
                        <a:t>WorldPop/GP/100m/pop</a:t>
                      </a:r>
                    </a:p>
                  </a:txBody>
                  <a:tcPr marL="64008" marR="64008" marT="18288" marB="18288">
                    <a:solidFill>
                      <a:srgbClr val="FFFFFF"/>
                    </a:solidFill>
                  </a:tcPr>
                </a:tc>
                <a:tc>
                  <a:txBody>
                    <a:bodyPr/>
                    <a:lstStyle/>
                    <a:p>
                      <a:pPr algn="l"/>
                      <a:r>
                        <a:rPr sz="1000" b="0">
                          <a:solidFill>
                            <a:srgbClr val="5A6474"/>
                          </a:solidFill>
                          <a:latin typeface="Segoe UI"/>
                        </a:rPr>
                        <a:t>independent population</a:t>
                      </a:r>
                    </a:p>
                  </a:txBody>
                  <a:tcPr marL="64008" marR="64008" marT="18288" marB="18288">
                    <a:solidFill>
                      <a:srgbClr val="FFFFFF"/>
                    </a:solidFill>
                  </a:tcPr>
                </a:tc>
                <a:extLst>
                  <a:ext uri="{0D108BD9-81ED-4DB2-BD59-A6C34878D82A}">
                    <a16:rowId xmlns:a16="http://schemas.microsoft.com/office/drawing/2014/main" val="10010"/>
                  </a:ext>
                </a:extLst>
              </a:tr>
            </a:tbl>
          </a:graphicData>
        </a:graphic>
      </p:graphicFrame>
      <p:graphicFrame>
        <p:nvGraphicFramePr>
          <p:cNvPr id="6" name="Table 5"/>
          <p:cNvGraphicFramePr>
            <a:graphicFrameLocks noGrp="1"/>
          </p:cNvGraphicFramePr>
          <p:nvPr/>
        </p:nvGraphicFramePr>
        <p:xfrm>
          <a:off x="7269480" y="1600200"/>
          <a:ext cx="4251959" cy="2121408"/>
        </p:xfrm>
        <a:graphic>
          <a:graphicData uri="http://schemas.openxmlformats.org/drawingml/2006/table">
            <a:tbl>
              <a:tblPr firstRow="1" bandRow="1">
                <a:tableStyleId>{5C22544A-7EE6-4342-B048-85BDC9FD1C3A}</a:tableStyleId>
              </a:tblPr>
              <a:tblGrid>
                <a:gridCol w="2211019">
                  <a:extLst>
                    <a:ext uri="{9D8B030D-6E8A-4147-A177-3AD203B41FA5}">
                      <a16:colId xmlns:a16="http://schemas.microsoft.com/office/drawing/2014/main" val="20000"/>
                    </a:ext>
                  </a:extLst>
                </a:gridCol>
                <a:gridCol w="2040940">
                  <a:extLst>
                    <a:ext uri="{9D8B030D-6E8A-4147-A177-3AD203B41FA5}">
                      <a16:colId xmlns:a16="http://schemas.microsoft.com/office/drawing/2014/main" val="20001"/>
                    </a:ext>
                  </a:extLst>
                </a:gridCol>
              </a:tblGrid>
              <a:tr h="274320">
                <a:tc>
                  <a:txBody>
                    <a:bodyPr/>
                    <a:lstStyle/>
                    <a:p>
                      <a:pPr algn="l"/>
                      <a:r>
                        <a:rPr sz="1050" b="1">
                          <a:solidFill>
                            <a:srgbClr val="101826"/>
                          </a:solidFill>
                          <a:latin typeface="Segoe UI"/>
                        </a:rPr>
                        <a:t>Indian and other records</a:t>
                      </a:r>
                    </a:p>
                  </a:txBody>
                  <a:tcPr marL="64008" marR="64008" marT="18288" marB="18288">
                    <a:solidFill>
                      <a:srgbClr val="F1F5FA"/>
                    </a:solidFill>
                  </a:tcPr>
                </a:tc>
                <a:tc>
                  <a:txBody>
                    <a:bodyPr/>
                    <a:lstStyle/>
                    <a:p>
                      <a:pPr algn="l"/>
                      <a:r>
                        <a:rPr sz="1050" b="1">
                          <a:solidFill>
                            <a:srgbClr val="101826"/>
                          </a:solidFill>
                          <a:latin typeface="Segoe UI"/>
                        </a:rPr>
                        <a:t>Used for</a:t>
                      </a:r>
                    </a:p>
                  </a:txBody>
                  <a:tcPr marL="64008" marR="64008" marT="18288" marB="18288">
                    <a:solidFill>
                      <a:srgbClr val="F1F5FA"/>
                    </a:solidFill>
                  </a:tcPr>
                </a:tc>
                <a:extLst>
                  <a:ext uri="{0D108BD9-81ED-4DB2-BD59-A6C34878D82A}">
                    <a16:rowId xmlns:a16="http://schemas.microsoft.com/office/drawing/2014/main" val="10000"/>
                  </a:ext>
                </a:extLst>
              </a:tr>
              <a:tr h="274320">
                <a:tc>
                  <a:txBody>
                    <a:bodyPr/>
                    <a:lstStyle/>
                    <a:p>
                      <a:pPr algn="l"/>
                      <a:r>
                        <a:rPr sz="1000" b="0">
                          <a:solidFill>
                            <a:srgbClr val="5A6474"/>
                          </a:solidFill>
                          <a:latin typeface="Segoe UI"/>
                        </a:rPr>
                        <a:t>Census of India 2001 and 2011</a:t>
                      </a:r>
                    </a:p>
                  </a:txBody>
                  <a:tcPr marL="64008" marR="64008" marT="18288" marB="18288">
                    <a:solidFill>
                      <a:srgbClr val="FFFFFF"/>
                    </a:solidFill>
                  </a:tcPr>
                </a:tc>
                <a:tc>
                  <a:txBody>
                    <a:bodyPr/>
                    <a:lstStyle/>
                    <a:p>
                      <a:pPr algn="l"/>
                      <a:r>
                        <a:rPr sz="1000" b="0">
                          <a:solidFill>
                            <a:srgbClr val="5A6474"/>
                          </a:solidFill>
                          <a:latin typeface="Segoe UI"/>
                        </a:rPr>
                        <a:t>population check, 71 districts</a:t>
                      </a:r>
                    </a:p>
                  </a:txBody>
                  <a:tcPr marL="64008" marR="64008" marT="18288" marB="18288">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5A6474"/>
                          </a:solidFill>
                          <a:latin typeface="Segoe UI"/>
                        </a:rPr>
                        <a:t>Economic Census 2013</a:t>
                      </a:r>
                    </a:p>
                  </a:txBody>
                  <a:tcPr marL="64008" marR="64008" marT="18288" marB="18288">
                    <a:solidFill>
                      <a:srgbClr val="FFFFFF"/>
                    </a:solidFill>
                  </a:tcPr>
                </a:tc>
                <a:tc>
                  <a:txBody>
                    <a:bodyPr/>
                    <a:lstStyle/>
                    <a:p>
                      <a:pPr algn="l"/>
                      <a:r>
                        <a:rPr sz="1000" b="0">
                          <a:solidFill>
                            <a:srgbClr val="5A6474"/>
                          </a:solidFill>
                          <a:latin typeface="Segoe UI"/>
                        </a:rPr>
                        <a:t>non-farm jobs per town and village</a:t>
                      </a:r>
                    </a:p>
                  </a:txBody>
                  <a:tcPr marL="64008" marR="64008"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a:solidFill>
                            <a:srgbClr val="5A6474"/>
                          </a:solidFill>
                          <a:latin typeface="Segoe UI"/>
                        </a:rPr>
                        <a:t>SHRUG, Development Data Lab</a:t>
                      </a:r>
                    </a:p>
                  </a:txBody>
                  <a:tcPr marL="64008" marR="64008" marT="18288" marB="18288">
                    <a:solidFill>
                      <a:srgbClr val="FFFFFF"/>
                    </a:solidFill>
                  </a:tcPr>
                </a:tc>
                <a:tc>
                  <a:txBody>
                    <a:bodyPr/>
                    <a:lstStyle/>
                    <a:p>
                      <a:pPr algn="l"/>
                      <a:r>
                        <a:rPr sz="1000" b="0">
                          <a:solidFill>
                            <a:srgbClr val="5A6474"/>
                          </a:solidFill>
                          <a:latin typeface="Segoe UI"/>
                        </a:rPr>
                        <a:t>town and village boundaries</a:t>
                      </a:r>
                    </a:p>
                  </a:txBody>
                  <a:tcPr marL="64008" marR="64008" marT="18288" marB="18288">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5A6474"/>
                          </a:solidFill>
                          <a:latin typeface="Segoe UI"/>
                        </a:rPr>
                        <a:t>District Domestic Product, DES, Govt of UP</a:t>
                      </a:r>
                    </a:p>
                  </a:txBody>
                  <a:tcPr marL="64008" marR="64008" marT="18288" marB="18288">
                    <a:solidFill>
                      <a:srgbClr val="FFFFFF"/>
                    </a:solidFill>
                  </a:tcPr>
                </a:tc>
                <a:tc>
                  <a:txBody>
                    <a:bodyPr/>
                    <a:lstStyle/>
                    <a:p>
                      <a:pPr algn="l"/>
                      <a:r>
                        <a:rPr sz="1000" b="0">
                          <a:solidFill>
                            <a:srgbClr val="5A6474"/>
                          </a:solidFill>
                          <a:latin typeface="Segoe UI"/>
                        </a:rPr>
                        <a:t>district GDP 2020-21, 2021-22</a:t>
                      </a:r>
                    </a:p>
                  </a:txBody>
                  <a:tcPr marL="64008" marR="64008" marT="18288" marB="18288">
                    <a:solidFill>
                      <a:srgbClr val="FFFFFF"/>
                    </a:solidFill>
                  </a:tcPr>
                </a:tc>
                <a:extLst>
                  <a:ext uri="{0D108BD9-81ED-4DB2-BD59-A6C34878D82A}">
                    <a16:rowId xmlns:a16="http://schemas.microsoft.com/office/drawing/2014/main" val="10004"/>
                  </a:ext>
                </a:extLst>
              </a:tr>
              <a:tr h="274320">
                <a:tc>
                  <a:txBody>
                    <a:bodyPr/>
                    <a:lstStyle/>
                    <a:p>
                      <a:pPr algn="l"/>
                      <a:r>
                        <a:rPr sz="1000" b="0">
                          <a:solidFill>
                            <a:srgbClr val="5A6474"/>
                          </a:solidFill>
                          <a:latin typeface="Segoe UI"/>
                        </a:rPr>
                        <a:t>OpenStreetMap</a:t>
                      </a:r>
                    </a:p>
                  </a:txBody>
                  <a:tcPr marL="64008" marR="64008" marT="18288" marB="18288">
                    <a:solidFill>
                      <a:srgbClr val="FFFFFF"/>
                    </a:solidFill>
                  </a:tcPr>
                </a:tc>
                <a:tc>
                  <a:txBody>
                    <a:bodyPr/>
                    <a:lstStyle/>
                    <a:p>
                      <a:pPr algn="l"/>
                      <a:r>
                        <a:rPr sz="1000" b="0">
                          <a:solidFill>
                            <a:srgbClr val="5A6474"/>
                          </a:solidFill>
                          <a:latin typeface="Segoe UI"/>
                        </a:rPr>
                        <a:t>1,999 points of interest, 38,455 roads</a:t>
                      </a:r>
                    </a:p>
                  </a:txBody>
                  <a:tcPr marL="64008" marR="64008" marT="18288" marB="18288">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5A6474"/>
                          </a:solidFill>
                          <a:latin typeface="Segoe UI"/>
                        </a:rPr>
                        <a:t>FAO/GAUL/2015/level2</a:t>
                      </a:r>
                    </a:p>
                  </a:txBody>
                  <a:tcPr marL="64008" marR="64008" marT="18288" marB="18288">
                    <a:solidFill>
                      <a:srgbClr val="FFFFFF"/>
                    </a:solidFill>
                  </a:tcPr>
                </a:tc>
                <a:tc>
                  <a:txBody>
                    <a:bodyPr/>
                    <a:lstStyle/>
                    <a:p>
                      <a:pPr algn="l"/>
                      <a:r>
                        <a:rPr sz="1000" b="0">
                          <a:solidFill>
                            <a:srgbClr val="5A6474"/>
                          </a:solidFill>
                          <a:latin typeface="Segoe UI"/>
                        </a:rPr>
                        <a:t>district boundaries</a:t>
                      </a:r>
                    </a:p>
                  </a:txBody>
                  <a:tcPr marL="64008" marR="64008" marT="18288" marB="18288">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6291072"/>
            <a:ext cx="10972800" cy="274320"/>
          </a:xfrm>
          <a:prstGeom prst="rect">
            <a:avLst/>
          </a:prstGeom>
          <a:noFill/>
        </p:spPr>
        <p:txBody>
          <a:bodyPr wrap="square">
            <a:spAutoFit/>
          </a:bodyPr>
          <a:lstStyle/>
          <a:p>
            <a:pPr algn="l">
              <a:spcAft>
                <a:spcPts val="0"/>
              </a:spcAft>
            </a:pPr>
            <a:r>
              <a:rPr sz="950" b="0">
                <a:solidFill>
                  <a:srgbClr val="5A6474"/>
                </a:solidFill>
                <a:latin typeface="Segoe UI"/>
              </a:rPr>
              <a:t>SHRUG is used under CC BY-NC-SA 4.0 and cited as Asher, Lunt, Matsuura and Novosad (2021). DES: Directorate of Economics and Statistics.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Processing flow</a:t>
            </a:r>
          </a:p>
          <a:p>
            <a:pPr>
              <a:spcAft>
                <a:spcPts val="0"/>
              </a:spcAft>
            </a:pPr>
            <a:r>
              <a:rPr sz="1350" b="0">
                <a:solidFill>
                  <a:srgbClr val="1B5FAF"/>
                </a:solidFill>
                <a:latin typeface="Segoe UI"/>
              </a:rPr>
              <a:t>Seven stages; each hands a named layer to the next</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2_pipeline_dataflow.png"/>
          <p:cNvPicPr>
            <a:picLocks noChangeAspect="1"/>
          </p:cNvPicPr>
          <p:nvPr/>
        </p:nvPicPr>
        <p:blipFill>
          <a:blip r:embed="rId3"/>
          <a:stretch>
            <a:fillRect/>
          </a:stretch>
        </p:blipFill>
        <p:spPr>
          <a:xfrm>
            <a:off x="710829" y="1508760"/>
            <a:ext cx="10767294" cy="5074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Analysis grid and aggregation</a:t>
            </a:r>
          </a:p>
          <a:p>
            <a:pPr>
              <a:spcAft>
                <a:spcPts val="0"/>
              </a:spcAft>
            </a:pPr>
            <a:r>
              <a:rPr sz="1350" b="0">
                <a:solidFill>
                  <a:srgbClr val="1B5FAF"/>
                </a:solidFill>
                <a:latin typeface="Segoe UI"/>
              </a:rPr>
              <a:t>Analysis at 100 m, reporting at 500 m - the scale night-time light can support</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9_grid_and_aggregation.png"/>
          <p:cNvPicPr>
            <a:picLocks noChangeAspect="1"/>
          </p:cNvPicPr>
          <p:nvPr/>
        </p:nvPicPr>
        <p:blipFill>
          <a:blip r:embed="rId3"/>
          <a:stretch>
            <a:fillRect/>
          </a:stretch>
        </p:blipFill>
        <p:spPr>
          <a:xfrm>
            <a:off x="457200" y="1672288"/>
            <a:ext cx="11274552" cy="47478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Temporal design</a:t>
            </a:r>
          </a:p>
          <a:p>
            <a:pPr>
              <a:spcAft>
                <a:spcPts val="0"/>
              </a:spcAft>
            </a:pPr>
            <a:r>
              <a:rPr sz="1350" b="0">
                <a:solidFill>
                  <a:srgbClr val="1B5FAF"/>
                </a:solidFill>
                <a:latin typeface="Segoe UI"/>
              </a:rPr>
              <a:t>2020 is the last observed epoch; later years are projections or our own predictions</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8_temporal_design.png"/>
          <p:cNvPicPr>
            <a:picLocks noChangeAspect="1"/>
          </p:cNvPicPr>
          <p:nvPr/>
        </p:nvPicPr>
        <p:blipFill>
          <a:blip r:embed="rId3"/>
          <a:stretch>
            <a:fillRect/>
          </a:stretch>
        </p:blipFill>
        <p:spPr>
          <a:xfrm>
            <a:off x="1575525" y="1508760"/>
            <a:ext cx="9037902" cy="5074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The ghost-growth algorithm</a:t>
            </a:r>
          </a:p>
          <a:p>
            <a:pPr>
              <a:spcAft>
                <a:spcPts val="0"/>
              </a:spcAft>
            </a:pPr>
            <a:r>
              <a:rPr sz="1350" b="0">
                <a:solidFill>
                  <a:srgbClr val="1B5FAF"/>
                </a:solidFill>
                <a:latin typeface="Segoe UI"/>
              </a:rPr>
              <a:t>Each cell is judged against comparably built land in the same city</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3_ghost_typology_algorithm.png"/>
          <p:cNvPicPr>
            <a:picLocks noChangeAspect="1"/>
          </p:cNvPicPr>
          <p:nvPr/>
        </p:nvPicPr>
        <p:blipFill>
          <a:blip r:embed="rId3"/>
          <a:stretch>
            <a:fillRect/>
          </a:stretch>
        </p:blipFill>
        <p:spPr>
          <a:xfrm>
            <a:off x="1237535" y="1508760"/>
            <a:ext cx="9713881" cy="5074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Why the light trend is relative to the city</a:t>
            </a:r>
          </a:p>
          <a:p>
            <a:pPr>
              <a:spcAft>
                <a:spcPts val="0"/>
              </a:spcAft>
            </a:pPr>
            <a:r>
              <a:rPr sz="1350" b="0">
                <a:solidFill>
                  <a:srgbClr val="1B5FAF"/>
                </a:solidFill>
                <a:latin typeface="Segoe UI"/>
              </a:rPr>
              <a:t>Raw radiance rises everywhere; relative to the city, only some cells catch up</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4_relative_light_trend.png"/>
          <p:cNvPicPr>
            <a:picLocks noChangeAspect="1"/>
          </p:cNvPicPr>
          <p:nvPr/>
        </p:nvPicPr>
        <p:blipFill>
          <a:blip r:embed="rId3"/>
          <a:stretch>
            <a:fillRect/>
          </a:stretch>
        </p:blipFill>
        <p:spPr>
          <a:xfrm>
            <a:off x="457200" y="1827707"/>
            <a:ext cx="11274552" cy="44370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Surface heat-island method</a:t>
            </a:r>
          </a:p>
          <a:p>
            <a:pPr>
              <a:spcAft>
                <a:spcPts val="0"/>
              </a:spcAft>
            </a:pPr>
            <a:r>
              <a:rPr sz="1350" b="0">
                <a:solidFill>
                  <a:srgbClr val="1B5FAF"/>
                </a:solidFill>
                <a:latin typeface="Segoe UI"/>
              </a:rPr>
              <a:t>Land surface temperature minus a rural reference from the same scene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6_heat_island_method.png"/>
          <p:cNvPicPr>
            <a:picLocks noChangeAspect="1"/>
          </p:cNvPicPr>
          <p:nvPr/>
        </p:nvPicPr>
        <p:blipFill>
          <a:blip r:embed="rId3"/>
          <a:stretch>
            <a:fillRect/>
          </a:stretch>
        </p:blipFill>
        <p:spPr>
          <a:xfrm>
            <a:off x="457200" y="1994997"/>
            <a:ext cx="11274552" cy="41024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Growth-model architecture</a:t>
            </a:r>
          </a:p>
          <a:p>
            <a:pPr>
              <a:spcAft>
                <a:spcPts val="0"/>
              </a:spcAft>
            </a:pPr>
            <a:r>
              <a:rPr sz="1350" b="0">
                <a:solidFill>
                  <a:srgbClr val="1B5FAF"/>
                </a:solidFill>
                <a:latin typeface="Segoe UI"/>
              </a:rPr>
              <a:t>Learn where the city grew, test on years it never saw, then predict</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5_growth_model.png"/>
          <p:cNvPicPr>
            <a:picLocks noChangeAspect="1"/>
          </p:cNvPicPr>
          <p:nvPr/>
        </p:nvPicPr>
        <p:blipFill>
          <a:blip r:embed="rId3"/>
          <a:stretch>
            <a:fillRect/>
          </a:stretch>
        </p:blipFill>
        <p:spPr>
          <a:xfrm>
            <a:off x="645177" y="1508760"/>
            <a:ext cx="10898598" cy="5074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Validation framework</a:t>
            </a:r>
          </a:p>
          <a:p>
            <a:pPr>
              <a:spcAft>
                <a:spcPts val="0"/>
              </a:spcAft>
            </a:pPr>
            <a:r>
              <a:rPr sz="1350" b="0">
                <a:solidFill>
                  <a:srgbClr val="1B5FAF"/>
                </a:solidFill>
                <a:latin typeface="Segoe UI"/>
              </a:rPr>
              <a:t>Every headline claim is checked against evidence the method never used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7_validation_framework.png"/>
          <p:cNvPicPr>
            <a:picLocks noChangeAspect="1"/>
          </p:cNvPicPr>
          <p:nvPr/>
        </p:nvPicPr>
        <p:blipFill>
          <a:blip r:embed="rId3"/>
          <a:stretch>
            <a:fillRect/>
          </a:stretch>
        </p:blipFill>
        <p:spPr>
          <a:xfrm>
            <a:off x="556117" y="1508760"/>
            <a:ext cx="11076717" cy="5074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Result: urban growth, 2010-2020</a:t>
            </a:r>
          </a:p>
          <a:p>
            <a:pPr>
              <a:spcAft>
                <a:spcPts val="0"/>
              </a:spcAft>
            </a:pPr>
            <a:r>
              <a:rPr sz="1350" b="0">
                <a:solidFill>
                  <a:srgbClr val="1B5FAF"/>
                </a:solidFill>
                <a:latin typeface="Segoe UI"/>
              </a:rPr>
              <a:t>Observed epochs only</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1_growth_index.png"/>
          <p:cNvPicPr>
            <a:picLocks noChangeAspect="1"/>
          </p:cNvPicPr>
          <p:nvPr/>
        </p:nvPicPr>
        <p:blipFill>
          <a:blip r:embed="rId3"/>
          <a:stretch>
            <a:fillRect/>
          </a:stretch>
        </p:blipFill>
        <p:spPr>
          <a:xfrm>
            <a:off x="640080" y="1554480"/>
            <a:ext cx="5669280" cy="3896031"/>
          </a:xfrm>
          <a:prstGeom prst="rect">
            <a:avLst/>
          </a:prstGeom>
        </p:spPr>
      </p:pic>
      <p:pic>
        <p:nvPicPr>
          <p:cNvPr id="6" name="Picture 5" descr="F02_urban_form.png"/>
          <p:cNvPicPr>
            <a:picLocks noChangeAspect="1"/>
          </p:cNvPicPr>
          <p:nvPr/>
        </p:nvPicPr>
        <p:blipFill>
          <a:blip r:embed="rId4"/>
          <a:stretch>
            <a:fillRect/>
          </a:stretch>
        </p:blipFill>
        <p:spPr>
          <a:xfrm>
            <a:off x="6583680" y="1554480"/>
            <a:ext cx="4937760" cy="2419782"/>
          </a:xfrm>
          <a:prstGeom prst="rect">
            <a:avLst/>
          </a:prstGeom>
        </p:spPr>
      </p:pic>
      <p:sp>
        <p:nvSpPr>
          <p:cNvPr id="7" name="Rectangle 6"/>
          <p:cNvSpPr/>
          <p:nvPr/>
        </p:nvSpPr>
        <p:spPr>
          <a:xfrm>
            <a:off x="6583680" y="4160520"/>
            <a:ext cx="2377440" cy="91440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11696" y="4251960"/>
            <a:ext cx="2121408" cy="731520"/>
          </a:xfrm>
          <a:prstGeom prst="rect">
            <a:avLst/>
          </a:prstGeom>
          <a:noFill/>
        </p:spPr>
        <p:txBody>
          <a:bodyPr wrap="square">
            <a:spAutoFit/>
          </a:bodyPr>
          <a:lstStyle/>
          <a:p>
            <a:pPr algn="l">
              <a:spcAft>
                <a:spcPts val="200"/>
              </a:spcAft>
            </a:pPr>
            <a:r>
              <a:rPr sz="2000" b="1">
                <a:solidFill>
                  <a:srgbClr val="1B5FAF"/>
                </a:solidFill>
                <a:latin typeface="Segoe UI"/>
              </a:rPr>
              <a:t>+17.25 km²</a:t>
            </a:r>
          </a:p>
          <a:p>
            <a:pPr>
              <a:spcAft>
                <a:spcPts val="0"/>
              </a:spcAft>
            </a:pPr>
            <a:r>
              <a:rPr sz="1050" b="0">
                <a:solidFill>
                  <a:srgbClr val="5A6474"/>
                </a:solidFill>
                <a:latin typeface="Segoe UI"/>
              </a:rPr>
              <a:t>built-up, 72.48 to 89.73 km²</a:t>
            </a:r>
          </a:p>
        </p:txBody>
      </p:sp>
      <p:sp>
        <p:nvSpPr>
          <p:cNvPr id="9" name="Rectangle 8"/>
          <p:cNvSpPr/>
          <p:nvPr/>
        </p:nvSpPr>
        <p:spPr>
          <a:xfrm>
            <a:off x="9098280" y="4160520"/>
            <a:ext cx="2423160" cy="91440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26296" y="4251960"/>
            <a:ext cx="2167128" cy="731520"/>
          </a:xfrm>
          <a:prstGeom prst="rect">
            <a:avLst/>
          </a:prstGeom>
          <a:noFill/>
        </p:spPr>
        <p:txBody>
          <a:bodyPr wrap="square">
            <a:spAutoFit/>
          </a:bodyPr>
          <a:lstStyle/>
          <a:p>
            <a:pPr algn="l">
              <a:spcAft>
                <a:spcPts val="200"/>
              </a:spcAft>
            </a:pPr>
            <a:r>
              <a:rPr sz="2000" b="1">
                <a:solidFill>
                  <a:srgbClr val="1B5FAF"/>
                </a:solidFill>
                <a:latin typeface="Segoe UI"/>
              </a:rPr>
              <a:t>1.86 % / yr</a:t>
            </a:r>
          </a:p>
          <a:p>
            <a:pPr>
              <a:spcAft>
                <a:spcPts val="0"/>
              </a:spcAft>
            </a:pPr>
            <a:r>
              <a:rPr sz="1050" b="0">
                <a:solidFill>
                  <a:srgbClr val="5A6474"/>
                </a:solidFill>
                <a:latin typeface="Segoe UI"/>
              </a:rPr>
              <a:t>urban extent growth</a:t>
            </a:r>
          </a:p>
        </p:txBody>
      </p:sp>
      <p:sp>
        <p:nvSpPr>
          <p:cNvPr id="11" name="Rectangle 10"/>
          <p:cNvSpPr/>
          <p:nvPr/>
        </p:nvSpPr>
        <p:spPr>
          <a:xfrm>
            <a:off x="6583680" y="5212080"/>
            <a:ext cx="2377440" cy="91440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11696" y="5303520"/>
            <a:ext cx="2121408" cy="731520"/>
          </a:xfrm>
          <a:prstGeom prst="rect">
            <a:avLst/>
          </a:prstGeom>
          <a:noFill/>
        </p:spPr>
        <p:txBody>
          <a:bodyPr wrap="square">
            <a:spAutoFit/>
          </a:bodyPr>
          <a:lstStyle/>
          <a:p>
            <a:pPr algn="l">
              <a:spcAft>
                <a:spcPts val="200"/>
              </a:spcAft>
            </a:pPr>
            <a:r>
              <a:rPr sz="2000" b="1">
                <a:solidFill>
                  <a:srgbClr val="B26A00"/>
                </a:solidFill>
                <a:latin typeface="Segoe UI"/>
              </a:rPr>
              <a:t>44.3 %</a:t>
            </a:r>
          </a:p>
          <a:p>
            <a:pPr>
              <a:spcAft>
                <a:spcPts val="0"/>
              </a:spcAft>
            </a:pPr>
            <a:r>
              <a:rPr sz="1050" b="0">
                <a:solidFill>
                  <a:srgbClr val="5A6474"/>
                </a:solidFill>
                <a:latin typeface="Segoe UI"/>
              </a:rPr>
              <a:t>of new urban land is leapfrog</a:t>
            </a:r>
          </a:p>
        </p:txBody>
      </p:sp>
      <p:sp>
        <p:nvSpPr>
          <p:cNvPr id="13" name="Rectangle 12"/>
          <p:cNvSpPr/>
          <p:nvPr/>
        </p:nvSpPr>
        <p:spPr>
          <a:xfrm>
            <a:off x="9098280" y="5212080"/>
            <a:ext cx="2423160" cy="91440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26296" y="5303520"/>
            <a:ext cx="2167128" cy="731520"/>
          </a:xfrm>
          <a:prstGeom prst="rect">
            <a:avLst/>
          </a:prstGeom>
          <a:noFill/>
        </p:spPr>
        <p:txBody>
          <a:bodyPr wrap="square">
            <a:spAutoFit/>
          </a:bodyPr>
          <a:lstStyle/>
          <a:p>
            <a:pPr algn="l">
              <a:spcAft>
                <a:spcPts val="200"/>
              </a:spcAft>
            </a:pPr>
            <a:r>
              <a:rPr sz="2000" b="1">
                <a:solidFill>
                  <a:srgbClr val="0E7A52"/>
                </a:solidFill>
                <a:latin typeface="Segoe UI"/>
              </a:rPr>
              <a:t>1.3x - 2.3x</a:t>
            </a:r>
          </a:p>
          <a:p>
            <a:pPr>
              <a:spcAft>
                <a:spcPts val="0"/>
              </a:spcAft>
            </a:pPr>
            <a:r>
              <a:rPr sz="1050" b="0">
                <a:solidFill>
                  <a:srgbClr val="5A6474"/>
                </a:solidFill>
                <a:latin typeface="Segoe UI"/>
              </a:rPr>
              <a:t>faster than population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Result: is the ghost-growth split real?</a:t>
            </a:r>
          </a:p>
          <a:p>
            <a:pPr>
              <a:spcAft>
                <a:spcPts val="0"/>
              </a:spcAft>
            </a:pPr>
            <a:r>
              <a:rPr sz="1350" b="0">
                <a:solidFill>
                  <a:srgbClr val="1B5FAF"/>
                </a:solidFill>
                <a:latin typeface="Segoe UI"/>
              </a:rPr>
              <a:t>Classified on 2013-2020, checked on 2021-2024 data the classifier never saw</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4_rule_sensitivity.png"/>
          <p:cNvPicPr>
            <a:picLocks noChangeAspect="1"/>
          </p:cNvPicPr>
          <p:nvPr/>
        </p:nvPicPr>
        <p:blipFill>
          <a:blip r:embed="rId3"/>
          <a:stretch>
            <a:fillRect/>
          </a:stretch>
        </p:blipFill>
        <p:spPr>
          <a:xfrm>
            <a:off x="640080" y="1600200"/>
            <a:ext cx="5394960" cy="3031229"/>
          </a:xfrm>
          <a:prstGeom prst="rect">
            <a:avLst/>
          </a:prstGeom>
        </p:spPr>
      </p:pic>
      <p:pic>
        <p:nvPicPr>
          <p:cNvPr id="6" name="Picture 5" descr="F05_holdout.png"/>
          <p:cNvPicPr>
            <a:picLocks noChangeAspect="1"/>
          </p:cNvPicPr>
          <p:nvPr/>
        </p:nvPicPr>
        <p:blipFill>
          <a:blip r:embed="rId4"/>
          <a:stretch>
            <a:fillRect/>
          </a:stretch>
        </p:blipFill>
        <p:spPr>
          <a:xfrm>
            <a:off x="6217920" y="1600200"/>
            <a:ext cx="5303520" cy="2699470"/>
          </a:xfrm>
          <a:prstGeom prst="rect">
            <a:avLst/>
          </a:prstGeom>
        </p:spPr>
      </p:pic>
      <p:sp>
        <p:nvSpPr>
          <p:cNvPr id="7" name="Rectangle 6"/>
          <p:cNvSpPr/>
          <p:nvPr/>
        </p:nvSpPr>
        <p:spPr>
          <a:xfrm>
            <a:off x="640080" y="4846320"/>
            <a:ext cx="10881360" cy="11887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4956048"/>
            <a:ext cx="10424160" cy="1005840"/>
          </a:xfrm>
          <a:prstGeom prst="rect">
            <a:avLst/>
          </a:prstGeom>
          <a:noFill/>
        </p:spPr>
        <p:txBody>
          <a:bodyPr wrap="square">
            <a:spAutoFit/>
          </a:bodyPr>
          <a:lstStyle/>
          <a:p>
            <a:pPr algn="l">
              <a:spcAft>
                <a:spcPts val="400"/>
              </a:spcAft>
            </a:pPr>
            <a:r>
              <a:rPr sz="1400" b="1">
                <a:solidFill>
                  <a:srgbClr val="101826"/>
                </a:solidFill>
                <a:latin typeface="Segoe UI"/>
              </a:rPr>
              <a:t>Yes - modestly. Cells called emerging went on to brighten more than cells called ghost growth.</a:t>
            </a:r>
          </a:p>
          <a:p>
            <a:pPr>
              <a:spcAft>
                <a:spcPts val="0"/>
              </a:spcAft>
            </a:pPr>
            <a:r>
              <a:rPr sz="1250" b="0">
                <a:solidFill>
                  <a:srgbClr val="5A6474"/>
                </a:solidFill>
                <a:latin typeface="Segoe UI"/>
              </a:rPr>
              <a:t>p = 0.010 over 100 m cells and p = 0.031 over 500 m blocks (one-sided Mann-Whitney). An emerging cell out-brightened a ghost cell 56% of the time: the split carries real information, and it is a screening map, not a verdict.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What a flagged zone looks like</a:t>
            </a:r>
          </a:p>
          <a:p>
            <a:pPr>
              <a:spcAft>
                <a:spcPts val="0"/>
              </a:spcAft>
            </a:pPr>
            <a:r>
              <a:rPr sz="1350" b="0">
                <a:solidFill>
                  <a:srgbClr val="1B5FAF"/>
                </a:solidFill>
                <a:latin typeface="Segoe UI"/>
              </a:rPr>
              <a:t>One evidence card of 23</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zone_01.png"/>
          <p:cNvPicPr>
            <a:picLocks noChangeAspect="1"/>
          </p:cNvPicPr>
          <p:nvPr/>
        </p:nvPicPr>
        <p:blipFill>
          <a:blip r:embed="rId3"/>
          <a:stretch>
            <a:fillRect/>
          </a:stretch>
        </p:blipFill>
        <p:spPr>
          <a:xfrm>
            <a:off x="856414" y="1554480"/>
            <a:ext cx="7248292" cy="4572000"/>
          </a:xfrm>
          <a:prstGeom prst="rect">
            <a:avLst/>
          </a:prstGeom>
        </p:spPr>
      </p:pic>
      <p:sp>
        <p:nvSpPr>
          <p:cNvPr id="6" name="Rectangle 5"/>
          <p:cNvSpPr/>
          <p:nvPr/>
        </p:nvSpPr>
        <p:spPr>
          <a:xfrm>
            <a:off x="8641080" y="1691640"/>
            <a:ext cx="2880360" cy="96012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69096" y="1783080"/>
            <a:ext cx="2624328" cy="777240"/>
          </a:xfrm>
          <a:prstGeom prst="rect">
            <a:avLst/>
          </a:prstGeom>
          <a:noFill/>
        </p:spPr>
        <p:txBody>
          <a:bodyPr wrap="square">
            <a:spAutoFit/>
          </a:bodyPr>
          <a:lstStyle/>
          <a:p>
            <a:pPr algn="l">
              <a:spcAft>
                <a:spcPts val="200"/>
              </a:spcAft>
            </a:pPr>
            <a:r>
              <a:rPr sz="2000" b="1">
                <a:solidFill>
                  <a:srgbClr val="1B5FAF"/>
                </a:solidFill>
                <a:latin typeface="Segoe UI"/>
              </a:rPr>
              <a:t>23</a:t>
            </a:r>
          </a:p>
          <a:p>
            <a:pPr>
              <a:spcAft>
                <a:spcPts val="0"/>
              </a:spcAft>
            </a:pPr>
            <a:r>
              <a:rPr sz="1050" b="0">
                <a:solidFill>
                  <a:srgbClr val="5A6474"/>
                </a:solidFill>
                <a:latin typeface="Segoe UI"/>
              </a:rPr>
              <a:t>ghost-growth zones flagged</a:t>
            </a:r>
          </a:p>
        </p:txBody>
      </p:sp>
      <p:sp>
        <p:nvSpPr>
          <p:cNvPr id="8" name="Rectangle 7"/>
          <p:cNvSpPr/>
          <p:nvPr/>
        </p:nvSpPr>
        <p:spPr>
          <a:xfrm>
            <a:off x="8641080" y="2788920"/>
            <a:ext cx="2880360" cy="96012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69096" y="2880360"/>
            <a:ext cx="2624328" cy="777240"/>
          </a:xfrm>
          <a:prstGeom prst="rect">
            <a:avLst/>
          </a:prstGeom>
          <a:noFill/>
        </p:spPr>
        <p:txBody>
          <a:bodyPr wrap="square">
            <a:spAutoFit/>
          </a:bodyPr>
          <a:lstStyle/>
          <a:p>
            <a:pPr algn="l">
              <a:spcAft>
                <a:spcPts val="200"/>
              </a:spcAft>
            </a:pPr>
            <a:r>
              <a:rPr sz="2000" b="1">
                <a:solidFill>
                  <a:srgbClr val="0E7A52"/>
                </a:solidFill>
                <a:latin typeface="Segoe UI"/>
              </a:rPr>
              <a:t>82 %</a:t>
            </a:r>
          </a:p>
          <a:p>
            <a:pPr>
              <a:spcAft>
                <a:spcPts val="0"/>
              </a:spcAft>
            </a:pPr>
            <a:r>
              <a:rPr sz="1050" b="0">
                <a:solidFill>
                  <a:srgbClr val="5A6474"/>
                </a:solidFill>
                <a:latin typeface="Segoe UI"/>
              </a:rPr>
              <a:t>of ghost cells contain buildings in 2023</a:t>
            </a:r>
          </a:p>
        </p:txBody>
      </p:sp>
      <p:sp>
        <p:nvSpPr>
          <p:cNvPr id="10" name="Rectangle 9"/>
          <p:cNvSpPr/>
          <p:nvPr/>
        </p:nvSpPr>
        <p:spPr>
          <a:xfrm>
            <a:off x="8641080" y="3886200"/>
            <a:ext cx="2880360" cy="96012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69096" y="3977640"/>
            <a:ext cx="2624328" cy="777240"/>
          </a:xfrm>
          <a:prstGeom prst="rect">
            <a:avLst/>
          </a:prstGeom>
          <a:noFill/>
        </p:spPr>
        <p:txBody>
          <a:bodyPr wrap="square">
            <a:spAutoFit/>
          </a:bodyPr>
          <a:lstStyle/>
          <a:p>
            <a:pPr algn="l">
              <a:spcAft>
                <a:spcPts val="200"/>
              </a:spcAft>
            </a:pPr>
            <a:r>
              <a:rPr sz="2000" b="1">
                <a:solidFill>
                  <a:srgbClr val="B26A00"/>
                </a:solidFill>
                <a:latin typeface="Segoe UI"/>
              </a:rPr>
              <a:t>26 of 144</a:t>
            </a:r>
          </a:p>
          <a:p>
            <a:pPr>
              <a:spcAft>
                <a:spcPts val="0"/>
              </a:spcAft>
            </a:pPr>
            <a:r>
              <a:rPr sz="1050" b="0">
                <a:solidFill>
                  <a:srgbClr val="5A6474"/>
                </a:solidFill>
                <a:latin typeface="Segoe UI"/>
              </a:rPr>
              <a:t>ghost cells with no buildings: likely GHSL errors</a:t>
            </a:r>
          </a:p>
        </p:txBody>
      </p:sp>
      <p:sp>
        <p:nvSpPr>
          <p:cNvPr id="12" name="TextBox 11"/>
          <p:cNvSpPr txBox="1"/>
          <p:nvPr/>
        </p:nvSpPr>
        <p:spPr>
          <a:xfrm>
            <a:off x="640080" y="6291072"/>
            <a:ext cx="10972800" cy="274320"/>
          </a:xfrm>
          <a:prstGeom prst="rect">
            <a:avLst/>
          </a:prstGeom>
          <a:noFill/>
        </p:spPr>
        <p:txBody>
          <a:bodyPr wrap="square">
            <a:spAutoFit/>
          </a:bodyPr>
          <a:lstStyle/>
          <a:p>
            <a:pPr algn="l">
              <a:spcAft>
                <a:spcPts val="0"/>
              </a:spcAft>
            </a:pPr>
            <a:r>
              <a:rPr sz="950" b="0">
                <a:solidFill>
                  <a:srgbClr val="5A6474"/>
                </a:solidFill>
                <a:latin typeface="Segoe UI"/>
              </a:rPr>
              <a:t>Evidence for a reader, not a validation: how often a flagged zone is really vacant stays unmeasured until image labels exist (Review 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Result: where the city grows next</a:t>
            </a:r>
          </a:p>
          <a:p>
            <a:pPr>
              <a:spcAft>
                <a:spcPts val="0"/>
              </a:spcAft>
            </a:pPr>
            <a:r>
              <a:rPr sz="1350" b="0">
                <a:solidFill>
                  <a:srgbClr val="1B5FAF"/>
                </a:solidFill>
                <a:latin typeface="Segoe UI"/>
              </a:rPr>
              <a:t>Trained 2010-2015, scored on a held-out 2015-2020</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7_figure_of_merit.png"/>
          <p:cNvPicPr>
            <a:picLocks noChangeAspect="1"/>
          </p:cNvPicPr>
          <p:nvPr/>
        </p:nvPicPr>
        <p:blipFill>
          <a:blip r:embed="rId3"/>
          <a:stretch>
            <a:fillRect/>
          </a:stretch>
        </p:blipFill>
        <p:spPr>
          <a:xfrm>
            <a:off x="640080" y="1554480"/>
            <a:ext cx="5394960" cy="3306986"/>
          </a:xfrm>
          <a:prstGeom prst="rect">
            <a:avLst/>
          </a:prstGeom>
        </p:spPr>
      </p:pic>
      <p:pic>
        <p:nvPicPr>
          <p:cNvPr id="6" name="Picture 5" descr="F09_projection_map.png"/>
          <p:cNvPicPr>
            <a:picLocks noChangeAspect="1"/>
          </p:cNvPicPr>
          <p:nvPr/>
        </p:nvPicPr>
        <p:blipFill>
          <a:blip r:embed="rId4"/>
          <a:stretch>
            <a:fillRect/>
          </a:stretch>
        </p:blipFill>
        <p:spPr>
          <a:xfrm>
            <a:off x="6309360" y="1554480"/>
            <a:ext cx="3383280" cy="3152895"/>
          </a:xfrm>
          <a:prstGeom prst="rect">
            <a:avLst/>
          </a:prstGeom>
        </p:spPr>
      </p:pic>
      <p:graphicFrame>
        <p:nvGraphicFramePr>
          <p:cNvPr id="7" name="Table 6"/>
          <p:cNvGraphicFramePr>
            <a:graphicFrameLocks noGrp="1"/>
          </p:cNvGraphicFramePr>
          <p:nvPr/>
        </p:nvGraphicFramePr>
        <p:xfrm>
          <a:off x="640080" y="5029200"/>
          <a:ext cx="5394959" cy="1097280"/>
        </p:xfrm>
        <a:graphic>
          <a:graphicData uri="http://schemas.openxmlformats.org/drawingml/2006/table">
            <a:tbl>
              <a:tblPr firstRow="1" bandRow="1">
                <a:tableStyleId>{5C22544A-7EE6-4342-B048-85BDC9FD1C3A}</a:tableStyleId>
              </a:tblPr>
              <a:tblGrid>
                <a:gridCol w="1942185">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gridCol w="1294790">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tblGrid>
              <a:tr h="274320">
                <a:tc>
                  <a:txBody>
                    <a:bodyPr/>
                    <a:lstStyle/>
                    <a:p>
                      <a:pPr algn="l"/>
                      <a:r>
                        <a:rPr sz="1000" b="1">
                          <a:solidFill>
                            <a:srgbClr val="101826"/>
                          </a:solidFill>
                          <a:latin typeface="Segoe UI"/>
                        </a:rPr>
                        <a:t>Model</a:t>
                      </a:r>
                    </a:p>
                  </a:txBody>
                  <a:tcPr marL="64008" marR="64008" marT="18288" marB="18288">
                    <a:solidFill>
                      <a:srgbClr val="F1F5FA"/>
                    </a:solidFill>
                  </a:tcPr>
                </a:tc>
                <a:tc>
                  <a:txBody>
                    <a:bodyPr/>
                    <a:lstStyle/>
                    <a:p>
                      <a:pPr algn="l"/>
                      <a:r>
                        <a:rPr sz="1000" b="1">
                          <a:solidFill>
                            <a:srgbClr val="101826"/>
                          </a:solidFill>
                          <a:latin typeface="Segoe UI"/>
                        </a:rPr>
                        <a:t>AUC, held out</a:t>
                      </a:r>
                    </a:p>
                  </a:txBody>
                  <a:tcPr marL="64008" marR="64008" marT="18288" marB="18288">
                    <a:solidFill>
                      <a:srgbClr val="F1F5FA"/>
                    </a:solidFill>
                  </a:tcPr>
                </a:tc>
                <a:tc>
                  <a:txBody>
                    <a:bodyPr/>
                    <a:lstStyle/>
                    <a:p>
                      <a:pPr algn="l"/>
                      <a:r>
                        <a:rPr sz="1000" b="1">
                          <a:solidFill>
                            <a:srgbClr val="101826"/>
                          </a:solidFill>
                          <a:latin typeface="Segoe UI"/>
                        </a:rPr>
                        <a:t>Figure of Merit</a:t>
                      </a:r>
                    </a:p>
                  </a:txBody>
                  <a:tcPr marL="64008" marR="64008" marT="18288" marB="18288">
                    <a:solidFill>
                      <a:srgbClr val="F1F5FA"/>
                    </a:solidFill>
                  </a:tcPr>
                </a:tc>
                <a:tc>
                  <a:txBody>
                    <a:bodyPr/>
                    <a:lstStyle/>
                    <a:p>
                      <a:pPr algn="l"/>
                      <a:r>
                        <a:rPr sz="1000" b="1">
                          <a:solidFill>
                            <a:srgbClr val="101826"/>
                          </a:solidFill>
                          <a:latin typeface="Segoe UI"/>
                        </a:rPr>
                        <a:t>vs random</a:t>
                      </a:r>
                    </a:p>
                  </a:txBody>
                  <a:tcPr marL="64008" marR="64008" marT="18288" marB="18288">
                    <a:solidFill>
                      <a:srgbClr val="F1F5FA"/>
                    </a:solidFill>
                  </a:tcPr>
                </a:tc>
                <a:extLst>
                  <a:ext uri="{0D108BD9-81ED-4DB2-BD59-A6C34878D82A}">
                    <a16:rowId xmlns:a16="http://schemas.microsoft.com/office/drawing/2014/main" val="10000"/>
                  </a:ext>
                </a:extLst>
              </a:tr>
              <a:tr h="274320">
                <a:tc>
                  <a:txBody>
                    <a:bodyPr/>
                    <a:lstStyle/>
                    <a:p>
                      <a:pPr algn="l"/>
                      <a:r>
                        <a:rPr sz="1000" b="0">
                          <a:solidFill>
                            <a:srgbClr val="5A6474"/>
                          </a:solidFill>
                          <a:latin typeface="Segoe UI"/>
                        </a:rPr>
                        <a:t>Random forest</a:t>
                      </a:r>
                    </a:p>
                  </a:txBody>
                  <a:tcPr marL="64008" marR="64008" marT="18288" marB="18288">
                    <a:solidFill>
                      <a:srgbClr val="FFFFFF"/>
                    </a:solidFill>
                  </a:tcPr>
                </a:tc>
                <a:tc>
                  <a:txBody>
                    <a:bodyPr/>
                    <a:lstStyle/>
                    <a:p>
                      <a:pPr algn="l"/>
                      <a:r>
                        <a:rPr sz="1000" b="0">
                          <a:solidFill>
                            <a:srgbClr val="5A6474"/>
                          </a:solidFill>
                          <a:latin typeface="Segoe UI"/>
                        </a:rPr>
                        <a:t>0.834</a:t>
                      </a:r>
                    </a:p>
                  </a:txBody>
                  <a:tcPr marL="64008" marR="64008" marT="18288" marB="18288">
                    <a:solidFill>
                      <a:srgbClr val="FFFFFF"/>
                    </a:solidFill>
                  </a:tcPr>
                </a:tc>
                <a:tc>
                  <a:txBody>
                    <a:bodyPr/>
                    <a:lstStyle/>
                    <a:p>
                      <a:pPr algn="l"/>
                      <a:r>
                        <a:rPr sz="1000" b="0">
                          <a:solidFill>
                            <a:srgbClr val="5A6474"/>
                          </a:solidFill>
                          <a:latin typeface="Segoe UI"/>
                        </a:rPr>
                        <a:t>0.103</a:t>
                      </a:r>
                    </a:p>
                  </a:txBody>
                  <a:tcPr marL="64008" marR="64008" marT="18288" marB="18288">
                    <a:solidFill>
                      <a:srgbClr val="FFFFFF"/>
                    </a:solidFill>
                  </a:tcPr>
                </a:tc>
                <a:tc>
                  <a:txBody>
                    <a:bodyPr/>
                    <a:lstStyle/>
                    <a:p>
                      <a:pPr algn="l"/>
                      <a:r>
                        <a:rPr sz="1000" b="0">
                          <a:solidFill>
                            <a:srgbClr val="5A6474"/>
                          </a:solidFill>
                          <a:latin typeface="Segoe UI"/>
                        </a:rPr>
                        <a:t>18.7x</a:t>
                      </a:r>
                    </a:p>
                  </a:txBody>
                  <a:tcPr marL="64008" marR="64008" marT="18288" marB="18288">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5A6474"/>
                          </a:solidFill>
                          <a:latin typeface="Segoe UI"/>
                        </a:rPr>
                        <a:t>Logistic regression</a:t>
                      </a:r>
                    </a:p>
                  </a:txBody>
                  <a:tcPr marL="64008" marR="64008" marT="18288" marB="18288">
                    <a:solidFill>
                      <a:srgbClr val="FFFFFF"/>
                    </a:solidFill>
                  </a:tcPr>
                </a:tc>
                <a:tc>
                  <a:txBody>
                    <a:bodyPr/>
                    <a:lstStyle/>
                    <a:p>
                      <a:pPr algn="l"/>
                      <a:r>
                        <a:rPr sz="1000" b="0">
                          <a:solidFill>
                            <a:srgbClr val="5A6474"/>
                          </a:solidFill>
                          <a:latin typeface="Segoe UI"/>
                        </a:rPr>
                        <a:t>0.910</a:t>
                      </a:r>
                    </a:p>
                  </a:txBody>
                  <a:tcPr marL="64008" marR="64008" marT="18288" marB="18288">
                    <a:solidFill>
                      <a:srgbClr val="FFFFFF"/>
                    </a:solidFill>
                  </a:tcPr>
                </a:tc>
                <a:tc>
                  <a:txBody>
                    <a:bodyPr/>
                    <a:lstStyle/>
                    <a:p>
                      <a:pPr algn="l"/>
                      <a:r>
                        <a:rPr sz="1000" b="0">
                          <a:solidFill>
                            <a:srgbClr val="5A6474"/>
                          </a:solidFill>
                          <a:latin typeface="Segoe UI"/>
                        </a:rPr>
                        <a:t>0.069</a:t>
                      </a:r>
                    </a:p>
                  </a:txBody>
                  <a:tcPr marL="64008" marR="64008" marT="18288" marB="18288">
                    <a:solidFill>
                      <a:srgbClr val="FFFFFF"/>
                    </a:solidFill>
                  </a:tcPr>
                </a:tc>
                <a:tc>
                  <a:txBody>
                    <a:bodyPr/>
                    <a:lstStyle/>
                    <a:p>
                      <a:pPr algn="l"/>
                      <a:r>
                        <a:rPr sz="1000" b="0">
                          <a:solidFill>
                            <a:srgbClr val="5A6474"/>
                          </a:solidFill>
                          <a:latin typeface="Segoe UI"/>
                        </a:rPr>
                        <a:t>12.5x</a:t>
                      </a:r>
                    </a:p>
                  </a:txBody>
                  <a:tcPr marL="64008" marR="64008"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a:solidFill>
                            <a:srgbClr val="5A6474"/>
                          </a:solidFill>
                          <a:latin typeface="Segoe UI"/>
                        </a:rPr>
                        <a:t>Random allocation</a:t>
                      </a:r>
                    </a:p>
                  </a:txBody>
                  <a:tcPr marL="64008" marR="64008" marT="18288" marB="18288">
                    <a:solidFill>
                      <a:srgbClr val="FFFFFF"/>
                    </a:solidFill>
                  </a:tcPr>
                </a:tc>
                <a:tc>
                  <a:txBody>
                    <a:bodyPr/>
                    <a:lstStyle/>
                    <a:p>
                      <a:pPr algn="l"/>
                      <a:r>
                        <a:rPr sz="1000" b="0">
                          <a:solidFill>
                            <a:srgbClr val="5A6474"/>
                          </a:solidFill>
                          <a:latin typeface="Segoe UI"/>
                        </a:rPr>
                        <a:t>0.500</a:t>
                      </a:r>
                    </a:p>
                  </a:txBody>
                  <a:tcPr marL="64008" marR="64008" marT="18288" marB="18288">
                    <a:solidFill>
                      <a:srgbClr val="FFFFFF"/>
                    </a:solidFill>
                  </a:tcPr>
                </a:tc>
                <a:tc>
                  <a:txBody>
                    <a:bodyPr/>
                    <a:lstStyle/>
                    <a:p>
                      <a:pPr algn="l"/>
                      <a:r>
                        <a:rPr sz="1000" b="0">
                          <a:solidFill>
                            <a:srgbClr val="5A6474"/>
                          </a:solidFill>
                          <a:latin typeface="Segoe UI"/>
                        </a:rPr>
                        <a:t>0.0055</a:t>
                      </a:r>
                    </a:p>
                  </a:txBody>
                  <a:tcPr marL="64008" marR="64008" marT="18288" marB="18288">
                    <a:solidFill>
                      <a:srgbClr val="FFFFFF"/>
                    </a:solidFill>
                  </a:tcPr>
                </a:tc>
                <a:tc>
                  <a:txBody>
                    <a:bodyPr/>
                    <a:lstStyle/>
                    <a:p>
                      <a:pPr algn="l"/>
                      <a:r>
                        <a:rPr sz="1000" b="0">
                          <a:solidFill>
                            <a:srgbClr val="5A6474"/>
                          </a:solidFill>
                          <a:latin typeface="Segoe UI"/>
                        </a:rPr>
                        <a:t>1x</a:t>
                      </a:r>
                    </a:p>
                  </a:txBody>
                  <a:tcPr marL="64008" marR="64008" marT="18288" marB="18288">
                    <a:solidFill>
                      <a:srgbClr val="FFFFFF"/>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9875520" y="1691640"/>
            <a:ext cx="1645920" cy="96012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03536" y="1783080"/>
            <a:ext cx="1389888" cy="777240"/>
          </a:xfrm>
          <a:prstGeom prst="rect">
            <a:avLst/>
          </a:prstGeom>
          <a:noFill/>
        </p:spPr>
        <p:txBody>
          <a:bodyPr wrap="square">
            <a:spAutoFit/>
          </a:bodyPr>
          <a:lstStyle/>
          <a:p>
            <a:pPr algn="l">
              <a:spcAft>
                <a:spcPts val="200"/>
              </a:spcAft>
            </a:pPr>
            <a:r>
              <a:rPr sz="2000" b="1">
                <a:solidFill>
                  <a:srgbClr val="0E7A52"/>
                </a:solidFill>
                <a:latin typeface="Segoe UI"/>
              </a:rPr>
              <a:t>+14.89</a:t>
            </a:r>
          </a:p>
          <a:p>
            <a:pPr>
              <a:spcAft>
                <a:spcPts val="0"/>
              </a:spcAft>
            </a:pPr>
            <a:r>
              <a:rPr sz="1050" b="0">
                <a:solidFill>
                  <a:srgbClr val="5A6474"/>
                </a:solidFill>
                <a:latin typeface="Segoe UI"/>
              </a:rPr>
              <a:t>km² by 2025</a:t>
            </a:r>
          </a:p>
        </p:txBody>
      </p:sp>
      <p:sp>
        <p:nvSpPr>
          <p:cNvPr id="10" name="Rectangle 9"/>
          <p:cNvSpPr/>
          <p:nvPr/>
        </p:nvSpPr>
        <p:spPr>
          <a:xfrm>
            <a:off x="9875520" y="2788920"/>
            <a:ext cx="1645920" cy="96012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03536" y="2880360"/>
            <a:ext cx="1389888" cy="777240"/>
          </a:xfrm>
          <a:prstGeom prst="rect">
            <a:avLst/>
          </a:prstGeom>
          <a:noFill/>
        </p:spPr>
        <p:txBody>
          <a:bodyPr wrap="square">
            <a:spAutoFit/>
          </a:bodyPr>
          <a:lstStyle/>
          <a:p>
            <a:pPr algn="l">
              <a:spcAft>
                <a:spcPts val="200"/>
              </a:spcAft>
            </a:pPr>
            <a:r>
              <a:rPr sz="2000" b="1">
                <a:solidFill>
                  <a:srgbClr val="0E7A52"/>
                </a:solidFill>
                <a:latin typeface="Segoe UI"/>
              </a:rPr>
              <a:t>+31.21</a:t>
            </a:r>
          </a:p>
          <a:p>
            <a:pPr>
              <a:spcAft>
                <a:spcPts val="0"/>
              </a:spcAft>
            </a:pPr>
            <a:r>
              <a:rPr sz="1050" b="0">
                <a:solidFill>
                  <a:srgbClr val="5A6474"/>
                </a:solidFill>
                <a:latin typeface="Segoe UI"/>
              </a:rPr>
              <a:t>km² by 2030</a:t>
            </a:r>
          </a:p>
        </p:txBody>
      </p:sp>
      <p:sp>
        <p:nvSpPr>
          <p:cNvPr id="12" name="TextBox 11"/>
          <p:cNvSpPr txBox="1"/>
          <p:nvPr/>
        </p:nvSpPr>
        <p:spPr>
          <a:xfrm>
            <a:off x="6309360" y="4983480"/>
            <a:ext cx="5212080" cy="1280160"/>
          </a:xfrm>
          <a:prstGeom prst="rect">
            <a:avLst/>
          </a:prstGeom>
          <a:noFill/>
        </p:spPr>
        <p:txBody>
          <a:bodyPr wrap="square">
            <a:spAutoFit/>
          </a:bodyPr>
          <a:lstStyle/>
          <a:p>
            <a:pPr algn="l">
              <a:spcAft>
                <a:spcPts val="300"/>
              </a:spcAft>
            </a:pPr>
            <a:r>
              <a:rPr sz="1300" b="1">
                <a:solidFill>
                  <a:srgbClr val="B26A00"/>
                </a:solidFill>
                <a:latin typeface="Segoe UI"/>
              </a:rPr>
              <a:t>Predictions, not observations.</a:t>
            </a:r>
          </a:p>
          <a:p>
            <a:pPr>
              <a:spcAft>
                <a:spcPts val="0"/>
              </a:spcAft>
            </a:pPr>
            <a:r>
              <a:rPr sz="1150" b="0">
                <a:solidFill>
                  <a:srgbClr val="5A6474"/>
                </a:solidFill>
                <a:latin typeface="Segoe UI"/>
              </a:rPr>
              <a:t>The forest places growth better; the straight-line model ranks cells better overall. Removing roads changes nothing, so no later information leaks in. Published benchmark on the same measure: 0.264, PLUS model in Wuhan.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Result: surface heat</a:t>
            </a:r>
          </a:p>
          <a:p>
            <a:pPr>
              <a:spcAft>
                <a:spcPts val="0"/>
              </a:spcAft>
            </a:pPr>
            <a:r>
              <a:rPr sz="1350" b="0">
                <a:solidFill>
                  <a:srgbClr val="1B5FAF"/>
                </a:solidFill>
                <a:latin typeface="Segoe UI"/>
              </a:rPr>
              <a:t>March to May, daytime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2_land_surface_temperature.png"/>
          <p:cNvPicPr>
            <a:picLocks noChangeAspect="1"/>
          </p:cNvPicPr>
          <p:nvPr/>
        </p:nvPicPr>
        <p:blipFill>
          <a:blip r:embed="rId3"/>
          <a:stretch>
            <a:fillRect/>
          </a:stretch>
        </p:blipFill>
        <p:spPr>
          <a:xfrm>
            <a:off x="646322" y="1554480"/>
            <a:ext cx="10868876" cy="3566160"/>
          </a:xfrm>
          <a:prstGeom prst="rect">
            <a:avLst/>
          </a:prstGeom>
        </p:spPr>
      </p:pic>
      <p:sp>
        <p:nvSpPr>
          <p:cNvPr id="6" name="Rectangle 5"/>
          <p:cNvSpPr/>
          <p:nvPr/>
        </p:nvSpPr>
        <p:spPr>
          <a:xfrm>
            <a:off x="640080" y="5257800"/>
            <a:ext cx="10881360" cy="1051560"/>
          </a:xfrm>
          <a:prstGeom prst="rect">
            <a:avLst/>
          </a:prstGeom>
          <a:solidFill>
            <a:srgbClr val="F1F5FA"/>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349240"/>
            <a:ext cx="10424160" cy="914400"/>
          </a:xfrm>
          <a:prstGeom prst="rect">
            <a:avLst/>
          </a:prstGeom>
          <a:noFill/>
        </p:spPr>
        <p:txBody>
          <a:bodyPr wrap="square">
            <a:spAutoFit/>
          </a:bodyPr>
          <a:lstStyle/>
          <a:p>
            <a:pPr algn="l">
              <a:spcAft>
                <a:spcPts val="300"/>
              </a:spcAft>
            </a:pPr>
            <a:r>
              <a:rPr sz="1400" b="1">
                <a:solidFill>
                  <a:srgbClr val="B26A00"/>
                </a:solidFill>
                <a:latin typeface="Segoe UI"/>
              </a:rPr>
              <a:t>Varanasi has no daytime surface heat island in the pre-monsoon season.</a:t>
            </a:r>
          </a:p>
          <a:p>
            <a:pPr>
              <a:spcAft>
                <a:spcPts val="0"/>
              </a:spcAft>
            </a:pPr>
            <a:r>
              <a:rPr sz="1250" b="0">
                <a:solidFill>
                  <a:srgbClr val="5A6474"/>
                </a:solidFill>
                <a:latin typeface="Segoe UI"/>
              </a:rPr>
              <a:t>Urban cells are 1.66 °C cooler than the bare farmland around them, MODIS agrees, and 22.3 of 23.8 km² of hotspots lie on rural land.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Checked against Indian records</a:t>
            </a:r>
          </a:p>
          <a:p>
            <a:pPr>
              <a:spcAft>
                <a:spcPts val="0"/>
              </a:spcAft>
            </a:pPr>
            <a:r>
              <a:rPr sz="1350" b="0">
                <a:solidFill>
                  <a:srgbClr val="1B5FAF"/>
                </a:solidFill>
                <a:latin typeface="Segoe UI"/>
              </a:rPr>
              <a:t>Census of India, Economic Census, Uttar Pradesh district GDP</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0_population.png"/>
          <p:cNvPicPr>
            <a:picLocks noChangeAspect="1"/>
          </p:cNvPicPr>
          <p:nvPr/>
        </p:nvPicPr>
        <p:blipFill>
          <a:blip r:embed="rId3"/>
          <a:stretch>
            <a:fillRect/>
          </a:stretch>
        </p:blipFill>
        <p:spPr>
          <a:xfrm>
            <a:off x="640080" y="1572768"/>
            <a:ext cx="5394960" cy="2126787"/>
          </a:xfrm>
          <a:prstGeom prst="rect">
            <a:avLst/>
          </a:prstGeom>
        </p:spPr>
      </p:pic>
      <p:pic>
        <p:nvPicPr>
          <p:cNvPr id="6" name="Picture 5" descr="F13_lights_vs_economy.png"/>
          <p:cNvPicPr>
            <a:picLocks noChangeAspect="1"/>
          </p:cNvPicPr>
          <p:nvPr/>
        </p:nvPicPr>
        <p:blipFill>
          <a:blip r:embed="rId4"/>
          <a:stretch>
            <a:fillRect/>
          </a:stretch>
        </p:blipFill>
        <p:spPr>
          <a:xfrm>
            <a:off x="6217920" y="1572768"/>
            <a:ext cx="5303520" cy="2050570"/>
          </a:xfrm>
          <a:prstGeom prst="rect">
            <a:avLst/>
          </a:prstGeom>
        </p:spPr>
      </p:pic>
      <p:sp>
        <p:nvSpPr>
          <p:cNvPr id="7" name="Rectangle 6"/>
          <p:cNvSpPr/>
          <p:nvPr/>
        </p:nvSpPr>
        <p:spPr>
          <a:xfrm>
            <a:off x="640080" y="4206240"/>
            <a:ext cx="5394960" cy="2057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4343400"/>
            <a:ext cx="5029200" cy="1828800"/>
          </a:xfrm>
          <a:prstGeom prst="rect">
            <a:avLst/>
          </a:prstGeom>
          <a:noFill/>
        </p:spPr>
        <p:txBody>
          <a:bodyPr wrap="square">
            <a:spAutoFit/>
          </a:bodyPr>
          <a:lstStyle/>
          <a:p>
            <a:pPr algn="l">
              <a:spcAft>
                <a:spcPts val="400"/>
              </a:spcAft>
            </a:pPr>
            <a:r>
              <a:rPr sz="1400" b="1">
                <a:solidFill>
                  <a:srgbClr val="1B5FAF"/>
                </a:solidFill>
                <a:latin typeface="Segoe UI"/>
              </a:rPr>
              <a:t>Population</a:t>
            </a:r>
          </a:p>
          <a:p>
            <a:pPr>
              <a:spcAft>
                <a:spcPts val="500"/>
              </a:spcAft>
            </a:pPr>
            <a:r>
              <a:rPr sz="1100" b="0">
                <a:solidFill>
                  <a:srgbClr val="5A6474"/>
                </a:solidFill>
                <a:latin typeface="Segoe UI"/>
              </a:rPr>
              <a:t>WorldPop is closer to the 2011 Census than GHS-POP: median district error -0.4% against +3.4%, over 71 districts.</a:t>
            </a:r>
          </a:p>
          <a:p>
            <a:pPr>
              <a:spcAft>
                <a:spcPts val="500"/>
              </a:spcAft>
            </a:pPr>
            <a:r>
              <a:rPr sz="1100" b="0">
                <a:solidFill>
                  <a:srgbClr val="5A6474"/>
                </a:solidFill>
                <a:latin typeface="Segoe UI"/>
              </a:rPr>
              <a:t>GHS-POP puts 63% too many people inside the city boundary.</a:t>
            </a:r>
          </a:p>
          <a:p>
            <a:pPr>
              <a:spcAft>
                <a:spcPts val="500"/>
              </a:spcAft>
            </a:pPr>
            <a:r>
              <a:rPr sz="1100" b="0">
                <a:solidFill>
                  <a:srgbClr val="5A6474"/>
                </a:solidFill>
                <a:latin typeface="Segoe UI"/>
              </a:rPr>
              <a:t>So growth is reported as a range: built-up grew 1.3x to 2.3x faster than population.</a:t>
            </a:r>
          </a:p>
        </p:txBody>
      </p:sp>
      <p:sp>
        <p:nvSpPr>
          <p:cNvPr id="9" name="Rectangle 8"/>
          <p:cNvSpPr/>
          <p:nvPr/>
        </p:nvSpPr>
        <p:spPr>
          <a:xfrm>
            <a:off x="6217920" y="4206240"/>
            <a:ext cx="5303520" cy="2057400"/>
          </a:xfrm>
          <a:prstGeom prst="rect">
            <a:avLst/>
          </a:prstGeom>
          <a:solidFill>
            <a:srgbClr val="F1F5FA"/>
          </a:solidFill>
          <a:ln w="9525">
            <a:solidFill>
              <a:srgbClr val="0E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4343400"/>
            <a:ext cx="4937760" cy="1828800"/>
          </a:xfrm>
          <a:prstGeom prst="rect">
            <a:avLst/>
          </a:prstGeom>
          <a:noFill/>
        </p:spPr>
        <p:txBody>
          <a:bodyPr wrap="square">
            <a:spAutoFit/>
          </a:bodyPr>
          <a:lstStyle/>
          <a:p>
            <a:pPr algn="l">
              <a:spcAft>
                <a:spcPts val="400"/>
              </a:spcAft>
            </a:pPr>
            <a:r>
              <a:rPr sz="1400" b="1">
                <a:solidFill>
                  <a:srgbClr val="0E7A52"/>
                </a:solidFill>
                <a:latin typeface="Segoe UI"/>
              </a:rPr>
              <a:t>Night-time light as an activity proxy</a:t>
            </a:r>
          </a:p>
          <a:p>
            <a:pPr>
              <a:spcAft>
                <a:spcPts val="500"/>
              </a:spcAft>
            </a:pPr>
            <a:r>
              <a:rPr sz="1100" b="0">
                <a:solidFill>
                  <a:srgbClr val="5A6474"/>
                </a:solidFill>
                <a:latin typeface="Segoe UI"/>
              </a:rPr>
              <a:t>District scale: light against UP district GDP, Spearman 0.85, R² 0.75.</a:t>
            </a:r>
          </a:p>
          <a:p>
            <a:pPr>
              <a:spcAft>
                <a:spcPts val="500"/>
              </a:spcAft>
            </a:pPr>
            <a:r>
              <a:rPr sz="1100" b="0">
                <a:solidFill>
                  <a:srgbClr val="5A6474"/>
                </a:solidFill>
                <a:latin typeface="Segoe UI"/>
              </a:rPr>
              <a:t>Village scale: light against 2013 Economic Census jobs, 0.41 - no better than population.</a:t>
            </a:r>
          </a:p>
          <a:p>
            <a:pPr>
              <a:spcAft>
                <a:spcPts val="500"/>
              </a:spcAft>
            </a:pPr>
            <a:r>
              <a:rPr sz="1100" b="0">
                <a:solidFill>
                  <a:srgbClr val="5A6474"/>
                </a:solidFill>
                <a:latin typeface="Segoe UI"/>
              </a:rPr>
              <a:t>That is why the screen reports zones, not single cells.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What the audit changed</a:t>
            </a:r>
          </a:p>
          <a:p>
            <a:pPr>
              <a:spcAft>
                <a:spcPts val="0"/>
              </a:spcAft>
            </a:pPr>
            <a:r>
              <a:rPr sz="1350" b="0">
                <a:solidFill>
                  <a:srgbClr val="1B5FAF"/>
                </a:solidFill>
                <a:latin typeface="Segoe UI"/>
              </a:rPr>
              <a:t>Eight numbers, Review 2 (hollow) against Review 3 (filled)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3_corrections_before_after.png"/>
          <p:cNvPicPr>
            <a:picLocks noChangeAspect="1"/>
          </p:cNvPicPr>
          <p:nvPr/>
        </p:nvPicPr>
        <p:blipFill>
          <a:blip r:embed="rId3"/>
          <a:stretch>
            <a:fillRect/>
          </a:stretch>
        </p:blipFill>
        <p:spPr>
          <a:xfrm>
            <a:off x="457200" y="1634270"/>
            <a:ext cx="11274552" cy="48239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Where we are</a:t>
            </a:r>
          </a:p>
          <a:p>
            <a:pPr>
              <a:spcAft>
                <a:spcPts val="0"/>
              </a:spcAft>
            </a:pPr>
            <a:r>
              <a:rPr sz="1350" b="0">
                <a:solidFill>
                  <a:srgbClr val="1B5FAF"/>
                </a:solidFill>
                <a:latin typeface="Segoe UI"/>
              </a:rPr>
              <a:t>Six phases done; Review 4 adds city search, image labels and planning data</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1_roadmap.png"/>
          <p:cNvPicPr>
            <a:picLocks noChangeAspect="1"/>
          </p:cNvPicPr>
          <p:nvPr/>
        </p:nvPicPr>
        <p:blipFill>
          <a:blip r:embed="rId3"/>
          <a:stretch>
            <a:fillRect/>
          </a:stretch>
        </p:blipFill>
        <p:spPr>
          <a:xfrm>
            <a:off x="457200" y="1575214"/>
            <a:ext cx="11274552" cy="49420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Limitations, and what Review 4 adds</a:t>
            </a:r>
          </a:p>
          <a:p>
            <a:pPr>
              <a:spcAft>
                <a:spcPts val="0"/>
              </a:spcAft>
            </a:pPr>
            <a:r>
              <a:rPr sz="1350" b="0">
                <a:solidFill>
                  <a:srgbClr val="1B5FAF"/>
                </a:solidFill>
                <a:latin typeface="Segoe UI"/>
              </a:rPr>
              <a:t>Said plainly</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349240" cy="4526280"/>
          </a:xfrm>
          <a:prstGeom prst="rect">
            <a:avLst/>
          </a:prstGeom>
          <a:solidFill>
            <a:srgbClr val="F1F5FA"/>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719072"/>
            <a:ext cx="4892040" cy="4251960"/>
          </a:xfrm>
          <a:prstGeom prst="rect">
            <a:avLst/>
          </a:prstGeom>
          <a:noFill/>
        </p:spPr>
        <p:txBody>
          <a:bodyPr wrap="square">
            <a:spAutoFit/>
          </a:bodyPr>
          <a:lstStyle/>
          <a:p>
            <a:pPr algn="l">
              <a:spcAft>
                <a:spcPts val="800"/>
              </a:spcAft>
            </a:pPr>
            <a:r>
              <a:rPr sz="1500" b="1">
                <a:solidFill>
                  <a:srgbClr val="B26A00"/>
                </a:solidFill>
                <a:latin typeface="Segoe UI"/>
              </a:rPr>
              <a:t>What we cannot claim yet</a:t>
            </a:r>
          </a:p>
          <a:p>
            <a:pPr>
              <a:spcAft>
                <a:spcPts val="700"/>
              </a:spcAft>
            </a:pPr>
            <a:r>
              <a:rPr sz="1150" b="0">
                <a:solidFill>
                  <a:srgbClr val="5A6474"/>
                </a:solidFill>
                <a:latin typeface="Segoe UI"/>
              </a:rPr>
              <a:t>No ground truth for the ghost flag: how often a flagged zone is really vacant is unmeasured. The hold-out test and the building check are indirect.</a:t>
            </a:r>
          </a:p>
          <a:p>
            <a:pPr>
              <a:spcAft>
                <a:spcPts val="700"/>
              </a:spcAft>
            </a:pPr>
            <a:r>
              <a:rPr sz="1150" b="0">
                <a:solidFill>
                  <a:srgbClr val="5A6474"/>
                </a:solidFill>
                <a:latin typeface="Segoe UI"/>
              </a:rPr>
              <a:t>VIIRS pixels are 463 m; at village scale, light mostly measures settlement size.</a:t>
            </a:r>
          </a:p>
          <a:p>
            <a:pPr>
              <a:spcAft>
                <a:spcPts val="700"/>
              </a:spcAft>
            </a:pPr>
            <a:r>
              <a:rPr sz="1150" b="0">
                <a:solidFill>
                  <a:srgbClr val="5A6474"/>
                </a:solidFill>
                <a:latin typeface="Segoe UI"/>
              </a:rPr>
              <a:t>GHS-POP over-counts the city core; the activity index still uses it, at weight 0.20.</a:t>
            </a:r>
          </a:p>
          <a:p>
            <a:pPr>
              <a:spcAft>
                <a:spcPts val="700"/>
              </a:spcAft>
            </a:pPr>
            <a:r>
              <a:rPr sz="1150" b="0">
                <a:solidFill>
                  <a:srgbClr val="5A6474"/>
                </a:solidFill>
                <a:latin typeface="Segoe UI"/>
              </a:rPr>
              <a:t>Heat is daytime only, and the 2013 composite has just 5 dates.</a:t>
            </a:r>
          </a:p>
          <a:p>
            <a:pPr>
              <a:spcAft>
                <a:spcPts val="700"/>
              </a:spcAft>
            </a:pPr>
            <a:r>
              <a:rPr sz="1150" b="0">
                <a:solidFill>
                  <a:srgbClr val="5A6474"/>
                </a:solidFill>
                <a:latin typeface="Segoe UI"/>
              </a:rPr>
              <a:t>The prediction assumes the 2010-2020 growth rate continues.</a:t>
            </a:r>
          </a:p>
        </p:txBody>
      </p:sp>
      <p:sp>
        <p:nvSpPr>
          <p:cNvPr id="7" name="Rectangle 6"/>
          <p:cNvSpPr/>
          <p:nvPr/>
        </p:nvSpPr>
        <p:spPr>
          <a:xfrm>
            <a:off x="6172200" y="1572768"/>
            <a:ext cx="5349240" cy="4526280"/>
          </a:xfrm>
          <a:prstGeom prst="rect">
            <a:avLst/>
          </a:prstGeom>
          <a:solidFill>
            <a:srgbClr val="F1F5FA"/>
          </a:solidFill>
          <a:ln w="9525">
            <a:solidFill>
              <a:srgbClr val="0E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719072"/>
            <a:ext cx="4892040" cy="4251960"/>
          </a:xfrm>
          <a:prstGeom prst="rect">
            <a:avLst/>
          </a:prstGeom>
          <a:noFill/>
        </p:spPr>
        <p:txBody>
          <a:bodyPr wrap="square">
            <a:spAutoFit/>
          </a:bodyPr>
          <a:lstStyle/>
          <a:p>
            <a:pPr algn="l">
              <a:spcAft>
                <a:spcPts val="800"/>
              </a:spcAft>
            </a:pPr>
            <a:r>
              <a:rPr sz="1500" b="1">
                <a:solidFill>
                  <a:srgbClr val="0E7A52"/>
                </a:solidFill>
                <a:latin typeface="Segoe UI"/>
              </a:rPr>
              <a:t>Review 4</a:t>
            </a:r>
          </a:p>
          <a:p>
            <a:pPr>
              <a:spcAft>
                <a:spcPts val="800"/>
              </a:spcAft>
            </a:pPr>
            <a:r>
              <a:rPr sz="1150" b="1">
                <a:solidFill>
                  <a:srgbClr val="101826"/>
                </a:solidFill>
                <a:latin typeface="Segoe UI"/>
              </a:rPr>
              <a:t>City search  </a:t>
            </a:r>
            <a:r>
              <a:rPr sz="1150">
                <a:solidFill>
                  <a:srgbClr val="5A6474"/>
                </a:solidFill>
                <a:latin typeface="Segoe UI"/>
              </a:rPr>
              <a:t>type any city name and run the same analysis</a:t>
            </a:r>
          </a:p>
          <a:p>
            <a:pPr>
              <a:spcAft>
                <a:spcPts val="800"/>
              </a:spcAft>
            </a:pPr>
            <a:r>
              <a:rPr sz="1150" b="1">
                <a:solidFill>
                  <a:srgbClr val="101826"/>
                </a:solidFill>
                <a:latin typeface="Segoe UI"/>
              </a:rPr>
              <a:t>Image labels  </a:t>
            </a:r>
            <a:r>
              <a:rPr sz="1150">
                <a:solidFill>
                  <a:srgbClr val="5A6474"/>
                </a:solidFill>
                <a:latin typeface="Segoe UI"/>
              </a:rPr>
              <a:t>read a sample of flagged and unflagged cells off historical high-resolution imagery, and measure precision</a:t>
            </a:r>
          </a:p>
          <a:p>
            <a:pPr>
              <a:spcAft>
                <a:spcPts val="800"/>
              </a:spcAft>
            </a:pPr>
            <a:r>
              <a:rPr sz="1150" b="1">
                <a:solidFill>
                  <a:srgbClr val="101826"/>
                </a:solidFill>
                <a:latin typeface="Segoe UI"/>
              </a:rPr>
              <a:t>Planning data  </a:t>
            </a:r>
            <a:r>
              <a:rPr sz="1150">
                <a:solidFill>
                  <a:srgbClr val="5A6474"/>
                </a:solidFill>
                <a:latin typeface="Segoe UI"/>
              </a:rPr>
              <a:t>ward-level reporting, VDA Master Plan 2031, Bhuvan land use</a:t>
            </a:r>
          </a:p>
          <a:p>
            <a:pPr>
              <a:spcAft>
                <a:spcPts val="800"/>
              </a:spcAft>
            </a:pPr>
            <a:r>
              <a:rPr sz="1150" b="1">
                <a:solidFill>
                  <a:srgbClr val="101826"/>
                </a:solidFill>
                <a:latin typeface="Segoe UI"/>
              </a:rPr>
              <a:t>Model  </a:t>
            </a:r>
            <a:r>
              <a:rPr sz="1150">
                <a:solidFill>
                  <a:srgbClr val="5A6474"/>
                </a:solidFill>
                <a:latin typeface="Segoe UI"/>
              </a:rPr>
              <a:t>tune the neighbourhood weight; a range of demand scenarios</a:t>
            </a:r>
          </a:p>
          <a:p>
            <a:pPr>
              <a:spcAft>
                <a:spcPts val="800"/>
              </a:spcAft>
            </a:pPr>
            <a:r>
              <a:rPr sz="1150" b="1">
                <a:solidFill>
                  <a:srgbClr val="101826"/>
                </a:solidFill>
                <a:latin typeface="Segoe UI"/>
              </a:rPr>
              <a:t>Publication  </a:t>
            </a:r>
            <a:r>
              <a:rPr sz="1150">
                <a:solidFill>
                  <a:srgbClr val="5A6474"/>
                </a:solidFill>
                <a:latin typeface="Segoe UI"/>
              </a:rPr>
              <a:t>a paper built on the hold-out and proxy-scale findings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Three things to take away</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45920"/>
            <a:ext cx="10881360" cy="109728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28800"/>
            <a:ext cx="10424160" cy="822960"/>
          </a:xfrm>
          <a:prstGeom prst="rect">
            <a:avLst/>
          </a:prstGeom>
          <a:noFill/>
        </p:spPr>
        <p:txBody>
          <a:bodyPr wrap="square">
            <a:spAutoFit/>
          </a:bodyPr>
          <a:lstStyle/>
          <a:p>
            <a:pPr algn="l">
              <a:spcAft>
                <a:spcPts val="0"/>
              </a:spcAft>
            </a:pPr>
            <a:r>
              <a:rPr sz="1500" b="1">
                <a:solidFill>
                  <a:srgbClr val="1B5FAF"/>
                </a:solidFill>
                <a:latin typeface="Segoe UI"/>
              </a:rPr>
              <a:t>Varanasi's built-up surface grew 23.8% in 2010-2020, 1.3x to 2.3x faster than its population, and 44% of new urban land is leapfrog.</a:t>
            </a:r>
          </a:p>
        </p:txBody>
      </p:sp>
      <p:sp>
        <p:nvSpPr>
          <p:cNvPr id="7" name="Rectangle 6"/>
          <p:cNvSpPr/>
          <p:nvPr/>
        </p:nvSpPr>
        <p:spPr>
          <a:xfrm>
            <a:off x="640080" y="2907792"/>
            <a:ext cx="10881360" cy="109728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3090672"/>
            <a:ext cx="10424160" cy="822960"/>
          </a:xfrm>
          <a:prstGeom prst="rect">
            <a:avLst/>
          </a:prstGeom>
          <a:noFill/>
        </p:spPr>
        <p:txBody>
          <a:bodyPr wrap="square">
            <a:spAutoFit/>
          </a:bodyPr>
          <a:lstStyle/>
          <a:p>
            <a:pPr algn="l">
              <a:spcAft>
                <a:spcPts val="0"/>
              </a:spcAft>
            </a:pPr>
            <a:r>
              <a:rPr sz="1500" b="1">
                <a:solidFill>
                  <a:srgbClr val="B26A00"/>
                </a:solidFill>
                <a:latin typeface="Segoe UI"/>
              </a:rPr>
              <a:t>Most low-activity new development is filling up; 1.44 km² in 23 zones is not - and that split holds up on data the method never saw.</a:t>
            </a:r>
          </a:p>
        </p:txBody>
      </p:sp>
      <p:sp>
        <p:nvSpPr>
          <p:cNvPr id="9" name="Rectangle 8"/>
          <p:cNvSpPr/>
          <p:nvPr/>
        </p:nvSpPr>
        <p:spPr>
          <a:xfrm>
            <a:off x="640080" y="4169664"/>
            <a:ext cx="10881360" cy="109728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352544"/>
            <a:ext cx="10424160" cy="822960"/>
          </a:xfrm>
          <a:prstGeom prst="rect">
            <a:avLst/>
          </a:prstGeom>
          <a:noFill/>
        </p:spPr>
        <p:txBody>
          <a:bodyPr wrap="square">
            <a:spAutoFit/>
          </a:bodyPr>
          <a:lstStyle/>
          <a:p>
            <a:pPr algn="l">
              <a:spcAft>
                <a:spcPts val="0"/>
              </a:spcAft>
            </a:pPr>
            <a:r>
              <a:rPr sz="1500" b="1">
                <a:solidFill>
                  <a:srgbClr val="0E7A52"/>
                </a:solidFill>
                <a:latin typeface="Segoe UI"/>
              </a:rPr>
              <a:t>A random forest places future growth best: +14.89 km² by 2025 and +31.21 km² by 2030 - predictions, not observations.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2945</Words>
  <Application>Microsoft Office PowerPoint</Application>
  <PresentationFormat>Widescreen</PresentationFormat>
  <Paragraphs>232</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MOHAMMAD OWAIS</cp:lastModifiedBy>
  <cp:revision>2</cp:revision>
  <dcterms:created xsi:type="dcterms:W3CDTF">2013-01-27T09:14:16Z</dcterms:created>
  <dcterms:modified xsi:type="dcterms:W3CDTF">2026-09-13T10:06:16Z</dcterms:modified>
  <cp:category/>
</cp:coreProperties>
</file>