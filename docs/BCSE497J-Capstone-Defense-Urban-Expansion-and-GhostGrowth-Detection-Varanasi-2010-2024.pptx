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  <p:sldMasterId id="2147483663" r:id="rId3"/>
  </p:sldMasterIdLst>
  <p:notesMasterIdLst>
    <p:notesMasterId r:id="rId24"/>
  </p:notesMasterIdLst>
  <p:sldIdLst>
    <p:sldId id="277" r:id="rId4"/>
    <p:sldId id="267" r:id="rId5"/>
    <p:sldId id="268" r:id="rId6"/>
    <p:sldId id="269" r:id="rId7"/>
    <p:sldId id="270" r:id="rId8"/>
    <p:sldId id="266" r:id="rId9"/>
    <p:sldId id="271" r:id="rId10"/>
    <p:sldId id="272" r:id="rId11"/>
    <p:sldId id="273" r:id="rId12"/>
    <p:sldId id="274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75" r:id="rId23"/>
  </p:sldIdLst>
  <p:sldSz cx="9144000" cy="5143500" type="screen16x9"/>
  <p:notesSz cx="5143500" cy="9144000"/>
  <p:embeddedFontLst>
    <p:embeddedFont>
      <p:font typeface="Inter" panose="020B0604020202020204" pitchFamily="34" charset="0"/>
      <p:regular r:id="rId25"/>
    </p:embeddedFont>
    <p:embeddedFont>
      <p:font typeface="Inter Bold" panose="020B0604020202020204" pitchFamily="34" charset="0"/>
      <p:regular r:id="rId26"/>
    </p:embeddedFont>
    <p:embeddedFont>
      <p:font typeface="Nunito Light" pitchFamily="2" charset="77"/>
      <p:regular r:id="rId27"/>
      <p:italic r:id="rId28"/>
    </p:embeddedFont>
    <p:embeddedFont>
      <p:font typeface="Nunito SemiBold" pitchFamily="2" charset="77"/>
      <p:regular r:id="rId29"/>
      <p:bold r:id="rId30"/>
      <p:italic r:id="rId31"/>
      <p:boldItalic r:id="rId32"/>
    </p:embeddedFont>
    <p:embeddedFont>
      <p:font typeface="PT Sans Bold" panose="020B0503020203020204" pitchFamily="34" charset="77"/>
      <p:boldItalic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6" autoAdjust="0"/>
  </p:normalViewPr>
  <p:slideViewPr>
    <p:cSldViewPr snapToGrid="0" snapToObjects="1">
      <p:cViewPr>
        <p:scale>
          <a:sx n="150" d="100"/>
          <a:sy n="150" d="100"/>
        </p:scale>
        <p:origin x="54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2.fntdata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7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145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81CF7-0562-6FF2-5BED-E1595D82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0EC13-5BA4-3553-3BD0-405F1C985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F0F6A-192A-83AB-1276-495202808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0231F-05FB-6087-2460-F035E54420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55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1F25B-91D8-7C74-9E95-0BA59B0D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030BB-BA97-5DF5-EC63-FA9D20398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50537-0CEE-875A-CCA4-551DF4792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062D5-F1FF-8121-19E2-B9CB1A68DF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74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65FF4-B2AE-D198-5C18-91F985EE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5F35BC-4B2F-22AD-2FA6-A31E02739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7974-A0AB-A940-2783-0715D62A3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BD943-D647-C4B8-932B-299FE23A76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78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86731-CBD6-C082-7BD8-F951E676A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48A8A-6C98-96E4-9020-E66B68D4C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66E695-68EC-CB66-4444-FF6585C0B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BB569-7675-30D4-96CD-555C71464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92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9E21-7350-EDE8-0441-F816E7134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92656-E913-4778-630E-0A6C938B3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1FB9F-121E-E4C1-1164-6366CDD1F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DF3D5-CA34-FC3B-648D-734CE6B82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85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E5034-E14C-F315-E0A2-AAE1A4AE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DD83D-EE35-52D8-762C-A2972132A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B538D-2189-860D-A36B-3D1A0F568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602EF-CE2D-11A0-F6EF-94D3E6D58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48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1080-420B-2D2C-D69C-E35FD9525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4137D-C053-C3DA-F6B2-56B66DC43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D19AE-347C-3091-44A4-A923E4CA4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AB40C-0705-FE81-04BD-72432343DB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62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96CDA-200D-8459-862C-46DD75BE8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52521-C78A-CABF-BD5E-34F26C2D7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C5937-0036-EA09-2ACD-19CF4D3CE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3A3CA-B2EE-98B9-EAA1-10ADAAB4E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03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4C5BE-9E71-A6E6-F5B9-27DA7FB41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6E5EF-AC73-F9E3-C9F5-1ADD4EF9B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00C9D-DAD0-7B93-E3E9-6543D6FB7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EEEF5-2C57-61FA-A0C7-A231BED72E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31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EB33-61A5-C03F-6760-38CB19D47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58164-C763-B025-1F3C-106E71CD4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3A839-3419-5EDD-B1AB-3E8299F2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B3A1-9BD8-4B03-9CDB-62A0DD72A225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B4FB0-892B-2237-ED4E-5940CBB1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C7A70-8040-A9CC-19D4-B329E2FED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97F6-CD57-401B-B109-8CB7DA2E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46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111A-F56E-4C71-D302-3E3B55432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11036-E4C4-DC23-C3FB-064BF41F3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DF5CF-AFBD-0B25-F379-E8452EDF7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B3A1-9BD8-4B03-9CDB-62A0DD72A225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3E071-5F3D-CAFE-17E8-0019D5BE5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A5E66-0716-A2DE-A353-3DC2C3CD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97F6-CD57-401B-B109-8CB7DA2E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52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FA720-A775-3F28-A295-9772EC0F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C59FA-C51D-DD6D-B53F-90A01D1F9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10AA2-0489-99C5-037A-D5B912C3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B3A1-9BD8-4B03-9CDB-62A0DD72A225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F3B0D-C4F7-B248-4074-2599E66DE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6D4C9-12D8-C0DD-8FEE-545CF36A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97F6-CD57-401B-B109-8CB7DA2E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545C-1B83-6283-4441-A1111F86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6BF55-62CD-8261-4F46-B6A021996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13FB9-419A-041F-84E3-D7977EAA4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8E838-6CB2-2F24-1C89-D79264CEC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B3A1-9BD8-4B03-9CDB-62A0DD72A225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E6953-48A6-BECC-C648-8028E3319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F7815-E898-C490-9DC7-CA0F6CF0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97F6-CD57-401B-B109-8CB7DA2E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978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0CAA-F0A2-6546-B35D-ED2B16C79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8D997-8130-867D-718C-3AF0E106A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BE49E-11A9-841E-1A88-3689C3214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270A98-EBCA-1274-2CE7-CC1F6E0FA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228C07-C542-C25F-D5CA-791DBD917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8A41D3-0395-DCAD-1F9A-01B68C6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B3A1-9BD8-4B03-9CDB-62A0DD72A225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BD7C3D-7854-5373-6B1B-CB81D8194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492009-015E-D0FE-CADE-01E41745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97F6-CD57-401B-B109-8CB7DA2E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34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DAC0E-46EE-A17F-89C8-8F2A261FD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B66FB9-D59A-48AE-F2F8-4DA2CDC32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B3A1-9BD8-4B03-9CDB-62A0DD72A225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7F68E-7172-C5DB-6557-0A82FFCE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6103A-49EF-82A1-2C6A-A9500EF8F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97F6-CD57-401B-B109-8CB7DA2E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96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51BC26-4968-D863-64DB-EAEEDBA3D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B3A1-9BD8-4B03-9CDB-62A0DD72A225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852D1-116C-6D35-5EBF-64D73271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CE9A1-AECC-ED33-85DD-6E6B0B94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97F6-CD57-401B-B109-8CB7DA2E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54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99B17-E9EB-1F76-9E96-F0BA4FA4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3F55D-8E50-F6F7-B4B3-CC2CC9F7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14FDC-7E3C-3ECB-4508-AA92EFAF6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A9E36-A5BF-FB83-797B-2E8441D4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B3A1-9BD8-4B03-9CDB-62A0DD72A225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AF232-34C4-4FBD-FE03-159625DF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24A15-3797-0158-E122-B5ED9558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97F6-CD57-401B-B109-8CB7DA2E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1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7A053-C13C-302F-29AC-C99C29ED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CE2688-A969-79AA-043E-ED47870A3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0A99C-0014-D729-8433-62A8BB015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3FB6-0AF0-44A2-DA88-99D640A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B3A1-9BD8-4B03-9CDB-62A0DD72A225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83CFB-0738-9086-B0E4-7DC7896F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32C6F-E960-87E5-911A-01AAD885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97F6-CD57-401B-B109-8CB7DA2E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335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753-E6B8-902A-5BCC-56A95584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F174B-1A89-F3E0-496A-042616426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D1E83-4964-D6B0-F01F-C4E239DB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B3A1-9BD8-4B03-9CDB-62A0DD72A225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096D8-1FF4-9BF9-AC69-97AAAB654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3987B-65BC-D73F-F261-D604F21E5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97F6-CD57-401B-B109-8CB7DA2E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445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F5D8D7-548C-6723-D8E3-FE183A09AF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BDFE8-DB71-0B88-0AF0-F8C82870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17848-6B5D-E274-D956-95CB851B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8B3A1-9BD8-4B03-9CDB-62A0DD72A225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68C2E-F45F-51E2-4747-2003DEBD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2773A-5C58-3576-D3E7-58B2DA34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97F6-CD57-401B-B109-8CB7DA2E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499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12918-8D5E-D33B-938D-AF98871A5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FF39A1-6837-88EC-BBCD-CC8D9C1DA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F12A8-44D0-D0D6-3260-8A03B9BA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69F0-BF6D-4EAC-8D02-744D65F4EC37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709E1-5B84-7E28-83E2-2D64EE65C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A7EE6-8F77-27A6-DAA3-1F5CC19F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0631F-C173-4029-AE20-4F96492E8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014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736F-2124-31E8-26AF-38E1554B1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55808-413A-18EE-A976-5AA6AC9C6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D5861-3A45-5380-A6FB-5AFA29F6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69F0-BF6D-4EAC-8D02-744D65F4EC37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81B6A-AC5A-9913-4A00-4D4E43131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8A99-04C2-A992-F998-C2E78CD0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0631F-C173-4029-AE20-4F96492E8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033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8C82-E47F-DBA8-D576-4D1469D63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93272-D24D-B179-F589-099A0B579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C5321-1F7D-DF23-A56A-CECC3DC4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69F0-BF6D-4EAC-8D02-744D65F4EC37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34816-8038-595E-A26F-5154240CB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B21D7-A734-07F3-04E9-2D5696D5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0631F-C173-4029-AE20-4F96492E8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750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BACC-70EC-E5FD-C898-D64A33204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74DD6-8B52-192C-6E5B-AB080C6DA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93B95-EB3C-6CB0-F610-505C20014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2B35A-E0BF-16A6-A08A-D1EB7146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69F0-BF6D-4EAC-8D02-744D65F4EC37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F11E9-C15C-6823-AFE8-215E2ECE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4B29D-4D85-35DF-B7E4-5EF801FB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0631F-C173-4029-AE20-4F96492E8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143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7E2ED-092C-4D02-413E-0B52409DB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192D2-490E-E988-1966-57D337274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C7042-A961-424A-68A4-7956D3E15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AE8A5-2A8E-9919-81FD-153469A26E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20C5D-3515-07F7-35B5-40E476B59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F80F57-6157-A861-04D6-05D2C98F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69F0-BF6D-4EAC-8D02-744D65F4EC37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98C901-A1A1-A1C1-AFC9-369CF10E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FA6CC-5636-538B-E734-A4DEF3384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0631F-C173-4029-AE20-4F96492E8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3890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3DFB4-6DB7-0984-30C8-6259CD7F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B8BE3-2C0D-5736-5365-23CF99F2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69F0-BF6D-4EAC-8D02-744D65F4EC37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D1626-9F2A-37D4-8A73-D9F9C8DDF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C8CC07-1C44-6612-2758-5EDBDF97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0631F-C173-4029-AE20-4F96492E8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8697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14F2CC-9962-62A0-43CB-B677F0526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69F0-BF6D-4EAC-8D02-744D65F4EC37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17145-CBFD-77EB-64C5-28D7DF41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57A59-89C0-F944-EDF0-0FAE297B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0631F-C173-4029-AE20-4F96492E8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0796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DD9BA-C7E1-8EEA-AE02-0ED6B1FAA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099B7-1821-8C7E-0F79-D066C6CB5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44BD6-AC27-82C4-FA75-6D85C2C88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46705-D654-5A9E-84E4-AE3206C0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69F0-BF6D-4EAC-8D02-744D65F4EC37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5E12D-ECC4-D101-7677-27ECB87A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B9797-C015-CC9A-E36E-B6D930AA4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0631F-C173-4029-AE20-4F96492E8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7277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EA6C6-D2F0-8C41-CEAB-928D6C2B0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F17765-0923-331F-51C1-092D622F3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FE509-AD4C-1874-78E7-ACF597A54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4CF0D-D060-A403-F16E-47928472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69F0-BF6D-4EAC-8D02-744D65F4EC37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1EC4B-9BE0-0B0A-B7B3-1DFCFD320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F15F1-5AB3-66F3-BD4A-3A75B020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0631F-C173-4029-AE20-4F96492E8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3634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44092-8EC1-FC36-42CD-FF7B32B4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E3CAE-1F89-7B1B-90AC-75C31A375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2872A-B018-FD41-0343-9DB069B6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69F0-BF6D-4EAC-8D02-744D65F4EC37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2E6DA-49D6-EB99-8F55-ECF463481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9E7C3-3C1E-4487-C1C8-545EC1AFC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0631F-C173-4029-AE20-4F96492E8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391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8073E-5604-DCFC-BBA1-90BDC4CA28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F2A12-87D2-4961-756D-4DCC06C91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8E5BC-7E6F-022D-3567-307128E0E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D69F0-BF6D-4EAC-8D02-744D65F4EC37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7886A-CCDA-6615-E490-667003A0A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8D5FC-BDD0-F5B9-6667-B7CFF21B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0631F-C173-4029-AE20-4F96492E8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3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20EBA2-CE74-E56F-88A1-D2F63D9F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7858F-7D1E-CC8B-DBDA-1041BB454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9AF40-B4FB-84CA-895B-ACB7D73BD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8B3A1-9BD8-4B03-9CDB-62A0DD72A225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637FF-03A3-DE19-74C0-F20A344F5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4FBDC-46CF-FF64-3D78-0E5A3C106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F97F6-CD57-401B-B109-8CB7DA2E53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98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DB0787-32B3-7B89-5CCF-33B94210B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1B1FF-DFD1-6096-E7A4-808AE8B95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A9A75-C4B8-D32C-14A4-A2A156FA0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D69F0-BF6D-4EAC-8D02-744D65F4EC37}" type="datetimeFigureOut">
              <a:rPr lang="en-IN" smtClean="0"/>
              <a:t>18/08/26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5531C-4979-DCC0-110F-4AA06911E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55F29-3316-D745-D575-512B3BE27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0631F-C173-4029-AE20-4F96492E8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94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3840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7B80DA"/>
                </a:solidFill>
                <a:latin typeface="Inter"/>
              </a:rPr>
              <a:t>BCSE497J  •  PROJECT I  •  REVIEW II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04672"/>
            <a:ext cx="960120" cy="41148"/>
          </a:xfrm>
          <a:prstGeom prst="rect">
            <a:avLst/>
          </a:prstGeom>
          <a:solidFill>
            <a:srgbClr val="F5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6F8FC"/>
                </a:solidFill>
                <a:latin typeface="Inter"/>
              </a:rPr>
              <a:t>Urban Expansion &amp;</a:t>
            </a:r>
          </a:p>
          <a:p>
            <a:pPr>
              <a:spcBef>
                <a:spcPts val="0"/>
              </a:spcBef>
            </a:pPr>
            <a:r>
              <a:rPr sz="3400" b="1">
                <a:solidFill>
                  <a:srgbClr val="F6F8FC"/>
                </a:solidFill>
                <a:latin typeface="Inter"/>
              </a:rPr>
              <a:t>Ghost-Growth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07792"/>
            <a:ext cx="4572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A6B0C6"/>
                </a:solidFill>
                <a:latin typeface="Inter"/>
              </a:rPr>
              <a:t>A Multi-Signal Framework for Urban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75887"/>
            <a:ext cx="1965960" cy="438912"/>
          </a:xfrm>
          <a:prstGeom prst="roundRect">
            <a:avLst/>
          </a:prstGeom>
          <a:solidFill>
            <a:srgbClr val="0E182B"/>
          </a:solidFill>
          <a:ln w="10160">
            <a:solidFill>
              <a:srgbClr val="34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6F8FC"/>
                </a:solidFill>
                <a:latin typeface="Inter"/>
              </a:rPr>
              <a:t>VARANASI  • 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2928" y="3675887"/>
            <a:ext cx="1737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 b="1">
                <a:solidFill>
                  <a:srgbClr val="F59E48"/>
                </a:solidFill>
                <a:latin typeface="Inter"/>
              </a:rPr>
              <a:t>2010  → 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7939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7B80DA"/>
                </a:solidFill>
                <a:latin typeface="Inter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17136"/>
            <a:ext cx="23317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69">
                <a:solidFill>
                  <a:srgbClr val="BEC6DC"/>
                </a:solidFill>
                <a:latin typeface="Inter"/>
              </a:defRPr>
            </a:pPr>
            <a:r>
              <a:t>Mayank 23BCE1753</a:t>
            </a:r>
          </a:p>
          <a:p>
            <a:pPr>
              <a:spcAft>
                <a:spcPts val="100"/>
              </a:spcAft>
              <a:defRPr sz="869">
                <a:solidFill>
                  <a:srgbClr val="BEC6DC"/>
                </a:solidFill>
                <a:latin typeface="Inter"/>
              </a:defRPr>
            </a:pPr>
            <a:r>
              <a:t>Mohammad Owais 23BCE1746</a:t>
            </a:r>
          </a:p>
          <a:p>
            <a:pPr>
              <a:spcAft>
                <a:spcPts val="100"/>
              </a:spcAft>
              <a:defRPr sz="869">
                <a:solidFill>
                  <a:srgbClr val="BEC6DC"/>
                </a:solidFill>
                <a:latin typeface="Inter"/>
              </a:defRPr>
            </a:pPr>
            <a:r>
              <a:t>Achal Pramod Tripathi 23BCE1734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438912"/>
            <a:ext cx="2788920" cy="4187952"/>
          </a:xfrm>
          <a:prstGeom prst="roundRect">
            <a:avLst/>
          </a:prstGeom>
          <a:solidFill>
            <a:srgbClr val="0E182B"/>
          </a:solidFill>
          <a:ln w="15240">
            <a:solidFill>
              <a:srgbClr val="26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79008" y="71323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7B80DA"/>
                </a:solidFill>
                <a:latin typeface="Inter"/>
              </a:rPr>
              <a:t>URBAN GROWTH SIGNALS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88152" y="1170432"/>
            <a:ext cx="0" cy="233172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35624" y="1170432"/>
            <a:ext cx="0" cy="233172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83096" y="1170432"/>
            <a:ext cx="0" cy="233172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30568" y="1170432"/>
            <a:ext cx="0" cy="233172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78040" y="1170432"/>
            <a:ext cx="0" cy="233172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25512" y="1170432"/>
            <a:ext cx="0" cy="233172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72983" y="1170432"/>
            <a:ext cx="0" cy="233172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88152" y="1170432"/>
            <a:ext cx="2267712" cy="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88152" y="1559052"/>
            <a:ext cx="2267712" cy="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88152" y="1947672"/>
            <a:ext cx="2267712" cy="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88152" y="2336291"/>
            <a:ext cx="2267712" cy="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88152" y="2724912"/>
            <a:ext cx="2267712" cy="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88152" y="3113532"/>
            <a:ext cx="2267712" cy="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88152" y="3502152"/>
            <a:ext cx="2267712" cy="0"/>
          </a:xfrm>
          <a:prstGeom prst="line">
            <a:avLst/>
          </a:prstGeom>
          <a:ln w="7620">
            <a:solidFill>
              <a:srgbClr val="3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91072" y="1490472"/>
            <a:ext cx="475488" cy="347472"/>
          </a:xfrm>
          <a:prstGeom prst="roundRect">
            <a:avLst/>
          </a:prstGeom>
          <a:solidFill>
            <a:srgbClr val="5C62C3"/>
          </a:solidFill>
          <a:ln w="10160">
            <a:solidFill>
              <a:srgbClr val="5C6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867144" y="1463040"/>
            <a:ext cx="566928" cy="393192"/>
          </a:xfrm>
          <a:prstGeom prst="roundRect">
            <a:avLst/>
          </a:prstGeom>
          <a:solidFill>
            <a:srgbClr val="7B80DA"/>
          </a:solidFill>
          <a:ln w="10160">
            <a:solidFill>
              <a:srgbClr val="7B8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062472" y="2011680"/>
            <a:ext cx="685800" cy="438912"/>
          </a:xfrm>
          <a:prstGeom prst="roundRect">
            <a:avLst/>
          </a:prstGeom>
          <a:solidFill>
            <a:srgbClr val="7B80DA"/>
          </a:solidFill>
          <a:ln w="10160">
            <a:solidFill>
              <a:srgbClr val="7B8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85432" y="2011680"/>
            <a:ext cx="438912" cy="502920"/>
          </a:xfrm>
          <a:prstGeom prst="roundRect">
            <a:avLst/>
          </a:prstGeom>
          <a:solidFill>
            <a:srgbClr val="56CCE6"/>
          </a:solidFill>
          <a:ln w="10160">
            <a:solidFill>
              <a:srgbClr val="56C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415783" y="1938528"/>
            <a:ext cx="393192" cy="566928"/>
          </a:xfrm>
          <a:prstGeom prst="roundRect">
            <a:avLst/>
          </a:prstGeom>
          <a:solidFill>
            <a:srgbClr val="5C62C3"/>
          </a:solidFill>
          <a:ln w="10160">
            <a:solidFill>
              <a:srgbClr val="5C62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28232" y="2651760"/>
            <a:ext cx="502920" cy="420624"/>
          </a:xfrm>
          <a:prstGeom prst="roundRect">
            <a:avLst/>
          </a:prstGeom>
          <a:solidFill>
            <a:srgbClr val="56CCE6"/>
          </a:solidFill>
          <a:ln w="10160">
            <a:solidFill>
              <a:srgbClr val="56C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086600" y="2633472"/>
            <a:ext cx="658368" cy="420624"/>
          </a:xfrm>
          <a:prstGeom prst="roundRect">
            <a:avLst/>
          </a:prstGeom>
          <a:solidFill>
            <a:srgbClr val="7B80DA"/>
          </a:solidFill>
          <a:ln w="10160">
            <a:solidFill>
              <a:srgbClr val="7B8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833872" y="3090672"/>
            <a:ext cx="384048" cy="256032"/>
          </a:xfrm>
          <a:prstGeom prst="roundRect">
            <a:avLst/>
          </a:prstGeom>
          <a:solidFill>
            <a:srgbClr val="F59E48"/>
          </a:solidFill>
          <a:ln w="10160">
            <a:solidFill>
              <a:srgbClr val="F5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291072" y="3182112"/>
            <a:ext cx="411480" cy="228600"/>
          </a:xfrm>
          <a:prstGeom prst="roundRect">
            <a:avLst/>
          </a:prstGeom>
          <a:solidFill>
            <a:srgbClr val="F59E48"/>
          </a:solidFill>
          <a:ln w="10160">
            <a:solidFill>
              <a:srgbClr val="F5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931152" y="3200400"/>
            <a:ext cx="438912" cy="228600"/>
          </a:xfrm>
          <a:prstGeom prst="roundRect">
            <a:avLst/>
          </a:prstGeom>
          <a:solidFill>
            <a:srgbClr val="F59E48"/>
          </a:solidFill>
          <a:ln w="10160">
            <a:solidFill>
              <a:srgbClr val="F5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507224" y="3044952"/>
            <a:ext cx="384048" cy="274320"/>
          </a:xfrm>
          <a:prstGeom prst="roundRect">
            <a:avLst/>
          </a:prstGeom>
          <a:solidFill>
            <a:srgbClr val="F59E48"/>
          </a:solidFill>
          <a:ln w="10160">
            <a:solidFill>
              <a:srgbClr val="F5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799832" y="2468880"/>
            <a:ext cx="228600" cy="292608"/>
          </a:xfrm>
          <a:prstGeom prst="roundRect">
            <a:avLst/>
          </a:prstGeom>
          <a:solidFill>
            <a:srgbClr val="F59E48"/>
          </a:solidFill>
          <a:ln w="10160">
            <a:solidFill>
              <a:srgbClr val="F5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635240" y="1426464"/>
            <a:ext cx="310896" cy="256032"/>
          </a:xfrm>
          <a:prstGeom prst="roundRect">
            <a:avLst/>
          </a:prstGeom>
          <a:solidFill>
            <a:srgbClr val="F59E48"/>
          </a:solidFill>
          <a:ln w="10160">
            <a:solidFill>
              <a:srgbClr val="F59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501384" y="1700784"/>
            <a:ext cx="50292" cy="50292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141464" y="1700784"/>
            <a:ext cx="50292" cy="50292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598664" y="2194560"/>
            <a:ext cx="50292" cy="50292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629400" y="2843784"/>
            <a:ext cx="50292" cy="50292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315200" y="2852928"/>
            <a:ext cx="50292" cy="50292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781544" y="2221991"/>
            <a:ext cx="50292" cy="50292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 flipV="1">
            <a:off x="6537960" y="2057400"/>
            <a:ext cx="1069848" cy="1280160"/>
          </a:xfrm>
          <a:prstGeom prst="line">
            <a:avLst/>
          </a:prstGeom>
          <a:ln w="31750">
            <a:solidFill>
              <a:srgbClr val="F59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779008" y="3767328"/>
            <a:ext cx="100584" cy="100584"/>
          </a:xfrm>
          <a:prstGeom prst="ellipse">
            <a:avLst/>
          </a:prstGeom>
          <a:solidFill>
            <a:srgbClr val="7B8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16168" y="372160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1">
                <a:solidFill>
                  <a:srgbClr val="A6B0C6"/>
                </a:solidFill>
                <a:latin typeface="Inter"/>
              </a:rPr>
              <a:t>BUILT-UP</a:t>
            </a:r>
          </a:p>
        </p:txBody>
      </p:sp>
      <p:sp>
        <p:nvSpPr>
          <p:cNvPr id="48" name="Oval 47"/>
          <p:cNvSpPr/>
          <p:nvPr/>
        </p:nvSpPr>
        <p:spPr>
          <a:xfrm>
            <a:off x="6629400" y="3767328"/>
            <a:ext cx="100584" cy="100584"/>
          </a:xfrm>
          <a:prstGeom prst="ellipse">
            <a:avLst/>
          </a:prstGeom>
          <a:solidFill>
            <a:srgbClr val="56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75120" y="3721608"/>
            <a:ext cx="7498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" b="1">
                <a:solidFill>
                  <a:srgbClr val="A6B0C6"/>
                </a:solidFill>
                <a:latin typeface="Inter"/>
              </a:rPr>
              <a:t>NIGHT LIGHT</a:t>
            </a:r>
          </a:p>
        </p:txBody>
      </p:sp>
      <p:sp>
        <p:nvSpPr>
          <p:cNvPr id="50" name="Oval 49"/>
          <p:cNvSpPr/>
          <p:nvPr/>
        </p:nvSpPr>
        <p:spPr>
          <a:xfrm>
            <a:off x="7379208" y="3767328"/>
            <a:ext cx="100584" cy="100584"/>
          </a:xfrm>
          <a:prstGeom prst="ellipse">
            <a:avLst/>
          </a:prstGeom>
          <a:solidFill>
            <a:srgbClr val="F5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24927" y="3721608"/>
            <a:ext cx="8046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1">
                <a:solidFill>
                  <a:srgbClr val="A6B0C6"/>
                </a:solidFill>
                <a:latin typeface="Inter"/>
              </a:rPr>
              <a:t>EXPANSION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79008" y="4133087"/>
            <a:ext cx="2240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6F8FC"/>
                </a:solidFill>
                <a:latin typeface="Inter"/>
              </a:rPr>
              <a:t>REMOTE SENSING  ×  SPATIAL INTELLIGENCE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31820" y="4357624"/>
            <a:ext cx="13258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7E84DA"/>
                </a:solidFill>
                <a:latin typeface="Inter"/>
              </a:defRPr>
            </a:pPr>
            <a:r>
              <a:rPr dirty="0"/>
              <a:t>PROJECT GUIDE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27248" y="4560147"/>
            <a:ext cx="14630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0">
                <a:solidFill>
                  <a:srgbClr val="EEF1F8"/>
                </a:solidFill>
                <a:latin typeface="Inter"/>
              </a:defRPr>
            </a:pPr>
            <a:r>
              <a:t>Dr. Joshan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AC23-BBFB-9055-9BEC-5AE4DBE60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CFAAC67-4DD6-4596-0FCD-8B488B107341}"/>
              </a:ext>
            </a:extLst>
          </p:cNvPr>
          <p:cNvSpPr/>
          <p:nvPr/>
        </p:nvSpPr>
        <p:spPr>
          <a:xfrm>
            <a:off x="843617" y="788513"/>
            <a:ext cx="4667845" cy="153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382E1A6-849A-0D74-735C-79DC08887698}"/>
              </a:ext>
            </a:extLst>
          </p:cNvPr>
          <p:cNvSpPr/>
          <p:nvPr/>
        </p:nvSpPr>
        <p:spPr>
          <a:xfrm>
            <a:off x="288444" y="2300530"/>
            <a:ext cx="4667845" cy="7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695B3-D062-E330-05CB-AB9D18371024}"/>
              </a:ext>
            </a:extLst>
          </p:cNvPr>
          <p:cNvSpPr txBox="1"/>
          <p:nvPr/>
        </p:nvSpPr>
        <p:spPr>
          <a:xfrm>
            <a:off x="523716" y="275453"/>
            <a:ext cx="4572000" cy="952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Core Problem in One Number</a:t>
            </a:r>
            <a:endParaRPr lang="en-US" sz="2750" dirty="0">
              <a:solidFill>
                <a:schemeClr val="bg1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C02E0D7D-1AE8-AD58-7FD1-262D07775326}"/>
              </a:ext>
            </a:extLst>
          </p:cNvPr>
          <p:cNvSpPr/>
          <p:nvPr/>
        </p:nvSpPr>
        <p:spPr>
          <a:xfrm>
            <a:off x="491356" y="1692175"/>
            <a:ext cx="2290465" cy="1591866"/>
          </a:xfrm>
          <a:prstGeom prst="roundRect">
            <a:avLst>
              <a:gd name="adj" fmla="val 374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06677F-D981-B1D9-C1C0-770632854975}"/>
              </a:ext>
            </a:extLst>
          </p:cNvPr>
          <p:cNvSpPr txBox="1"/>
          <p:nvPr/>
        </p:nvSpPr>
        <p:spPr>
          <a:xfrm>
            <a:off x="522514" y="1860839"/>
            <a:ext cx="4572000" cy="2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Big Metric</a:t>
            </a:r>
            <a:endParaRPr lang="en-US" sz="13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F3C2BE-3C3C-C914-9619-7BA8B2A3BB2E}"/>
              </a:ext>
            </a:extLst>
          </p:cNvPr>
          <p:cNvSpPr txBox="1"/>
          <p:nvPr/>
        </p:nvSpPr>
        <p:spPr>
          <a:xfrm>
            <a:off x="522514" y="2159639"/>
            <a:ext cx="1848394" cy="74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Built-up area grew 2.3× faster than population (2010–2020)</a:t>
            </a:r>
            <a:endParaRPr lang="en-US" sz="11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65A87B66-3FE2-63EB-8811-EE9BA9C41D15}"/>
              </a:ext>
            </a:extLst>
          </p:cNvPr>
          <p:cNvSpPr/>
          <p:nvPr/>
        </p:nvSpPr>
        <p:spPr>
          <a:xfrm>
            <a:off x="2960300" y="1692175"/>
            <a:ext cx="2551162" cy="1591866"/>
          </a:xfrm>
          <a:prstGeom prst="roundRect">
            <a:avLst>
              <a:gd name="adj" fmla="val 374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732249-4231-A3FD-69C2-1C16A97ACEFD}"/>
              </a:ext>
            </a:extLst>
          </p:cNvPr>
          <p:cNvSpPr txBox="1"/>
          <p:nvPr/>
        </p:nvSpPr>
        <p:spPr>
          <a:xfrm>
            <a:off x="2984733" y="1813715"/>
            <a:ext cx="1665514" cy="2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Table (summary)</a:t>
            </a:r>
            <a:endParaRPr lang="en-US" sz="13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763319-D0B4-5692-DF8B-6F9ADCE9474D}"/>
              </a:ext>
            </a:extLst>
          </p:cNvPr>
          <p:cNvSpPr txBox="1"/>
          <p:nvPr/>
        </p:nvSpPr>
        <p:spPr>
          <a:xfrm>
            <a:off x="3044708" y="2099459"/>
            <a:ext cx="2370909" cy="1062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Built-up surface: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+23.8% (72.48 → 89.73 km²)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Population: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+10.3% (4.17M → 4.60M)</a:t>
            </a:r>
            <a:endParaRPr lang="en-US" sz="11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83006CF8-6D76-13B4-4282-2FBD85A1EA5B}"/>
              </a:ext>
            </a:extLst>
          </p:cNvPr>
          <p:cNvSpPr/>
          <p:nvPr/>
        </p:nvSpPr>
        <p:spPr>
          <a:xfrm>
            <a:off x="5689941" y="1692175"/>
            <a:ext cx="2787166" cy="1591866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4EFDD8-C553-268B-0629-87D4E2A356D1}"/>
              </a:ext>
            </a:extLst>
          </p:cNvPr>
          <p:cNvSpPr txBox="1"/>
          <p:nvPr/>
        </p:nvSpPr>
        <p:spPr>
          <a:xfrm>
            <a:off x="5689941" y="1813715"/>
            <a:ext cx="1680261" cy="2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Gap</a:t>
            </a:r>
            <a:endParaRPr lang="en-US" sz="13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D5B156-9B49-FA19-6155-43C154472F82}"/>
              </a:ext>
            </a:extLst>
          </p:cNvPr>
          <p:cNvSpPr txBox="1"/>
          <p:nvPr/>
        </p:nvSpPr>
        <p:spPr>
          <a:xfrm>
            <a:off x="5689941" y="2173819"/>
            <a:ext cx="2370909" cy="74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 consumption outpaces housing demand; no municipal record of occupancy for new built land.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47459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1B5C-59A3-ACFF-CA20-271BA5CAA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565E49C-652B-49DC-5016-683D29980708}"/>
              </a:ext>
            </a:extLst>
          </p:cNvPr>
          <p:cNvSpPr/>
          <p:nvPr/>
        </p:nvSpPr>
        <p:spPr>
          <a:xfrm>
            <a:off x="673562" y="381855"/>
            <a:ext cx="4667845" cy="7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400" b="1" kern="0" spc="-80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Definition &amp; Detection Challenges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A150744-BFEA-3DBB-EDCC-498DB79CE7D0}"/>
              </a:ext>
            </a:extLst>
          </p:cNvPr>
          <p:cNvSpPr/>
          <p:nvPr/>
        </p:nvSpPr>
        <p:spPr>
          <a:xfrm>
            <a:off x="843616" y="2571750"/>
            <a:ext cx="4667845" cy="7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9CFC3CEF-2A8E-67C8-4A86-B3DA22E54F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1590" y="1295846"/>
            <a:ext cx="1891159" cy="20899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9FD11C-D286-2D6D-AA1E-09543FA581B5}"/>
              </a:ext>
            </a:extLst>
          </p:cNvPr>
          <p:cNvSpPr txBox="1"/>
          <p:nvPr/>
        </p:nvSpPr>
        <p:spPr>
          <a:xfrm>
            <a:off x="4741590" y="1631492"/>
            <a:ext cx="1769789" cy="510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Failure Mode — Low Nighttime Lights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0DE7B2-9575-9780-C178-9EFACCBB7E78}"/>
              </a:ext>
            </a:extLst>
          </p:cNvPr>
          <p:cNvSpPr txBox="1"/>
          <p:nvPr/>
        </p:nvSpPr>
        <p:spPr>
          <a:xfrm>
            <a:off x="4827563" y="2111902"/>
            <a:ext cx="1489166" cy="91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positives: agriculture, unlit industry — low radiance ≠ vacancy.</a:t>
            </a:r>
            <a:endParaRPr lang="en-US" sz="10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8D8C1A65-16CE-9AB1-A169-8A66D8EE5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1485" y="1295846"/>
            <a:ext cx="1891159" cy="20899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B68392-EE5A-4D29-746B-DDE2838BFBAE}"/>
              </a:ext>
            </a:extLst>
          </p:cNvPr>
          <p:cNvSpPr txBox="1"/>
          <p:nvPr/>
        </p:nvSpPr>
        <p:spPr>
          <a:xfrm>
            <a:off x="6761485" y="1631492"/>
            <a:ext cx="1736295" cy="499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4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Failure Mode — Low Population Density</a:t>
            </a:r>
            <a:endParaRPr lang="en-US" sz="13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B252F2-DF54-6599-32C2-54ACCB3E49EC}"/>
              </a:ext>
            </a:extLst>
          </p:cNvPr>
          <p:cNvSpPr txBox="1"/>
          <p:nvPr/>
        </p:nvSpPr>
        <p:spPr>
          <a:xfrm>
            <a:off x="6858822" y="2117881"/>
            <a:ext cx="1736295" cy="914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positives: warehouses, commercial zones; density metrics misclassify function.</a:t>
            </a:r>
            <a:endParaRPr lang="en-US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B1C2EE-187B-2CD6-4CA8-43882A465364}"/>
              </a:ext>
            </a:extLst>
          </p:cNvPr>
          <p:cNvSpPr txBox="1"/>
          <p:nvPr/>
        </p:nvSpPr>
        <p:spPr>
          <a:xfrm>
            <a:off x="5546743" y="1362762"/>
            <a:ext cx="28085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kern="0" spc="-3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B14BE5-F78B-5F2D-1C44-15A25C5CBBF5}"/>
              </a:ext>
            </a:extLst>
          </p:cNvPr>
          <p:cNvSpPr txBox="1"/>
          <p:nvPr/>
        </p:nvSpPr>
        <p:spPr>
          <a:xfrm>
            <a:off x="7566638" y="1362761"/>
            <a:ext cx="28085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kern="0" spc="-3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</a:rPr>
              <a:t>2</a:t>
            </a:r>
            <a:endParaRPr lang="en-IN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F7E537EA-8A1C-33A6-8DDE-E5D1671FC6DB}"/>
              </a:ext>
            </a:extLst>
          </p:cNvPr>
          <p:cNvSpPr/>
          <p:nvPr/>
        </p:nvSpPr>
        <p:spPr>
          <a:xfrm>
            <a:off x="4741590" y="3530650"/>
            <a:ext cx="3911054" cy="753967"/>
          </a:xfrm>
          <a:prstGeom prst="roundRect">
            <a:avLst>
              <a:gd name="adj" fmla="val 608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0566B9-777C-F6B8-45B2-85729D78A49C}"/>
              </a:ext>
            </a:extLst>
          </p:cNvPr>
          <p:cNvSpPr txBox="1"/>
          <p:nvPr/>
        </p:nvSpPr>
        <p:spPr>
          <a:xfrm>
            <a:off x="4869263" y="3645882"/>
            <a:ext cx="3526971" cy="494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kern="0" spc="-2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Requirement: Learn local dynamic norms; flag deviations; separate stalled zones from mid-occupation growth.</a:t>
            </a:r>
            <a:endParaRPr lang="en-US" sz="105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865BCBF3-A069-C807-36C0-EA90BEDBE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89" y="1505107"/>
            <a:ext cx="3911054" cy="22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38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E6529-14E0-7486-3663-B2D1D3D1F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43B7D04-1504-38DF-0D73-FFBBFF8EE03E}"/>
              </a:ext>
            </a:extLst>
          </p:cNvPr>
          <p:cNvSpPr/>
          <p:nvPr/>
        </p:nvSpPr>
        <p:spPr>
          <a:xfrm>
            <a:off x="843617" y="788513"/>
            <a:ext cx="4667845" cy="153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677DC5A-63E8-CB15-DAE8-BD28A6F680A4}"/>
              </a:ext>
            </a:extLst>
          </p:cNvPr>
          <p:cNvSpPr/>
          <p:nvPr/>
        </p:nvSpPr>
        <p:spPr>
          <a:xfrm>
            <a:off x="843616" y="2571750"/>
            <a:ext cx="4667845" cy="7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09D3F-31EB-F232-162B-2317BA5A84B3}"/>
              </a:ext>
            </a:extLst>
          </p:cNvPr>
          <p:cNvSpPr txBox="1"/>
          <p:nvPr/>
        </p:nvSpPr>
        <p:spPr>
          <a:xfrm>
            <a:off x="522514" y="437955"/>
            <a:ext cx="5832566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 Domain &amp; Resolution Limits</a:t>
            </a:r>
            <a:endParaRPr lang="en-US" sz="2750" dirty="0">
              <a:solidFill>
                <a:schemeClr val="bg1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5CF67FFD-BBF3-CEE0-978C-729F3FABC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0108"/>
            <a:ext cx="3478039" cy="26388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FF5852-821C-2F03-CBC3-03F70ECE962C}"/>
              </a:ext>
            </a:extLst>
          </p:cNvPr>
          <p:cNvSpPr txBox="1"/>
          <p:nvPr/>
        </p:nvSpPr>
        <p:spPr>
          <a:xfrm>
            <a:off x="4715692" y="1552659"/>
            <a:ext cx="3709851" cy="1551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kern="0" spc="-22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sources</a:t>
            </a: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GHS-BUILT-S (100 m), VIIRS DNB (~460 m), OSM POIs (vector), Sentinel-2 NDVI (10 m), Landsat 8/9 LST (30 m).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 limit</a:t>
            </a: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VIIRS ~460 m → valid inferences at neighborhood scale (≥500 m reporting). Not reliable at building scale.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1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EBBE5-603B-0972-B4C8-C537FB763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69DC50F-4D12-0536-15F3-F32918C80A4B}"/>
              </a:ext>
            </a:extLst>
          </p:cNvPr>
          <p:cNvSpPr/>
          <p:nvPr/>
        </p:nvSpPr>
        <p:spPr>
          <a:xfrm>
            <a:off x="843617" y="788513"/>
            <a:ext cx="4667845" cy="153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F102818-E4AF-43E3-0D88-2AE758A705CB}"/>
              </a:ext>
            </a:extLst>
          </p:cNvPr>
          <p:cNvSpPr/>
          <p:nvPr/>
        </p:nvSpPr>
        <p:spPr>
          <a:xfrm>
            <a:off x="843616" y="2571750"/>
            <a:ext cx="4667845" cy="7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FD67E-7E5D-B460-261E-B1824FFED9E4}"/>
              </a:ext>
            </a:extLst>
          </p:cNvPr>
          <p:cNvSpPr txBox="1"/>
          <p:nvPr/>
        </p:nvSpPr>
        <p:spPr>
          <a:xfrm>
            <a:off x="509451" y="410398"/>
            <a:ext cx="4572000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 &amp; Scope</a:t>
            </a:r>
            <a:endParaRPr lang="en-US" sz="2750" dirty="0">
              <a:solidFill>
                <a:schemeClr val="bg1"/>
              </a:solidFill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970D407-9373-E4EA-5DF4-7D0E7774B94A}"/>
              </a:ext>
            </a:extLst>
          </p:cNvPr>
          <p:cNvSpPr/>
          <p:nvPr/>
        </p:nvSpPr>
        <p:spPr>
          <a:xfrm>
            <a:off x="496119" y="1681907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413465-A78E-4A16-47A6-31F571A894D0}"/>
              </a:ext>
            </a:extLst>
          </p:cNvPr>
          <p:cNvSpPr txBox="1"/>
          <p:nvPr/>
        </p:nvSpPr>
        <p:spPr>
          <a:xfrm>
            <a:off x="843617" y="1681907"/>
            <a:ext cx="894806" cy="2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O1–O4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80645-4205-BEB8-F469-4D1B05EB667E}"/>
              </a:ext>
            </a:extLst>
          </p:cNvPr>
          <p:cNvSpPr txBox="1"/>
          <p:nvPr/>
        </p:nvSpPr>
        <p:spPr>
          <a:xfrm>
            <a:off x="815058" y="2061040"/>
            <a:ext cx="3254020" cy="74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O1 Expansion quantification · O2 Typology classification · O3 Multi-signal index · O4 Ghost growth detection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042C04-F321-1A10-1005-1F0140D78240}"/>
              </a:ext>
            </a:extLst>
          </p:cNvPr>
          <p:cNvSpPr txBox="1"/>
          <p:nvPr/>
        </p:nvSpPr>
        <p:spPr>
          <a:xfrm>
            <a:off x="815058" y="3129616"/>
            <a:ext cx="4572000" cy="65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kern="0" spc="-22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</a:t>
            </a: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1,206 km² AOI; analysis 100 m; reporting grid 500 m (4,765 cells).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Completed</a:t>
            </a: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All 8 objectives.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F02F7443-3B87-D231-4941-CDA7931A109E}"/>
              </a:ext>
            </a:extLst>
          </p:cNvPr>
          <p:cNvSpPr/>
          <p:nvPr/>
        </p:nvSpPr>
        <p:spPr>
          <a:xfrm>
            <a:off x="5274508" y="1742101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08E6D4-CEE5-9FDF-CA89-40FAA0E7091E}"/>
              </a:ext>
            </a:extLst>
          </p:cNvPr>
          <p:cNvSpPr txBox="1"/>
          <p:nvPr/>
        </p:nvSpPr>
        <p:spPr>
          <a:xfrm>
            <a:off x="5662975" y="1752170"/>
            <a:ext cx="1077686" cy="2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O5–O8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FDDC3D-C6DD-A731-87C0-C3611CB2A977}"/>
              </a:ext>
            </a:extLst>
          </p:cNvPr>
          <p:cNvSpPr txBox="1"/>
          <p:nvPr/>
        </p:nvSpPr>
        <p:spPr>
          <a:xfrm>
            <a:off x="5662975" y="2087166"/>
            <a:ext cx="2795451" cy="74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O5 Green-cover loss attribution · O6 SUHI vulnerability · O7 Validated expansion model · O8 Interactive dashboard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750FB7-C878-381F-2480-C60FE77DF27E}"/>
              </a:ext>
            </a:extLst>
          </p:cNvPr>
          <p:cNvSpPr txBox="1"/>
          <p:nvPr/>
        </p:nvSpPr>
        <p:spPr>
          <a:xfrm>
            <a:off x="5662975" y="2964433"/>
            <a:ext cx="1365069" cy="297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 of scope</a:t>
            </a: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D20B87-CE2F-7D68-80EC-4162E59401BC}"/>
              </a:ext>
            </a:extLst>
          </p:cNvPr>
          <p:cNvSpPr txBox="1"/>
          <p:nvPr/>
        </p:nvSpPr>
        <p:spPr>
          <a:xfrm>
            <a:off x="5753127" y="3261822"/>
            <a:ext cx="2547257" cy="74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Building-level occupancy</a:t>
            </a:r>
            <a:endParaRPr lang="en-US" sz="1100" dirty="0">
              <a:solidFill>
                <a:schemeClr val="bg1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ground surveys</a:t>
            </a:r>
            <a:endParaRPr lang="en-US" sz="1100" dirty="0">
              <a:solidFill>
                <a:schemeClr val="bg1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 socioeconomic attribution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37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C0F7-0CD3-69DD-BAA8-67B3EDD2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79483F1-22A1-C574-0593-B4A61DF793E0}"/>
              </a:ext>
            </a:extLst>
          </p:cNvPr>
          <p:cNvSpPr/>
          <p:nvPr/>
        </p:nvSpPr>
        <p:spPr>
          <a:xfrm>
            <a:off x="843617" y="788513"/>
            <a:ext cx="4667845" cy="153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CC78027-CE3C-3E01-4A21-AA6C3142CE3E}"/>
              </a:ext>
            </a:extLst>
          </p:cNvPr>
          <p:cNvSpPr/>
          <p:nvPr/>
        </p:nvSpPr>
        <p:spPr>
          <a:xfrm>
            <a:off x="843616" y="2571750"/>
            <a:ext cx="4667845" cy="7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E373D-A51A-3C2F-E595-E46AA2B5B058}"/>
              </a:ext>
            </a:extLst>
          </p:cNvPr>
          <p:cNvSpPr txBox="1"/>
          <p:nvPr/>
        </p:nvSpPr>
        <p:spPr>
          <a:xfrm>
            <a:off x="241663" y="288667"/>
            <a:ext cx="7921560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Literature Review: Selection &amp; Categorization</a:t>
            </a:r>
            <a:endParaRPr lang="en-US" sz="2750" dirty="0">
              <a:solidFill>
                <a:schemeClr val="bg1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1FE8877B-78BF-C262-8E2E-D407CF8CF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460" y="1199386"/>
            <a:ext cx="354360" cy="354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6F484F-0FE7-7A90-3756-763B73116EFC}"/>
              </a:ext>
            </a:extLst>
          </p:cNvPr>
          <p:cNvSpPr txBox="1"/>
          <p:nvPr/>
        </p:nvSpPr>
        <p:spPr>
          <a:xfrm>
            <a:off x="365460" y="1652896"/>
            <a:ext cx="2651760" cy="2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 A — VIIRS Cross-Sensor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2055F4-E6AB-3D0D-CCE1-0ED6DC9EDEC6}"/>
              </a:ext>
            </a:extLst>
          </p:cNvPr>
          <p:cNvSpPr txBox="1"/>
          <p:nvPr/>
        </p:nvSpPr>
        <p:spPr>
          <a:xfrm>
            <a:off x="365460" y="2020060"/>
            <a:ext cx="4003766" cy="522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Zheng (2019); Li (2020); Zhao (2020); Chen Z. (2021); Nechaev (2021 Residual U-Net)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D41E2521-BB34-66B8-8906-FEAC6E211D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460" y="2964433"/>
            <a:ext cx="354360" cy="3543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58106D-6233-9198-F213-CC0D41CE0170}"/>
              </a:ext>
            </a:extLst>
          </p:cNvPr>
          <p:cNvSpPr txBox="1"/>
          <p:nvPr/>
        </p:nvSpPr>
        <p:spPr>
          <a:xfrm>
            <a:off x="365460" y="3421599"/>
            <a:ext cx="4572000" cy="522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 err="1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Ronneberger</a:t>
            </a: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(2015); Nechaev (2021); Sirko (2021); Shojaei (2022); Wang (2022); Gui (2025)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ED99052F-F10B-9D09-AA45-107959E8E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180" y="1344190"/>
            <a:ext cx="3902943" cy="22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63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A2915-098E-5552-4320-470D969F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4E58EE0-2A22-5EF4-FFD3-8C4D5C2A9FF3}"/>
              </a:ext>
            </a:extLst>
          </p:cNvPr>
          <p:cNvSpPr/>
          <p:nvPr/>
        </p:nvSpPr>
        <p:spPr>
          <a:xfrm>
            <a:off x="843617" y="788513"/>
            <a:ext cx="4667845" cy="153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8BB0249-99B1-B9BF-B976-191B7B1C54AA}"/>
              </a:ext>
            </a:extLst>
          </p:cNvPr>
          <p:cNvSpPr/>
          <p:nvPr/>
        </p:nvSpPr>
        <p:spPr>
          <a:xfrm>
            <a:off x="843616" y="2571750"/>
            <a:ext cx="4667845" cy="7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08F3C-567B-CB4A-7593-AB51E208B8AC}"/>
              </a:ext>
            </a:extLst>
          </p:cNvPr>
          <p:cNvSpPr txBox="1"/>
          <p:nvPr/>
        </p:nvSpPr>
        <p:spPr>
          <a:xfrm>
            <a:off x="431074" y="343410"/>
            <a:ext cx="4572000" cy="2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Finding 1 — Accuracy is a Function of Scale</a:t>
            </a:r>
            <a:endParaRPr lang="en-US" sz="1350" dirty="0">
              <a:solidFill>
                <a:schemeClr val="bg1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DD3625F-A22A-30A3-DB2B-834B943F3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433" y="909573"/>
            <a:ext cx="5955134" cy="4051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992F66-B0DA-A271-BB00-0E2B728ECDC4}"/>
              </a:ext>
            </a:extLst>
          </p:cNvPr>
          <p:cNvSpPr txBox="1"/>
          <p:nvPr/>
        </p:nvSpPr>
        <p:spPr>
          <a:xfrm>
            <a:off x="1691640" y="3892226"/>
            <a:ext cx="1391194" cy="306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Pixel 0.617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FBCD2-2E32-03E3-2E2B-3342A41EB32E}"/>
              </a:ext>
            </a:extLst>
          </p:cNvPr>
          <p:cNvSpPr txBox="1"/>
          <p:nvPr/>
        </p:nvSpPr>
        <p:spPr>
          <a:xfrm>
            <a:off x="3082834" y="3465366"/>
            <a:ext cx="1593669" cy="306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City 0.747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B06575-D5F2-8049-7A87-7ED517D7E363}"/>
              </a:ext>
            </a:extLst>
          </p:cNvPr>
          <p:cNvSpPr txBox="1"/>
          <p:nvPr/>
        </p:nvSpPr>
        <p:spPr>
          <a:xfrm>
            <a:off x="4447903" y="3042077"/>
            <a:ext cx="1750423" cy="306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Province 0.874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2CD992-B2C6-CA14-A8BE-0C68D5784DC3}"/>
              </a:ext>
            </a:extLst>
          </p:cNvPr>
          <p:cNvSpPr txBox="1"/>
          <p:nvPr/>
        </p:nvSpPr>
        <p:spPr>
          <a:xfrm>
            <a:off x="6119949" y="2404945"/>
            <a:ext cx="1267097" cy="530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43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National 0.964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14609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FC500-9AC6-C20A-F823-7585C886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BFD29DA-6CE5-A251-52ED-2636FB3A4029}"/>
              </a:ext>
            </a:extLst>
          </p:cNvPr>
          <p:cNvSpPr/>
          <p:nvPr/>
        </p:nvSpPr>
        <p:spPr>
          <a:xfrm>
            <a:off x="843617" y="788513"/>
            <a:ext cx="4667845" cy="153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6DFCD72-3F16-C298-BF62-CF4C9E2E700D}"/>
              </a:ext>
            </a:extLst>
          </p:cNvPr>
          <p:cNvSpPr/>
          <p:nvPr/>
        </p:nvSpPr>
        <p:spPr>
          <a:xfrm>
            <a:off x="843616" y="2571750"/>
            <a:ext cx="4667845" cy="7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5F687-8380-C2BA-6137-E290B595504E}"/>
              </a:ext>
            </a:extLst>
          </p:cNvPr>
          <p:cNvSpPr txBox="1"/>
          <p:nvPr/>
        </p:nvSpPr>
        <p:spPr>
          <a:xfrm>
            <a:off x="365759" y="471904"/>
            <a:ext cx="6668590" cy="937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8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Finding 2 — Error Concentrates at the Fringe</a:t>
            </a:r>
            <a:endParaRPr lang="en-US" sz="2700" dirty="0">
              <a:solidFill>
                <a:schemeClr val="bg1"/>
              </a:solidFill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DCE06C66-B3E4-07FE-54C2-4BF0D70EAF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4269" y="1257970"/>
            <a:ext cx="1887662" cy="2149450"/>
          </a:xfrm>
          <a:prstGeom prst="rect">
            <a:avLst/>
          </a:prstGeom>
        </p:spPr>
      </p:pic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C805D26C-5F11-E172-ECC7-291C87BF4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4908" y="1257970"/>
            <a:ext cx="1887736" cy="21494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06C66D-5ED8-CF60-FAB7-78429B07409F}"/>
              </a:ext>
            </a:extLst>
          </p:cNvPr>
          <p:cNvSpPr txBox="1"/>
          <p:nvPr/>
        </p:nvSpPr>
        <p:spPr>
          <a:xfrm>
            <a:off x="5497482" y="1308064"/>
            <a:ext cx="2939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5DCB5D-41AE-5C41-6D8F-BFB944A3678B}"/>
              </a:ext>
            </a:extLst>
          </p:cNvPr>
          <p:cNvSpPr txBox="1"/>
          <p:nvPr/>
        </p:nvSpPr>
        <p:spPr>
          <a:xfrm>
            <a:off x="7539056" y="1308064"/>
            <a:ext cx="339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kern="0" spc="-4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2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9B1CBD-C8C4-3197-9601-EF7B01D4C658}"/>
              </a:ext>
            </a:extLst>
          </p:cNvPr>
          <p:cNvSpPr txBox="1"/>
          <p:nvPr/>
        </p:nvSpPr>
        <p:spPr>
          <a:xfrm>
            <a:off x="4726773" y="1740679"/>
            <a:ext cx="1541417" cy="2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Chen et al. 2024</a:t>
            </a:r>
            <a:endParaRPr lang="en-US" sz="13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5E5D1C-4DEC-F922-C103-81C593D3F329}"/>
              </a:ext>
            </a:extLst>
          </p:cNvPr>
          <p:cNvSpPr txBox="1"/>
          <p:nvPr/>
        </p:nvSpPr>
        <p:spPr>
          <a:xfrm>
            <a:off x="4744269" y="2069113"/>
            <a:ext cx="1887663" cy="70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Underestimates fringe radiance → misses low-luminance outskirts.</a:t>
            </a:r>
            <a:endParaRPr lang="en-US" sz="10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61F7A2-FB87-6ABD-C78B-310962D0BADB}"/>
              </a:ext>
            </a:extLst>
          </p:cNvPr>
          <p:cNvSpPr txBox="1"/>
          <p:nvPr/>
        </p:nvSpPr>
        <p:spPr>
          <a:xfrm>
            <a:off x="6764908" y="2039479"/>
            <a:ext cx="1887736" cy="92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Overestimates core radiance; underestimates peri-urban. Bias concentrated at edge-of-city.</a:t>
            </a:r>
            <a:endParaRPr lang="en-US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CE841D-6E87-F15F-890D-5E8FE8FB7641}"/>
              </a:ext>
            </a:extLst>
          </p:cNvPr>
          <p:cNvSpPr txBox="1"/>
          <p:nvPr/>
        </p:nvSpPr>
        <p:spPr>
          <a:xfrm>
            <a:off x="6764908" y="1740679"/>
            <a:ext cx="1123406" cy="2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ChenVNL</a:t>
            </a:r>
            <a:endParaRPr lang="en-US" sz="135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8C1C5D62-A0DA-DA7A-4CE5-5012E1FB043C}"/>
              </a:ext>
            </a:extLst>
          </p:cNvPr>
          <p:cNvSpPr/>
          <p:nvPr/>
        </p:nvSpPr>
        <p:spPr>
          <a:xfrm>
            <a:off x="4744269" y="3557067"/>
            <a:ext cx="3908375" cy="957039"/>
          </a:xfrm>
          <a:prstGeom prst="roundRect">
            <a:avLst>
              <a:gd name="adj" fmla="val 602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BA4CE4-DCC3-7CE0-5613-6E817DA7F8BA}"/>
              </a:ext>
            </a:extLst>
          </p:cNvPr>
          <p:cNvSpPr txBox="1"/>
          <p:nvPr/>
        </p:nvSpPr>
        <p:spPr>
          <a:xfrm>
            <a:off x="4726773" y="3692001"/>
            <a:ext cx="3812210" cy="497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decision: Use observed VIIRS (VNL V2, 2012–) only. Avoid harmonized synthetic series for fringe detection.</a:t>
            </a:r>
            <a:endParaRPr lang="en-US" sz="1050" dirty="0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E2A2CB36-29CE-C66C-0F79-AC20DCC42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16" y="1537542"/>
            <a:ext cx="3908375" cy="221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54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3210-AB10-C528-99BB-9F12255B9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3CB7B22-1DE0-586E-3D64-D6A08518025D}"/>
              </a:ext>
            </a:extLst>
          </p:cNvPr>
          <p:cNvSpPr/>
          <p:nvPr/>
        </p:nvSpPr>
        <p:spPr>
          <a:xfrm>
            <a:off x="843617" y="788513"/>
            <a:ext cx="4667845" cy="153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8572C9A-9F5B-1145-50C1-44A5B6557523}"/>
              </a:ext>
            </a:extLst>
          </p:cNvPr>
          <p:cNvSpPr/>
          <p:nvPr/>
        </p:nvSpPr>
        <p:spPr>
          <a:xfrm>
            <a:off x="843616" y="2571750"/>
            <a:ext cx="4667845" cy="78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74D48-BEB3-2BFA-A931-04C6794C936D}"/>
              </a:ext>
            </a:extLst>
          </p:cNvPr>
          <p:cNvSpPr txBox="1"/>
          <p:nvPr/>
        </p:nvSpPr>
        <p:spPr>
          <a:xfrm>
            <a:off x="360948" y="443885"/>
            <a:ext cx="4572000" cy="482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0" spc="-77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Finding 3 &amp; Research Gap</a:t>
            </a:r>
            <a:endParaRPr lang="en-US" sz="2550" dirty="0">
              <a:solidFill>
                <a:schemeClr val="bg1"/>
              </a:solidFill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5F17270-BDD5-6413-87F9-604BBD2F9EEA}"/>
              </a:ext>
            </a:extLst>
          </p:cNvPr>
          <p:cNvSpPr/>
          <p:nvPr/>
        </p:nvSpPr>
        <p:spPr>
          <a:xfrm>
            <a:off x="481831" y="1146125"/>
            <a:ext cx="1958206" cy="1398836"/>
          </a:xfrm>
          <a:custGeom>
            <a:avLst/>
            <a:gdLst/>
            <a:ahLst/>
            <a:cxnLst/>
            <a:rect l="l" t="t" r="r" b="b"/>
            <a:pathLst>
              <a:path w="1958206" h="1398836">
                <a:moveTo>
                  <a:pt x="45742" y="0"/>
                </a:moveTo>
                <a:lnTo>
                  <a:pt x="1958206" y="0"/>
                </a:lnTo>
                <a:lnTo>
                  <a:pt x="1958206" y="1398836"/>
                </a:lnTo>
                <a:lnTo>
                  <a:pt x="45742" y="1398836"/>
                </a:lnTo>
                <a:arcTo wR="45742" hR="45742" stAng="5400000" swAng="5400000"/>
                <a:lnTo>
                  <a:pt x="0" y="45742"/>
                </a:lnTo>
                <a:arcTo wR="45742" hR="45742" stAng="10800000" swAng="5400000"/>
                <a:close/>
              </a:path>
            </a:pathLst>
          </a:cu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05CD0-38F3-01F8-FFEC-91C428682350}"/>
              </a:ext>
            </a:extLst>
          </p:cNvPr>
          <p:cNvSpPr txBox="1"/>
          <p:nvPr/>
        </p:nvSpPr>
        <p:spPr>
          <a:xfrm>
            <a:off x="481831" y="1215448"/>
            <a:ext cx="1206596" cy="283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U‑Net tradeoff</a:t>
            </a:r>
            <a:endParaRPr lang="en-US" sz="12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46DE9-A973-4B9C-989C-0B98EF4EAA9B}"/>
              </a:ext>
            </a:extLst>
          </p:cNvPr>
          <p:cNvSpPr txBox="1"/>
          <p:nvPr/>
        </p:nvSpPr>
        <p:spPr>
          <a:xfrm>
            <a:off x="562843" y="1427821"/>
            <a:ext cx="1554716" cy="125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automation cost (labels, GPUs) with marginal accuracy gain vs. Cellular Automata (Wang 2022).</a:t>
            </a:r>
            <a:endParaRPr lang="en-US" sz="1000" dirty="0"/>
          </a:p>
          <a:p>
            <a:pPr marL="0" indent="0">
              <a:lnSpc>
                <a:spcPct val="128000"/>
              </a:lnSpc>
              <a:buNone/>
            </a:pPr>
            <a:endParaRPr lang="en-US" sz="10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BA582E87-2CDB-8056-5DEA-E5F9B3B9427C}"/>
              </a:ext>
            </a:extLst>
          </p:cNvPr>
          <p:cNvSpPr/>
          <p:nvPr/>
        </p:nvSpPr>
        <p:spPr>
          <a:xfrm>
            <a:off x="2613720" y="2839767"/>
            <a:ext cx="1958280" cy="1800523"/>
          </a:xfrm>
          <a:custGeom>
            <a:avLst/>
            <a:gdLst/>
            <a:ahLst/>
            <a:cxnLst/>
            <a:rect l="l" t="t" r="r" b="b"/>
            <a:pathLst>
              <a:path w="1958280" h="1800523">
                <a:moveTo>
                  <a:pt x="0" y="0"/>
                </a:moveTo>
                <a:lnTo>
                  <a:pt x="1912538" y="0"/>
                </a:lnTo>
                <a:arcTo wR="45742" hR="45742" stAng="16200000" swAng="5400000"/>
                <a:lnTo>
                  <a:pt x="1958280" y="1754781"/>
                </a:lnTo>
                <a:arcTo wR="45742" hR="45742" stAng="0" swAng="5400000"/>
                <a:lnTo>
                  <a:pt x="0" y="1800523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B89968-0A85-17B7-72DA-F54B1F3D788F}"/>
              </a:ext>
            </a:extLst>
          </p:cNvPr>
          <p:cNvSpPr txBox="1"/>
          <p:nvPr/>
        </p:nvSpPr>
        <p:spPr>
          <a:xfrm>
            <a:off x="2613720" y="2964433"/>
            <a:ext cx="74595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Gap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5B2D11-4471-6346-CA3A-6134DB2889B6}"/>
              </a:ext>
            </a:extLst>
          </p:cNvPr>
          <p:cNvSpPr txBox="1"/>
          <p:nvPr/>
        </p:nvSpPr>
        <p:spPr>
          <a:xfrm>
            <a:off x="2659557" y="3249126"/>
            <a:ext cx="1729110" cy="1257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methods use fixed global thresholds. Missing: City-specific activity curves + spatial form classification to detect stalled vs. emerging growth.</a:t>
            </a:r>
            <a:endParaRPr lang="en-US" sz="1000" dirty="0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D7373373-3A0A-4DDF-F501-03111CD1F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661" y="1146125"/>
            <a:ext cx="3916487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06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A8574-D035-B884-9CFE-0C514D2F8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1E82583-58B0-568E-826B-E1C10F43D9E2}"/>
              </a:ext>
            </a:extLst>
          </p:cNvPr>
          <p:cNvSpPr/>
          <p:nvPr/>
        </p:nvSpPr>
        <p:spPr>
          <a:xfrm>
            <a:off x="843617" y="788513"/>
            <a:ext cx="4667845" cy="153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96EF352-FCAC-66E0-684B-48D2F67E2001}"/>
              </a:ext>
            </a:extLst>
          </p:cNvPr>
          <p:cNvSpPr/>
          <p:nvPr/>
        </p:nvSpPr>
        <p:spPr>
          <a:xfrm>
            <a:off x="623611" y="1310029"/>
            <a:ext cx="765178" cy="295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b="1" kern="0" spc="-22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Paths</a:t>
            </a:r>
            <a:r>
              <a:rPr lang="en-US" sz="14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28155-CC2A-F455-C5FD-D260CF7EF79E}"/>
              </a:ext>
            </a:extLst>
          </p:cNvPr>
          <p:cNvSpPr txBox="1"/>
          <p:nvPr/>
        </p:nvSpPr>
        <p:spPr>
          <a:xfrm>
            <a:off x="497933" y="615345"/>
            <a:ext cx="5221705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Dual-Path System Architecture</a:t>
            </a:r>
            <a:endParaRPr lang="en-US" sz="275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1B827-ECCC-8B74-C260-42DC083EABD9}"/>
              </a:ext>
            </a:extLst>
          </p:cNvPr>
          <p:cNvSpPr txBox="1"/>
          <p:nvPr/>
        </p:nvSpPr>
        <p:spPr>
          <a:xfrm>
            <a:off x="566685" y="1793877"/>
            <a:ext cx="4572000" cy="1648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acquisition: GHSL, OSM, </a:t>
            </a:r>
            <a:r>
              <a:rPr lang="en-US" sz="1100" kern="0" spc="-22" dirty="0" err="1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WorldPop</a:t>
            </a: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Earth Engine: VIIRS, Sentinel-2, Landsat</a:t>
            </a:r>
            <a:endParaRPr lang="en-US" sz="1100" dirty="0">
              <a:solidFill>
                <a:schemeClr val="bg1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(100 m, UTM 44N): built-up change, NTL trend, vegetation loss, thermal SUHI, ghost classifier</a:t>
            </a:r>
            <a:endParaRPr lang="en-US" sz="1100" dirty="0">
              <a:solidFill>
                <a:schemeClr val="bg1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Zonal aggregation: 100 m → 500 m reporting grid (4,765 cells)</a:t>
            </a:r>
            <a:endParaRPr lang="en-US" sz="1100" dirty="0">
              <a:solidFill>
                <a:schemeClr val="bg1"/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Interface: </a:t>
            </a:r>
            <a:r>
              <a:rPr lang="en-US" sz="1100" kern="0" spc="-22" dirty="0" err="1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r>
              <a:rPr lang="en-US" sz="1100" kern="0" spc="-22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5-tab dashboard (explore, map, cell report, timeseries, export)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785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98054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Presentation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3577" y="1744787"/>
            <a:ext cx="1925985" cy="1398984"/>
          </a:xfrm>
          <a:prstGeom prst="roundRect">
            <a:avLst>
              <a:gd name="adj" fmla="val 14036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68759" y="1889968"/>
            <a:ext cx="1635621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8759" y="2160984"/>
            <a:ext cx="1635621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Detect, classify, and model peri‑urban expansion; quantify ghost‑growth.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80456" y="1744787"/>
            <a:ext cx="1926059" cy="1398984"/>
          </a:xfrm>
          <a:prstGeom prst="roundRect">
            <a:avLst>
              <a:gd name="adj" fmla="val 14036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25638" y="1889968"/>
            <a:ext cx="163569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&amp; 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25638" y="2160984"/>
            <a:ext cx="1635696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Multi-source raster &amp; vector fusion; reprojection &amp; density-preserving transforms.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37410" y="1744787"/>
            <a:ext cx="1926059" cy="1398984"/>
          </a:xfrm>
          <a:prstGeom prst="roundRect">
            <a:avLst>
              <a:gd name="adj" fmla="val 14036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82592" y="1889968"/>
            <a:ext cx="163569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82592" y="2160984"/>
            <a:ext cx="1635696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Composite indices, typology learning, constrained CA prediction.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94363" y="1744787"/>
            <a:ext cx="1926059" cy="1398984"/>
          </a:xfrm>
          <a:prstGeom prst="roundRect">
            <a:avLst>
              <a:gd name="adj" fmla="val 14036"/>
            </a:avLst>
          </a:prstGeom>
          <a:solidFill>
            <a:srgbClr val="00002E"/>
          </a:solidFill>
          <a:ln w="14288">
            <a:solidFill>
              <a:srgbClr val="48A8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39545" y="1889968"/>
            <a:ext cx="163569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Results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39545" y="2160984"/>
            <a:ext cx="1635696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Built extent, form decomposition, SUHI, activity trends, validation.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3577" y="3274665"/>
            <a:ext cx="8096845" cy="770781"/>
          </a:xfrm>
          <a:prstGeom prst="roundRect">
            <a:avLst>
              <a:gd name="adj" fmla="val 25476"/>
            </a:avLst>
          </a:prstGeom>
          <a:solidFill>
            <a:srgbClr val="00002E"/>
          </a:solidFill>
          <a:ln w="14288">
            <a:solidFill>
              <a:srgbClr val="59AB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8759" y="3419847"/>
            <a:ext cx="780648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Risks &amp; Ethics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8759" y="3690863"/>
            <a:ext cx="7806482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lineage, mitigations, attribution, anonymization.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028551"/>
            <a:ext cx="4667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Strategy — Dual Grid Approach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2577" y="1994743"/>
            <a:ext cx="5125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Two spatial grains optimized for distinct tasks: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952577" y="2351410"/>
            <a:ext cx="4667845" cy="883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100 m grid — change detection &amp; spatial form accuracy; preserves patch structure for leapfrog/infill classification.</a:t>
            </a:r>
            <a:endParaRPr lang="en-US" sz="1000" dirty="0"/>
          </a:p>
          <a:p>
            <a:pPr marL="203200" indent="-2032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500 m grid — reporting, population/area aggregates, computationally efficient for time-series summaries and public dissemination.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952577" y="3382045"/>
            <a:ext cx="4667845" cy="732830"/>
          </a:xfrm>
          <a:prstGeom prst="roundRect">
            <a:avLst>
              <a:gd name="adj" fmla="val 26796"/>
            </a:avLst>
          </a:prstGeom>
          <a:solidFill>
            <a:srgbClr val="78550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472" y="3569122"/>
            <a:ext cx="163637" cy="1308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78003" y="3545607"/>
            <a:ext cx="4111526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 100 m for algorithmic detection; aggregate to 500 m for policy reporting and density maps.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45381"/>
            <a:ext cx="4667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Density‑Preserving Reprojection Pipeline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1511573"/>
            <a:ext cx="4667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Problem: direct reprojection of extensive metrics (m², population) biases area-dependent statistics.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577" y="2077641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23577" y="2285777"/>
            <a:ext cx="2268438" cy="14288"/>
          </a:xfrm>
          <a:prstGeom prst="rect">
            <a:avLst/>
          </a:prstGeom>
          <a:solidFill>
            <a:srgbClr val="F2B4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23577" y="2379762"/>
            <a:ext cx="2268438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Convert to densities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3577" y="2650778"/>
            <a:ext cx="2268438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Compute per-cell density (e.g., population/km², built fraction) on native grid.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22910" y="2077641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22910" y="2285777"/>
            <a:ext cx="2268513" cy="14288"/>
          </a:xfrm>
          <a:prstGeom prst="rect">
            <a:avLst/>
          </a:prstGeom>
          <a:solidFill>
            <a:srgbClr val="D74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22910" y="2379762"/>
            <a:ext cx="226851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Mollweide normalize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22910" y="2650778"/>
            <a:ext cx="2268513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Aggregate spatial totals on equal-area projection for inter-epoch comparability.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3577" y="3508028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3577" y="3716164"/>
            <a:ext cx="4667845" cy="14288"/>
          </a:xfrm>
          <a:prstGeom prst="rect">
            <a:avLst/>
          </a:prstGeom>
          <a:solidFill>
            <a:srgbClr val="DD78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3577" y="3810149"/>
            <a:ext cx="4667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Warp → UTM 44N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3577" y="4081165"/>
            <a:ext cx="4667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Reproject density rasters to analysis CRS with conservative resampling (mass‑conserving bilinear).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110407"/>
            <a:ext cx="4667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Spatial Expansion Classification — Landscape Expansion Index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2076599"/>
            <a:ext cx="5125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New urban cells classified by neighbourhood context and contiguity: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577" y="2433265"/>
            <a:ext cx="4667845" cy="719733"/>
          </a:xfrm>
          <a:prstGeom prst="rect">
            <a:avLst/>
          </a:prstGeom>
          <a:noFill/>
          <a:ln/>
        </p:spPr>
        <p:txBody>
          <a:bodyPr wrap="square" lIns="0" tIns="52365" rIns="0" bIns="0" rtlCol="0" anchor="t">
            <a:normAutofit/>
          </a:bodyPr>
          <a:lstStyle/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Infill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new cell surrounded by built neighbors (compact growth).</a:t>
            </a:r>
            <a:endParaRPr lang="en-US" sz="1000" dirty="0"/>
          </a:p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Edge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contiguous addition extending existing patches (incremental sprawl).</a:t>
            </a:r>
            <a:endParaRPr lang="en-US" sz="1000" dirty="0"/>
          </a:p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Leapfrog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isolated new patches beyond a defined buffer — service cost proxy.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23577" y="3300264"/>
            <a:ext cx="4667845" cy="732830"/>
          </a:xfrm>
          <a:prstGeom prst="roundRect">
            <a:avLst>
              <a:gd name="adj" fmla="val 26796"/>
            </a:avLst>
          </a:prstGeom>
          <a:solidFill>
            <a:srgbClr val="78550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72" y="3487341"/>
            <a:ext cx="163637" cy="1308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9003" y="3463826"/>
            <a:ext cx="4111526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Classification computed at 100 m; reported aggregated statistics on 500 m grid.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78024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Ghost‑Growth Detection — Core Methodology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24757"/>
            <a:ext cx="551408" cy="551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8622" y="1624757"/>
            <a:ext cx="1186383" cy="57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Step 1 — Composite Activity Index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8622" y="2280791"/>
            <a:ext cx="1186383" cy="1256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Index = 0.45·VIIRS + 0.35·OSM POIs + 0.20·GriddedPop, normalized per built area (density‑weighted).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642" y="1624757"/>
            <a:ext cx="551408" cy="551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3687" y="1624757"/>
            <a:ext cx="1186458" cy="385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Step 2 — Local Norm Learning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303687" y="2088282"/>
            <a:ext cx="1186458" cy="1256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Binned median curve derived from Varanasi 2010–2019 to establish internal activity baseline by cell-age and size.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3781" y="1624757"/>
            <a:ext cx="551408" cy="551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68826" y="1624757"/>
            <a:ext cx="1186458" cy="57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Step 3 — Residual &amp; Recency Screen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368826" y="2280791"/>
            <a:ext cx="1186458" cy="1047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Flag cells with negative residuals vs. baseline and require post‑2010 share to pass temporal filter.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920" y="1624757"/>
            <a:ext cx="551408" cy="551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3965" y="1624757"/>
            <a:ext cx="1186458" cy="57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Step 4 — Six‑Class Typology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433965" y="2280791"/>
            <a:ext cx="1186458" cy="1884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ghost_growth, emerging, healthy_growth, established_active, declining, undeveloped — assigned via residual thresholds and trend direction.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131615"/>
            <a:ext cx="4667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Predictive Expansion Model — Framework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2097807"/>
            <a:ext cx="4667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Hybrid model combining logistic suitability with spatially constrained Cellular Automata (CA):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577" y="2663875"/>
            <a:ext cx="4667845" cy="1347936"/>
          </a:xfrm>
          <a:prstGeom prst="rect">
            <a:avLst/>
          </a:prstGeom>
          <a:noFill/>
          <a:ln/>
        </p:spPr>
        <p:txBody>
          <a:bodyPr wrap="square" lIns="0" tIns="52365" rIns="0" bIns="0" rtlCol="0" anchor="t">
            <a:normAutofit/>
          </a:bodyPr>
          <a:lstStyle/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Suitability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logistic regression (multivariate) producing per‑cell probability from seven drivers.</a:t>
            </a:r>
            <a:endParaRPr lang="en-US" sz="1000" dirty="0"/>
          </a:p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CA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constrained growth rules enforcing contiguity, road‑access bias, and exclusion masks.</a:t>
            </a:r>
            <a:endParaRPr lang="en-US" sz="1000" dirty="0"/>
          </a:p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Drivers (7)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distance to roads, built fraction, slope, NTL change, POI density, green cover, zoning/exclusion mask.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482775"/>
            <a:ext cx="4667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Validation Discipline &amp; Metrics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2064023"/>
            <a:ext cx="5125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Temporal hold‑out validation to avoid spatial leakage: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577" y="2420689"/>
            <a:ext cx="4667845" cy="464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Train: observed transitions 2010 → 2015.</a:t>
            </a:r>
            <a:endParaRPr lang="en-US" sz="1000" dirty="0"/>
          </a:p>
          <a:p>
            <a:pPr marL="203200" indent="-2032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Validate: predict transitions 2015 → 2020 on held‑out data.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23577" y="3032522"/>
            <a:ext cx="466784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Primary evaluation: </a:t>
            </a: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Figure of Merit (FoM)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chosen because overall accuracy dominated by stable background (null baseline = 98.91%). Other metrics: AUC, Cohen's κ reported for completeness.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306264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Results — Aggregate Urban Change (2010 → 2020)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3577" y="1952997"/>
            <a:ext cx="8096845" cy="1527572"/>
          </a:xfrm>
          <a:prstGeom prst="roundRect">
            <a:avLst>
              <a:gd name="adj" fmla="val 1285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23577" y="2336081"/>
            <a:ext cx="8096845" cy="818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3577" y="2716783"/>
            <a:ext cx="8096845" cy="818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3577" y="3097485"/>
            <a:ext cx="8096845" cy="818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9234" y="2041029"/>
            <a:ext cx="3430339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94162" y="2041029"/>
            <a:ext cx="2621607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2010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20358" y="2041029"/>
            <a:ext cx="2621607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2020 (Δ%)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9234" y="2421731"/>
            <a:ext cx="3430339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Built‑up surface (km²)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94162" y="2421731"/>
            <a:ext cx="2621607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72.48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20358" y="2421731"/>
            <a:ext cx="2621607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89.73 (+23.8%)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9234" y="2802434"/>
            <a:ext cx="3430339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Urban extent (km²)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94162" y="2802434"/>
            <a:ext cx="2621607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128.43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20358" y="2802434"/>
            <a:ext cx="2621607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154.39 (+1.40%/yr)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9234" y="3183136"/>
            <a:ext cx="3430339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Population (M)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94162" y="3183136"/>
            <a:ext cx="2621607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20358" y="3183136"/>
            <a:ext cx="2621607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4.60 (+10.3%)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3577" y="3627834"/>
            <a:ext cx="8554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Key point: Land expansion ≈ 2.3× relative to population growth → spatial inefficiency and servicing cost implications.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823168"/>
            <a:ext cx="4667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Results — Urban Form Decomposition (13.45 km² New)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789361"/>
            <a:ext cx="327273" cy="3272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14487" y="1789361"/>
            <a:ext cx="417693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Infill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014487" y="2060377"/>
            <a:ext cx="4176936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0.95 km² — 7.1%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2531566"/>
            <a:ext cx="327273" cy="3272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14487" y="2531566"/>
            <a:ext cx="417693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Edge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14487" y="2802582"/>
            <a:ext cx="4176936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5.94 km² — 44.2%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273772"/>
            <a:ext cx="327273" cy="3272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14487" y="3273772"/>
            <a:ext cx="4176936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Leapfrog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014487" y="3544788"/>
            <a:ext cx="4176936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6.56 km² — 48.8%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523577" y="3901455"/>
            <a:ext cx="4667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Insight: ~49% of new area is detached (leapfrog) — major cost-to-serve and infrastructure risk.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32372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Limitations &amp; Phase 3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815776"/>
            <a:ext cx="388873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Explicit Limitations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8815" y="2211883"/>
            <a:ext cx="3888730" cy="719733"/>
          </a:xfrm>
          <a:prstGeom prst="rect">
            <a:avLst/>
          </a:prstGeom>
          <a:noFill/>
          <a:ln/>
        </p:spPr>
        <p:txBody>
          <a:bodyPr wrap="square" lIns="0" tIns="52365" rIns="0" bIns="0" rtlCol="0" anchor="t">
            <a:normAutofit/>
          </a:bodyPr>
          <a:lstStyle/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Screening tool (not census)</a:t>
            </a:r>
            <a:endParaRPr lang="en-US" sz="1000" dirty="0"/>
          </a:p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Peripheral OSM sparsity</a:t>
            </a:r>
            <a:endParaRPr lang="en-US" sz="1000" dirty="0"/>
          </a:p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Sensor resolution constraints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31692" y="1815776"/>
            <a:ext cx="388873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Phase 3 Roadmap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31692" y="2160318"/>
            <a:ext cx="3888730" cy="974899"/>
          </a:xfrm>
          <a:prstGeom prst="rect">
            <a:avLst/>
          </a:prstGeom>
          <a:noFill/>
          <a:ln/>
        </p:spPr>
        <p:txBody>
          <a:bodyPr wrap="square" lIns="0" tIns="52365" rIns="0" bIns="0" rtlCol="0" anchor="t">
            <a:normAutofit/>
          </a:bodyPr>
          <a:lstStyle/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Ground validation of 15 zones</a:t>
            </a:r>
            <a:endParaRPr lang="en-US" sz="1000" dirty="0"/>
          </a:p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90-ward Census reporting</a:t>
            </a:r>
            <a:endParaRPr lang="en-US" sz="1000" dirty="0"/>
          </a:p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Open Buildings temporal height analysis</a:t>
            </a:r>
            <a:endParaRPr lang="en-US" sz="1000" dirty="0"/>
          </a:p>
          <a:p>
            <a:pPr marL="203200" indent="-20320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Master plan overlay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1308</Words>
  <Application>Microsoft Macintosh PowerPoint</Application>
  <PresentationFormat>On-screen Show (16:9)</PresentationFormat>
  <Paragraphs>179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Inter</vt:lpstr>
      <vt:lpstr>PT Sans Bold</vt:lpstr>
      <vt:lpstr>Nunito Light</vt:lpstr>
      <vt:lpstr>Inter Bold</vt:lpstr>
      <vt:lpstr>Calibri Light</vt:lpstr>
      <vt:lpstr>Arial</vt:lpstr>
      <vt:lpstr>Nunito SemiBold</vt:lpstr>
      <vt:lpstr>PT Sans</vt:lpstr>
      <vt:lpstr>Calibri</vt:lpstr>
      <vt:lpstr>Office Theme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Achal Pramod Tripathi</cp:lastModifiedBy>
  <cp:revision>6</cp:revision>
  <dcterms:created xsi:type="dcterms:W3CDTF">2026-08-18T09:03:52Z</dcterms:created>
  <dcterms:modified xsi:type="dcterms:W3CDTF">2026-08-18T10:10:04Z</dcterms:modified>
</cp:coreProperties>
</file>