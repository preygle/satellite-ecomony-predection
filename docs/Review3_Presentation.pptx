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74519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600" b="1">
                <a:solidFill>
                  <a:srgbClr val="101826"/>
                </a:solidFill>
                <a:latin typeface="Segoe UI"/>
              </a:rPr>
              <a:t>Satellite-Based Urban Growth and</a:t>
            </a:r>
          </a:p>
          <a:p>
            <a:pPr>
              <a:spcAft>
                <a:spcPts val="1000"/>
              </a:spcAft>
            </a:pPr>
            <a:r>
              <a:rPr sz="3600" b="1">
                <a:solidFill>
                  <a:srgbClr val="101826"/>
                </a:solidFill>
                <a:latin typeface="Segoe UI"/>
              </a:rPr>
              <a:t>Economic Activity Intelligence System</a:t>
            </a:r>
          </a:p>
          <a:p>
            <a:pPr>
              <a:spcAft>
                <a:spcPts val="0"/>
              </a:spcAft>
            </a:pPr>
            <a:r>
              <a:rPr sz="1600" b="0">
                <a:solidFill>
                  <a:srgbClr val="1B5FAF"/>
                </a:solidFill>
                <a:latin typeface="Segoe UI"/>
              </a:rPr>
              <a:t>Review 3  -  Implementation and Results  -  Varanasi, Uttar Pradesh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4069080"/>
            <a:ext cx="1828800" cy="38100"/>
          </a:xfrm>
          <a:prstGeom prst="rect">
            <a:avLst/>
          </a:prstGeom>
          <a:solidFill>
            <a:srgbClr val="1B5F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38912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01826"/>
                </a:solidFill>
                <a:latin typeface="Segoe UI"/>
              </a:rPr>
              <a:t>Mayank  23BCE1753        Achal Pramod Tripathi  23BCE1734        Mohammad Owais  23BCE1746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5A6474"/>
                </a:solidFill>
                <a:latin typeface="Segoe UI"/>
              </a:rPr>
              <a:t>Guide: Joshan        BCSE497J Project I  -  SCOPE  -  Fall 2026-27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5A6474"/>
                </a:solidFill>
                <a:latin typeface="Segoe UI"/>
              </a:rPr>
              <a:t>Panel review, 16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101826"/>
                </a:solidFill>
                <a:latin typeface="Segoe UI"/>
              </a:rPr>
              <a:t>What changed since Review 2</a:t>
            </a:r>
          </a:p>
          <a:p>
            <a:pPr>
              <a:spcAft>
                <a:spcPts val="0"/>
              </a:spcAft>
            </a:pPr>
            <a:r>
              <a:rPr sz="1350" b="0">
                <a:solidFill>
                  <a:srgbClr val="1B5FAF"/>
                </a:solidFill>
                <a:latin typeface="Segoe UI"/>
              </a:rPr>
              <a:t>Three things, in order of importance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1371600" cy="38100"/>
          </a:xfrm>
          <a:prstGeom prst="rect">
            <a:avLst/>
          </a:prstGeom>
          <a:solidFill>
            <a:srgbClr val="1B5F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10881360" cy="1417320"/>
          </a:xfrm>
          <a:prstGeom prst="rect">
            <a:avLst/>
          </a:prstGeom>
          <a:solidFill>
            <a:srgbClr val="F1F5FA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46504"/>
            <a:ext cx="104241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B5FAF"/>
                </a:solidFill>
                <a:latin typeface="Segoe UI"/>
              </a:rPr>
              <a:t>1. We fixed what was wrong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5A6474"/>
                </a:solidFill>
                <a:latin typeface="Segoe UI"/>
              </a:rPr>
              <a:t>An audit of our own code found 15 defects. The pipeline used GHSL's 2025 epoch - a projection, not an observation - as the current year, so every 2010-2025 figure was measured against a forecast. Every number is now recomputed on the observed epochs 2010, 2015 and 2020.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172968"/>
            <a:ext cx="10881360" cy="1417320"/>
          </a:xfrm>
          <a:prstGeom prst="rect">
            <a:avLst/>
          </a:prstGeom>
          <a:solidFill>
            <a:srgbClr val="F1F5FA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319272"/>
            <a:ext cx="104241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E7A52"/>
                </a:solidFill>
                <a:latin typeface="Segoe UI"/>
              </a:rPr>
              <a:t>2. We tested the results against independent data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5A6474"/>
                </a:solidFill>
                <a:latin typeface="Segoe UI"/>
              </a:rPr>
              <a:t>Six built-up datasets, a second temperature sensor, a hold-out test of the ghost-growth classes, and Indian records: Census of India 2001 and 2011, the 2013 Economic Census, and district GDP from the Government of Uttar Pradesh.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745736"/>
            <a:ext cx="10881360" cy="1417320"/>
          </a:xfrm>
          <a:prstGeom prst="rect">
            <a:avLst/>
          </a:prstGeom>
          <a:solidFill>
            <a:srgbClr val="F1F5FA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892040"/>
            <a:ext cx="104241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B26A00"/>
                </a:solidFill>
                <a:latin typeface="Segoe UI"/>
              </a:rPr>
              <a:t>3. We finished the prediction module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5A6474"/>
                </a:solidFill>
                <a:latin typeface="Segoe UI"/>
              </a:rPr>
              <a:t>Logistic regression and random forest, trained on 2010-2015, scored on a held-out 2015-2020, compared on a TOC curve; the better one projects growth 5 and 10 years ahead.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29107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A6474"/>
                </a:solidFill>
                <a:latin typeface="Segoe UI"/>
              </a:rPr>
              <a:t>Corrections log: docs/REVIEW3_REPORT.md section 6 - every before and after number.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101826"/>
                </a:solidFill>
                <a:latin typeface="Segoe UI"/>
              </a:rPr>
              <a:t>Implementation status</a:t>
            </a:r>
          </a:p>
          <a:p>
            <a:pPr>
              <a:spcAft>
                <a:spcPts val="0"/>
              </a:spcAft>
            </a:pPr>
            <a:r>
              <a:rPr sz="1350" b="0">
                <a:solidFill>
                  <a:srgbClr val="1B5FAF"/>
                </a:solidFill>
                <a:latin typeface="Segoe UI"/>
              </a:rPr>
              <a:t>What runs today, and how to check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1371600" cy="38100"/>
          </a:xfrm>
          <a:prstGeom prst="rect">
            <a:avLst/>
          </a:prstGeom>
          <a:solidFill>
            <a:srgbClr val="1B5F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00200"/>
          <a:ext cx="10881359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5425"/>
                <a:gridCol w="1305763"/>
                <a:gridCol w="4570171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01826"/>
                          </a:solidFill>
                          <a:latin typeface="Segoe UI"/>
                        </a:rPr>
                        <a:t>Module</a:t>
                      </a:r>
                    </a:p>
                  </a:txBody>
                  <a:tcPr marL="64008" marR="64008" marT="18288" marB="18288"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01826"/>
                          </a:solidFill>
                          <a:latin typeface="Segoe UI"/>
                        </a:rPr>
                        <a:t>Status</a:t>
                      </a:r>
                    </a:p>
                  </a:txBody>
                  <a:tcPr marL="64008" marR="64008" marT="18288" marB="18288"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01826"/>
                          </a:solidFill>
                          <a:latin typeface="Segoe UI"/>
                        </a:rPr>
                        <a:t>Run it with</a:t>
                      </a:r>
                    </a:p>
                  </a:txBody>
                  <a:tcPr marL="64008" marR="64008" marT="18288" marB="18288">
                    <a:solidFill>
                      <a:srgbClr val="F1F5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A6474"/>
                          </a:solidFill>
                          <a:latin typeface="Segoe UI"/>
                        </a:rPr>
                        <a:t>Data acquisition - GHSL, OpenStreetMap, 13 Earth Engine layers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A6474"/>
                          </a:solidFill>
                          <a:latin typeface="Segoe UI"/>
                        </a:rPr>
                        <a:t>Done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A6474"/>
                          </a:solidFill>
                          <a:latin typeface="Segoe UI"/>
                        </a:rPr>
                        <a:t>prefetch.py, export_review3_layers.py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A6474"/>
                          </a:solidFill>
                          <a:latin typeface="Segoe UI"/>
                        </a:rPr>
                        <a:t>Indian datasets - census, economic census, UP district GDP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A6474"/>
                          </a:solidFill>
                          <a:latin typeface="Segoe UI"/>
                        </a:rPr>
                        <a:t>New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A6474"/>
                          </a:solidFill>
                          <a:latin typeface="Segoe UI"/>
                        </a:rPr>
                        <a:t>fetch_indian_data.py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A6474"/>
                          </a:solidFill>
                          <a:latin typeface="Segoe UI"/>
                        </a:rPr>
                        <a:t>Analysis pipeline - built-up, activity, green cover, heat, typology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A6474"/>
                          </a:solidFill>
                          <a:latin typeface="Segoe UI"/>
                        </a:rPr>
                        <a:t>Done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A6474"/>
                          </a:solidFill>
                          <a:latin typeface="Segoe UI"/>
                        </a:rPr>
                        <a:t>python -m urbanintel.pipeline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A6474"/>
                          </a:solidFill>
                          <a:latin typeface="Segoe UI"/>
                        </a:rPr>
                        <a:t>Growth models - logistic regression, random forest, +5 / +10 years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A6474"/>
                          </a:solidFill>
                          <a:latin typeface="Segoe UI"/>
                        </a:rPr>
                        <a:t>Extended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A6474"/>
                          </a:solidFill>
                          <a:latin typeface="Segoe UI"/>
                        </a:rPr>
                        <a:t>run_growth_model.py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A6474"/>
                          </a:solidFill>
                          <a:latin typeface="Segoe UI"/>
                        </a:rPr>
                        <a:t>Validation - hold-out test, cross-checks, census, economy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A6474"/>
                          </a:solidFill>
                          <a:latin typeface="Segoe UI"/>
                        </a:rPr>
                        <a:t>New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A6474"/>
                          </a:solidFill>
                          <a:latin typeface="Segoe UI"/>
                        </a:rPr>
                        <a:t>validate_*.py, cross_checks.py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A6474"/>
                          </a:solidFill>
                          <a:latin typeface="Segoe UI"/>
                        </a:rPr>
                        <a:t>Results pack - 14 figures, 23 zone cards, one results file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A6474"/>
                          </a:solidFill>
                          <a:latin typeface="Segoe UI"/>
                        </a:rPr>
                        <a:t>New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A6474"/>
                          </a:solidFill>
                          <a:latin typeface="Segoe UI"/>
                        </a:rPr>
                        <a:t>make_figures.py, make_zone_cards.py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A6474"/>
                          </a:solidFill>
                          <a:latin typeface="Segoe UI"/>
                        </a:rPr>
                        <a:t>Dashboard - seven tabs, including Validation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A6474"/>
                          </a:solidFill>
                          <a:latin typeface="Segoe UI"/>
                        </a:rPr>
                        <a:t>Updated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A6474"/>
                          </a:solidFill>
                          <a:latin typeface="Segoe UI"/>
                        </a:rPr>
                        <a:t>run_dashboard.bat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A6474"/>
                          </a:solidFill>
                          <a:latin typeface="Segoe UI"/>
                        </a:rPr>
                        <a:t>City search; ground labels for flagged zones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A6474"/>
                          </a:solidFill>
                          <a:latin typeface="Segoe UI"/>
                        </a:rPr>
                        <a:t>Review 4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A6474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40080" y="5029200"/>
            <a:ext cx="3474720" cy="1005840"/>
          </a:xfrm>
          <a:prstGeom prst="rect">
            <a:avLst/>
          </a:prstGeom>
          <a:solidFill>
            <a:srgbClr val="F1F5FA"/>
          </a:solidFill>
          <a:ln w="9525">
            <a:solidFill>
              <a:srgbClr val="C3C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5120640"/>
            <a:ext cx="321868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1B5FAF"/>
                </a:solidFill>
                <a:latin typeface="Segoe UI"/>
              </a:rPr>
              <a:t>41 / 41</a:t>
            </a:r>
          </a:p>
          <a:p>
            <a:pPr>
              <a:spcAft>
                <a:spcPts val="0"/>
              </a:spcAft>
            </a:pPr>
            <a:r>
              <a:rPr sz="1050" b="0">
                <a:solidFill>
                  <a:srgbClr val="5A6474"/>
                </a:solidFill>
                <a:latin typeface="Segoe UI"/>
              </a:rPr>
              <a:t>unit tests pass; 16 added for Review 3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5029200"/>
            <a:ext cx="3474720" cy="1005840"/>
          </a:xfrm>
          <a:prstGeom prst="rect">
            <a:avLst/>
          </a:prstGeom>
          <a:solidFill>
            <a:srgbClr val="F1F5FA"/>
          </a:solidFill>
          <a:ln w="9525">
            <a:solidFill>
              <a:srgbClr val="C3C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71416" y="5120640"/>
            <a:ext cx="321868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0E7A52"/>
                </a:solidFill>
                <a:latin typeface="Segoe UI"/>
              </a:rPr>
              <a:t>run_review3.bat</a:t>
            </a:r>
          </a:p>
          <a:p>
            <a:pPr>
              <a:spcAft>
                <a:spcPts val="0"/>
              </a:spcAft>
            </a:pPr>
            <a:r>
              <a:rPr sz="1050" b="0">
                <a:solidFill>
                  <a:srgbClr val="5A6474"/>
                </a:solidFill>
                <a:latin typeface="Segoe UI"/>
              </a:rPr>
              <a:t>one command: tests, pipeline, models, validation, figures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5029200"/>
            <a:ext cx="3474720" cy="1005840"/>
          </a:xfrm>
          <a:prstGeom prst="rect">
            <a:avLst/>
          </a:prstGeom>
          <a:solidFill>
            <a:srgbClr val="F1F5FA"/>
          </a:solidFill>
          <a:ln w="9525">
            <a:solidFill>
              <a:srgbClr val="C3C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74736" y="5120640"/>
            <a:ext cx="321868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B26A00"/>
                </a:solidFill>
                <a:latin typeface="Segoe UI"/>
              </a:rPr>
              <a:t>review3_results.json</a:t>
            </a:r>
          </a:p>
          <a:p>
            <a:pPr>
              <a:spcAft>
                <a:spcPts val="0"/>
              </a:spcAft>
            </a:pPr>
            <a:r>
              <a:rPr sz="1050" b="0">
                <a:solidFill>
                  <a:srgbClr val="5A6474"/>
                </a:solidFill>
                <a:latin typeface="Segoe UI"/>
              </a:rPr>
              <a:t>every number in this deck, machine-readable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101826"/>
                </a:solidFill>
                <a:latin typeface="Segoe UI"/>
              </a:rPr>
              <a:t>System architecture</a:t>
            </a:r>
          </a:p>
          <a:p>
            <a:pPr>
              <a:spcAft>
                <a:spcPts val="0"/>
              </a:spcAft>
            </a:pPr>
            <a:r>
              <a:rPr sz="1350" b="0">
                <a:solidFill>
                  <a:srgbClr val="1B5FAF"/>
                </a:solidFill>
                <a:latin typeface="Segoe UI"/>
              </a:rPr>
              <a:t>Five layers, each a folder of the 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1371600" cy="38100"/>
          </a:xfrm>
          <a:prstGeom prst="rect">
            <a:avLst/>
          </a:prstGeom>
          <a:solidFill>
            <a:srgbClr val="1B5F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1_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123" y="1508760"/>
            <a:ext cx="8077449" cy="47091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29107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A6474"/>
                </a:solidFill>
                <a:latin typeface="Segoe UI"/>
              </a:rPr>
              <a:t>Data flow stage by stage: docs/diagrams/A2_pipeline_dataflow.png. All 15 diagrams are explained in docs/DIAGRAMS.md.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101826"/>
                </a:solidFill>
                <a:latin typeface="Segoe UI"/>
              </a:rPr>
              <a:t>Datasets</a:t>
            </a:r>
          </a:p>
          <a:p>
            <a:pPr>
              <a:spcAft>
                <a:spcPts val="0"/>
              </a:spcAft>
            </a:pPr>
            <a:r>
              <a:rPr sz="1350" b="0">
                <a:solidFill>
                  <a:srgbClr val="1B5FAF"/>
                </a:solidFill>
                <a:latin typeface="Segoe UI"/>
              </a:rPr>
              <a:t>Official identifiers; the Indian records are new this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1371600" cy="38100"/>
          </a:xfrm>
          <a:prstGeom prst="rect">
            <a:avLst/>
          </a:prstGeom>
          <a:solidFill>
            <a:srgbClr val="1B5F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572768"/>
            <a:ext cx="5349240" cy="4572000"/>
          </a:xfrm>
          <a:prstGeom prst="rect">
            <a:avLst/>
          </a:prstGeom>
          <a:solidFill>
            <a:srgbClr val="F1F5FA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4892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B5FAF"/>
                </a:solidFill>
                <a:latin typeface="Segoe UI"/>
              </a:rPr>
              <a:t>Satellite and gridded</a:t>
            </a:r>
            <a:r>
              <a:rPr sz="1150" b="1">
                <a:solidFill>
                  <a:srgbClr val="101826"/>
                </a:solidFill>
                <a:latin typeface="Segoe UI"/>
              </a:rPr>
              <a:t>GHS-BUILT-S / GHS-POP R2023A  </a:t>
            </a:r>
            <a:r>
              <a:rPr sz="1150">
                <a:solidFill>
                  <a:srgbClr val="5A6474"/>
                </a:solidFill>
                <a:latin typeface="Segoe UI"/>
              </a:rPr>
              <a:t>built-up surface and population, 100 m, 2010-2020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101826"/>
                </a:solidFill>
                <a:latin typeface="Segoe UI"/>
              </a:rPr>
              <a:t>NOAA/VIIRS/DNB/ANNUAL_V21 + V22  </a:t>
            </a:r>
            <a:r>
              <a:rPr sz="1150">
                <a:solidFill>
                  <a:srgbClr val="5A6474"/>
                </a:solidFill>
                <a:latin typeface="Segoe UI"/>
              </a:rPr>
              <a:t>night-time light 2013-2024, activity proxy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101826"/>
                </a:solidFill>
                <a:latin typeface="Segoe UI"/>
              </a:rPr>
              <a:t>COPERNICUS/S2_SR_HARMONIZED  </a:t>
            </a:r>
            <a:r>
              <a:rPr sz="1150">
                <a:solidFill>
                  <a:srgbClr val="5A6474"/>
                </a:solidFill>
                <a:latin typeface="Segoe UI"/>
              </a:rPr>
              <a:t>NDVI, NDBI, true colour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101826"/>
                </a:solidFill>
                <a:latin typeface="Segoe UI"/>
              </a:rPr>
              <a:t>LANDSAT/LC08 + LC09 C02 T1_L2  </a:t>
            </a:r>
            <a:r>
              <a:rPr sz="1150">
                <a:solidFill>
                  <a:srgbClr val="5A6474"/>
                </a:solidFill>
                <a:latin typeface="Segoe UI"/>
              </a:rPr>
              <a:t>land surface temperature, band ST_B10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101826"/>
                </a:solidFill>
                <a:latin typeface="Segoe UI"/>
              </a:rPr>
              <a:t>MODIS/061/MOD11A2  </a:t>
            </a:r>
            <a:r>
              <a:rPr sz="1150">
                <a:solidFill>
                  <a:srgbClr val="5A6474"/>
                </a:solidFill>
                <a:latin typeface="Segoe UI"/>
              </a:rPr>
              <a:t>independent temperature check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101826"/>
                </a:solidFill>
                <a:latin typeface="Segoe UI"/>
              </a:rPr>
              <a:t>GOOGLE/DYNAMICWORLD/V1  </a:t>
            </a:r>
            <a:r>
              <a:rPr sz="1150">
                <a:solidFill>
                  <a:srgbClr val="5A6474"/>
                </a:solidFill>
                <a:latin typeface="Segoe UI"/>
              </a:rPr>
              <a:t>water mask, built-up gain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101826"/>
                </a:solidFill>
                <a:latin typeface="Segoe UI"/>
              </a:rPr>
              <a:t>open-buildings-temporal/v1  </a:t>
            </a:r>
            <a:r>
              <a:rPr sz="1150">
                <a:solidFill>
                  <a:srgbClr val="5A6474"/>
                </a:solidFill>
                <a:latin typeface="Segoe UI"/>
              </a:rPr>
              <a:t>do flagged cells contain buildings?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101826"/>
                </a:solidFill>
                <a:latin typeface="Segoe UI"/>
              </a:rPr>
              <a:t>ESA/WorldCover/v200  </a:t>
            </a:r>
            <a:r>
              <a:rPr sz="1150">
                <a:solidFill>
                  <a:srgbClr val="5A6474"/>
                </a:solidFill>
                <a:latin typeface="Segoe UI"/>
              </a:rPr>
              <a:t>independent built-up map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101826"/>
                </a:solidFill>
                <a:latin typeface="Segoe UI"/>
              </a:rPr>
              <a:t>USGS/SRTMGL1_003  </a:t>
            </a:r>
            <a:r>
              <a:rPr sz="1150">
                <a:solidFill>
                  <a:srgbClr val="5A6474"/>
                </a:solidFill>
                <a:latin typeface="Segoe UI"/>
              </a:rPr>
              <a:t>terrain slope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101826"/>
                </a:solidFill>
                <a:latin typeface="Segoe UI"/>
              </a:rPr>
              <a:t>WorldPop/GP/100m/pop  </a:t>
            </a:r>
            <a:r>
              <a:rPr sz="1150">
                <a:solidFill>
                  <a:srgbClr val="5A6474"/>
                </a:solidFill>
                <a:latin typeface="Segoe UI"/>
              </a:rPr>
              <a:t>independent population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572768"/>
            <a:ext cx="5349240" cy="4572000"/>
          </a:xfrm>
          <a:prstGeom prst="rect">
            <a:avLst/>
          </a:prstGeom>
          <a:solidFill>
            <a:srgbClr val="F1F5FA"/>
          </a:solidFill>
          <a:ln w="9525">
            <a:solidFill>
              <a:srgbClr val="0E7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37360"/>
            <a:ext cx="4892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0E7A52"/>
                </a:solidFill>
                <a:latin typeface="Segoe UI"/>
              </a:rPr>
              <a:t>Indian records  (new)</a:t>
            </a:r>
            <a:r>
              <a:rPr sz="1150" b="1">
                <a:solidFill>
                  <a:srgbClr val="101826"/>
                </a:solidFill>
                <a:latin typeface="Segoe UI"/>
              </a:rPr>
              <a:t>Census of India 2011 and 2001  </a:t>
            </a:r>
            <a:r>
              <a:rPr sz="1150">
                <a:solidFill>
                  <a:srgbClr val="5A6474"/>
                </a:solidFill>
                <a:latin typeface="Segoe UI"/>
              </a:rPr>
              <a:t>population of 71 districts of Uttar Pradesh and 11,624 towns and villages, through SHRUG</a:t>
            </a:r>
          </a:p>
          <a:p>
            <a:pPr>
              <a:spcAft>
                <a:spcPts val="1000"/>
              </a:spcAft>
            </a:pPr>
            <a:r>
              <a:rPr sz="1150" b="1">
                <a:solidFill>
                  <a:srgbClr val="101826"/>
                </a:solidFill>
                <a:latin typeface="Segoe UI"/>
              </a:rPr>
              <a:t>Economic Census 2013, MoSPI  </a:t>
            </a:r>
            <a:r>
              <a:rPr sz="1150">
                <a:solidFill>
                  <a:srgbClr val="5A6474"/>
                </a:solidFill>
                <a:latin typeface="Segoe UI"/>
              </a:rPr>
              <a:t>non-farm jobs per town and village, through SHRUG</a:t>
            </a:r>
          </a:p>
          <a:p>
            <a:pPr>
              <a:spcAft>
                <a:spcPts val="1000"/>
              </a:spcAft>
            </a:pPr>
            <a:r>
              <a:rPr sz="1150" b="1">
                <a:solidFill>
                  <a:srgbClr val="101826"/>
                </a:solidFill>
                <a:latin typeface="Segoe UI"/>
              </a:rPr>
              <a:t>SHRUG boundaries  </a:t>
            </a:r>
            <a:r>
              <a:rPr sz="1150">
                <a:solidFill>
                  <a:srgbClr val="5A6474"/>
                </a:solidFill>
                <a:latin typeface="Segoe UI"/>
              </a:rPr>
              <a:t>town, village and district polygons - so a satellite value can be compared with a census count for the same place</a:t>
            </a:r>
          </a:p>
          <a:p>
            <a:pPr>
              <a:spcAft>
                <a:spcPts val="1000"/>
              </a:spcAft>
            </a:pPr>
            <a:r>
              <a:rPr sz="1150" b="1">
                <a:solidFill>
                  <a:srgbClr val="101826"/>
                </a:solidFill>
                <a:latin typeface="Segoe UI"/>
              </a:rPr>
              <a:t>District Domestic Product  </a:t>
            </a:r>
            <a:r>
              <a:rPr sz="1150">
                <a:solidFill>
                  <a:srgbClr val="5A6474"/>
                </a:solidFill>
                <a:latin typeface="Segoe UI"/>
              </a:rPr>
              <a:t>Directorate of Economics and Statistics, Government of Uttar Pradesh, 2020-21 and 2021-22</a:t>
            </a:r>
          </a:p>
          <a:p>
            <a:pPr>
              <a:spcAft>
                <a:spcPts val="0"/>
              </a:spcAft>
            </a:pPr>
            <a:r>
              <a:rPr sz="1050" b="0">
                <a:solidFill>
                  <a:srgbClr val="5A6474"/>
                </a:solidFill>
                <a:latin typeface="Segoe UI"/>
              </a:rPr>
              <a:t>Downloaded by scripts/fetch_indian_data.py; the source, size and SHA-256 of every file is recorded in data/raw/india/MANIFEST.json.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29107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A6474"/>
                </a:solidFill>
                <a:latin typeface="Segoe UI"/>
              </a:rPr>
              <a:t>SHRUG is CC BY-NC-SA 4.0; cited as Asher, Lunt, Matsuura and Novosad (2021).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101826"/>
                </a:solidFill>
                <a:latin typeface="Segoe UI"/>
              </a:rPr>
              <a:t>Technical accuracy: what the audit found</a:t>
            </a:r>
          </a:p>
          <a:p>
            <a:pPr>
              <a:spcAft>
                <a:spcPts val="0"/>
              </a:spcAft>
            </a:pPr>
            <a:r>
              <a:rPr sz="1350" b="0">
                <a:solidFill>
                  <a:srgbClr val="1B5FAF"/>
                </a:solidFill>
                <a:latin typeface="Segoe UI"/>
              </a:rPr>
              <a:t>The headline defect, and what it changed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1371600" cy="38100"/>
          </a:xfrm>
          <a:prstGeom prst="rect">
            <a:avLst/>
          </a:prstGeom>
          <a:solidFill>
            <a:srgbClr val="1B5F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572768"/>
            <a:ext cx="10881360" cy="1188720"/>
          </a:xfrm>
          <a:prstGeom prst="rect">
            <a:avLst/>
          </a:prstGeom>
          <a:solidFill>
            <a:srgbClr val="F1F5FA"/>
          </a:solidFill>
          <a:ln w="9525">
            <a:solidFill>
              <a:srgbClr val="B2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00784"/>
            <a:ext cx="10424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1826"/>
                </a:solidFill>
                <a:latin typeface="Segoe UI"/>
              </a:rPr>
              <a:t>GHS-BUILT-S R2023A publishes epochs to 2030, but only 1975-2020 are observed. 2025 and 2030 are the GHSL model's own projections.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5A6474"/>
                </a:solidFill>
                <a:latin typeface="Segoe UI"/>
              </a:rPr>
              <a:t>Our pipeline used 2025 as the current year, so Review 2's growth figures were measured against a forecast. The configuration now refuses a projected epoch, and a unit test locks that behaviour.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2971800"/>
          <a:ext cx="10881358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9662"/>
                <a:gridCol w="3590848"/>
                <a:gridCol w="3590848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01826"/>
                          </a:solidFill>
                          <a:latin typeface="Segoe UI"/>
                        </a:rPr>
                        <a:t>Figure</a:t>
                      </a:r>
                    </a:p>
                  </a:txBody>
                  <a:tcPr marL="64008" marR="64008" marT="18288" marB="18288"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01826"/>
                          </a:solidFill>
                          <a:latin typeface="Segoe UI"/>
                        </a:rPr>
                        <a:t>Review 2 (against the 2025 projection)</a:t>
                      </a:r>
                    </a:p>
                  </a:txBody>
                  <a:tcPr marL="64008" marR="64008" marT="18288" marB="18288"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01826"/>
                          </a:solidFill>
                          <a:latin typeface="Segoe UI"/>
                        </a:rPr>
                        <a:t>Review 3 (observed 2010-2020)</a:t>
                      </a:r>
                    </a:p>
                  </a:txBody>
                  <a:tcPr marL="64008" marR="64008" marT="18288" marB="18288">
                    <a:solidFill>
                      <a:srgbClr val="F1F5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A6474"/>
                          </a:solidFill>
                          <a:latin typeface="Segoe UI"/>
                        </a:rPr>
                        <a:t>New built-up surface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A6474"/>
                          </a:solidFill>
                          <a:latin typeface="Segoe UI"/>
                        </a:rPr>
                        <a:t>+23.47 km2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A6474"/>
                          </a:solidFill>
                          <a:latin typeface="Segoe UI"/>
                        </a:rPr>
                        <a:t>+17.25 km2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A6474"/>
                          </a:solidFill>
                          <a:latin typeface="Segoe UI"/>
                        </a:rPr>
                        <a:t>Urban extent growth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A6474"/>
                          </a:solidFill>
                          <a:latin typeface="Segoe UI"/>
                        </a:rPr>
                        <a:t>1.40 % per year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A6474"/>
                          </a:solidFill>
                          <a:latin typeface="Segoe UI"/>
                        </a:rPr>
                        <a:t>1.86 % per year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A6474"/>
                          </a:solidFill>
                          <a:latin typeface="Segoe UI"/>
                        </a:rPr>
                        <a:t>Leapfrog share of new urban land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A6474"/>
                          </a:solidFill>
                          <a:latin typeface="Segoe UI"/>
                        </a:rPr>
                        <a:t>48.8 %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A6474"/>
                          </a:solidFill>
                          <a:latin typeface="Segoe UI"/>
                        </a:rPr>
                        <a:t>44.3 %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A6474"/>
                          </a:solidFill>
                          <a:latin typeface="Segoe UI"/>
                        </a:rPr>
                        <a:t>Mean urban heat-island intensity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A6474"/>
                          </a:solidFill>
                          <a:latin typeface="Segoe UI"/>
                        </a:rPr>
                        <a:t>+1.10 C, warm cells only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A6474"/>
                          </a:solidFill>
                          <a:latin typeface="Segoe UI"/>
                        </a:rPr>
                        <a:t>-1.66 C, urban cells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A6474"/>
                          </a:solidFill>
                          <a:latin typeface="Segoe UI"/>
                        </a:rPr>
                        <a:t>Green cover lost to built-up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A6474"/>
                          </a:solidFill>
                          <a:latin typeface="Segoe UI"/>
                        </a:rPr>
                        <a:t>0.05 km2, mismatched years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A6474"/>
                          </a:solidFill>
                          <a:latin typeface="Segoe UI"/>
                        </a:rPr>
                        <a:t>0.67 km2, same years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A6474"/>
                          </a:solidFill>
                          <a:latin typeface="Segoe UI"/>
                        </a:rPr>
                        <a:t>Growth model AUC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A6474"/>
                          </a:solidFill>
                          <a:latin typeface="Segoe UI"/>
                        </a:rPr>
                        <a:t>0.9901, training data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A6474"/>
                          </a:solidFill>
                          <a:latin typeface="Segoe UI"/>
                        </a:rPr>
                        <a:t>0.910 / 0.834, held out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A6474"/>
                          </a:solidFill>
                          <a:latin typeface="Segoe UI"/>
                        </a:rPr>
                        <a:t>Low-activity new development filling up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A6474"/>
                          </a:solidFill>
                          <a:latin typeface="Segoe UI"/>
                        </a:rPr>
                        <a:t>95 %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A6474"/>
                          </a:solidFill>
                          <a:latin typeface="Segoe UI"/>
                        </a:rPr>
                        <a:t>74 %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629107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A6474"/>
                </a:solidFill>
                <a:latin typeface="Segoe UI"/>
              </a:rPr>
              <a:t>All 15 defects, with evidence and before/after values: report section 6.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101826"/>
                </a:solidFill>
                <a:latin typeface="Segoe UI"/>
              </a:rPr>
              <a:t>Urban growth, 2010-2020</a:t>
            </a:r>
          </a:p>
          <a:p>
            <a:pPr>
              <a:spcAft>
                <a:spcPts val="0"/>
              </a:spcAft>
            </a:pPr>
            <a:r>
              <a:rPr sz="1350" b="0">
                <a:solidFill>
                  <a:srgbClr val="1B5FAF"/>
                </a:solidFill>
                <a:latin typeface="Segoe UI"/>
              </a:rPr>
              <a:t>Observed epochs only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1371600" cy="38100"/>
          </a:xfrm>
          <a:prstGeom prst="rect">
            <a:avLst/>
          </a:prstGeom>
          <a:solidFill>
            <a:srgbClr val="1B5F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01_growth_ind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0"/>
            <a:ext cx="6400800" cy="439874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406640" y="1737360"/>
            <a:ext cx="4114800" cy="960120"/>
          </a:xfrm>
          <a:prstGeom prst="rect">
            <a:avLst/>
          </a:prstGeom>
          <a:solidFill>
            <a:srgbClr val="F1F5FA"/>
          </a:solidFill>
          <a:ln w="9525">
            <a:solidFill>
              <a:srgbClr val="C3C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34656" y="1828800"/>
            <a:ext cx="385876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1B5FAF"/>
                </a:solidFill>
                <a:latin typeface="Segoe UI"/>
              </a:rPr>
              <a:t>+17.25 km2</a:t>
            </a:r>
          </a:p>
          <a:p>
            <a:pPr>
              <a:spcAft>
                <a:spcPts val="0"/>
              </a:spcAft>
            </a:pPr>
            <a:r>
              <a:rPr sz="1050" b="0">
                <a:solidFill>
                  <a:srgbClr val="5A6474"/>
                </a:solidFill>
                <a:latin typeface="Segoe UI"/>
              </a:rPr>
              <a:t>built-up surface, 72.48 to 89.73 km2</a:t>
            </a:r>
          </a:p>
        </p:txBody>
      </p:sp>
      <p:sp>
        <p:nvSpPr>
          <p:cNvPr id="8" name="Rectangle 7"/>
          <p:cNvSpPr/>
          <p:nvPr/>
        </p:nvSpPr>
        <p:spPr>
          <a:xfrm>
            <a:off x="7406640" y="2834640"/>
            <a:ext cx="4114800" cy="960120"/>
          </a:xfrm>
          <a:prstGeom prst="rect">
            <a:avLst/>
          </a:prstGeom>
          <a:solidFill>
            <a:srgbClr val="F1F5FA"/>
          </a:solidFill>
          <a:ln w="9525">
            <a:solidFill>
              <a:srgbClr val="C3C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34656" y="2926080"/>
            <a:ext cx="385876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1B5FAF"/>
                </a:solidFill>
                <a:latin typeface="Segoe UI"/>
              </a:rPr>
              <a:t>1.86 %/yr</a:t>
            </a:r>
          </a:p>
          <a:p>
            <a:pPr>
              <a:spcAft>
                <a:spcPts val="0"/>
              </a:spcAft>
            </a:pPr>
            <a:r>
              <a:rPr sz="1050" b="0">
                <a:solidFill>
                  <a:srgbClr val="5A6474"/>
                </a:solidFill>
                <a:latin typeface="Segoe UI"/>
              </a:rPr>
              <a:t>urban extent, compound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3931920"/>
            <a:ext cx="4114800" cy="960120"/>
          </a:xfrm>
          <a:prstGeom prst="rect">
            <a:avLst/>
          </a:prstGeom>
          <a:solidFill>
            <a:srgbClr val="F1F5FA"/>
          </a:solidFill>
          <a:ln w="9525">
            <a:solidFill>
              <a:srgbClr val="C3C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34656" y="4023360"/>
            <a:ext cx="385876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B26A00"/>
                </a:solidFill>
                <a:latin typeface="Segoe UI"/>
              </a:rPr>
              <a:t>44.3 %</a:t>
            </a:r>
          </a:p>
          <a:p>
            <a:pPr>
              <a:spcAft>
                <a:spcPts val="0"/>
              </a:spcAft>
            </a:pPr>
            <a:r>
              <a:rPr sz="1050" b="0">
                <a:solidFill>
                  <a:srgbClr val="5A6474"/>
                </a:solidFill>
                <a:latin typeface="Segoe UI"/>
              </a:rPr>
              <a:t>of new urban land is leapfrog - detached from the city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6640" y="5029200"/>
            <a:ext cx="4114800" cy="960120"/>
          </a:xfrm>
          <a:prstGeom prst="rect">
            <a:avLst/>
          </a:prstGeom>
          <a:solidFill>
            <a:srgbClr val="F1F5FA"/>
          </a:solidFill>
          <a:ln w="9525">
            <a:solidFill>
              <a:srgbClr val="C3C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34656" y="5120640"/>
            <a:ext cx="385876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0E7A52"/>
                </a:solidFill>
                <a:latin typeface="Segoe UI"/>
              </a:rPr>
              <a:t>1.3x - 2.3x</a:t>
            </a:r>
          </a:p>
          <a:p>
            <a:pPr>
              <a:spcAft>
                <a:spcPts val="0"/>
              </a:spcAft>
            </a:pPr>
            <a:r>
              <a:rPr sz="1050" b="0">
                <a:solidFill>
                  <a:srgbClr val="5A6474"/>
                </a:solidFill>
                <a:latin typeface="Segoe UI"/>
              </a:rPr>
              <a:t>faster than population, depending on the population dataset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29107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A6474"/>
                </a:solidFill>
                <a:latin typeface="Segoe UI"/>
              </a:rPr>
              <a:t>GHSL 2025 is drawn dashed and labelled: a model projection, not a measurement.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101826"/>
                </a:solidFill>
                <a:latin typeface="Segoe UI"/>
              </a:rPr>
              <a:t>How a cell is classified</a:t>
            </a:r>
          </a:p>
          <a:p>
            <a:pPr>
              <a:spcAft>
                <a:spcPts val="0"/>
              </a:spcAft>
            </a:pPr>
            <a:r>
              <a:rPr sz="1350" b="0">
                <a:solidFill>
                  <a:srgbClr val="1B5FAF"/>
                </a:solidFill>
                <a:latin typeface="Segoe UI"/>
              </a:rPr>
              <a:t>The ghost-growth typology, per 100 m cell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1371600" cy="38100"/>
          </a:xfrm>
          <a:prstGeom prst="rect">
            <a:avLst/>
          </a:prstGeom>
          <a:solidFill>
            <a:srgbClr val="1B5F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3_ghost_typology_algorith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0304" y="1508760"/>
            <a:ext cx="7751087" cy="47091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29107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A6474"/>
                </a:solidFill>
                <a:latin typeface="Segoe UI"/>
              </a:rPr>
              <a:t>Why the light trend is relative to the city: docs/diagrams/A4_relative_light_trend.png.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101826"/>
                </a:solidFill>
                <a:latin typeface="Segoe UI"/>
              </a:rPr>
              <a:t>Ghost growth: is the split real?</a:t>
            </a:r>
          </a:p>
          <a:p>
            <a:pPr>
              <a:spcAft>
                <a:spcPts val="0"/>
              </a:spcAft>
            </a:pPr>
            <a:r>
              <a:rPr sz="1350" b="0">
                <a:solidFill>
                  <a:srgbClr val="1B5FAF"/>
                </a:solidFill>
                <a:latin typeface="Segoe UI"/>
              </a:rPr>
              <a:t>The rule decides how the same 5.56 km2 of candidates divides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1371600" cy="38100"/>
          </a:xfrm>
          <a:prstGeom prst="rect">
            <a:avLst/>
          </a:prstGeom>
          <a:solidFill>
            <a:srgbClr val="1B5F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04_rule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5486400" cy="3082606"/>
          </a:xfrm>
          <a:prstGeom prst="rect">
            <a:avLst/>
          </a:prstGeom>
        </p:spPr>
      </p:pic>
      <p:pic>
        <p:nvPicPr>
          <p:cNvPr id="6" name="Picture 5" descr="F05_holdo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600200"/>
            <a:ext cx="5486400" cy="279255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40080" y="4846320"/>
            <a:ext cx="10881360" cy="1371600"/>
          </a:xfrm>
          <a:prstGeom prst="rect">
            <a:avLst/>
          </a:prstGeom>
          <a:solidFill>
            <a:srgbClr val="F1F5FA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983480"/>
            <a:ext cx="104241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1826"/>
                </a:solidFill>
                <a:latin typeface="Segoe UI"/>
              </a:rPr>
              <a:t>Hold-out test: classify with the 2013-2020 night lights only, then check what happened next.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5A6474"/>
                </a:solidFill>
                <a:latin typeface="Segoe UI"/>
              </a:rPr>
              <a:t>Cells called emerging went on to brighten, relative to the city, more than cells called ghost growth: p = 0.010 over 100 m cells and p = 0.031 over 500 m blocks. The split carries real information - and the effect is modest: an emerging cell out-brightened a ghost cell 56% of the time. It is a screening map, not a verdict.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101826"/>
                </a:solidFill>
                <a:latin typeface="Segoe UI"/>
              </a:rPr>
              <a:t>What a flagged zone actually looks like</a:t>
            </a:r>
          </a:p>
          <a:p>
            <a:pPr>
              <a:spcAft>
                <a:spcPts val="0"/>
              </a:spcAft>
            </a:pPr>
            <a:r>
              <a:rPr sz="1350" b="0">
                <a:solidFill>
                  <a:srgbClr val="1B5FAF"/>
                </a:solidFill>
                <a:latin typeface="Segoe UI"/>
              </a:rPr>
              <a:t>One evidence card of 23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1371600" cy="38100"/>
          </a:xfrm>
          <a:prstGeom prst="rect">
            <a:avLst/>
          </a:prstGeom>
          <a:solidFill>
            <a:srgbClr val="1B5F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zon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7772400" cy="490259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686800" y="1737360"/>
            <a:ext cx="2834640" cy="960120"/>
          </a:xfrm>
          <a:prstGeom prst="rect">
            <a:avLst/>
          </a:prstGeom>
          <a:solidFill>
            <a:srgbClr val="F1F5FA"/>
          </a:solidFill>
          <a:ln w="9525">
            <a:solidFill>
              <a:srgbClr val="C3C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14816" y="1828800"/>
            <a:ext cx="257860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1B5FAF"/>
                </a:solidFill>
                <a:latin typeface="Segoe UI"/>
              </a:rPr>
              <a:t>23</a:t>
            </a:r>
          </a:p>
          <a:p>
            <a:pPr>
              <a:spcAft>
                <a:spcPts val="0"/>
              </a:spcAft>
            </a:pPr>
            <a:r>
              <a:rPr sz="1050" b="0">
                <a:solidFill>
                  <a:srgbClr val="5A6474"/>
                </a:solidFill>
                <a:latin typeface="Segoe UI"/>
              </a:rPr>
              <a:t>zones flagged, all peripheral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0" y="2834640"/>
            <a:ext cx="2834640" cy="960120"/>
          </a:xfrm>
          <a:prstGeom prst="rect">
            <a:avLst/>
          </a:prstGeom>
          <a:solidFill>
            <a:srgbClr val="F1F5FA"/>
          </a:solidFill>
          <a:ln w="9525">
            <a:solidFill>
              <a:srgbClr val="C3C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14816" y="2926080"/>
            <a:ext cx="257860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0E7A52"/>
                </a:solidFill>
                <a:latin typeface="Segoe UI"/>
              </a:rPr>
              <a:t>82 %</a:t>
            </a:r>
          </a:p>
          <a:p>
            <a:pPr>
              <a:spcAft>
                <a:spcPts val="0"/>
              </a:spcAft>
            </a:pPr>
            <a:r>
              <a:rPr sz="1050" b="0">
                <a:solidFill>
                  <a:srgbClr val="5A6474"/>
                </a:solidFill>
                <a:latin typeface="Segoe UI"/>
              </a:rPr>
              <a:t>of ghost cells contain buildings in 2023 (Open Buildings)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0" y="3931920"/>
            <a:ext cx="2834640" cy="960120"/>
          </a:xfrm>
          <a:prstGeom prst="rect">
            <a:avLst/>
          </a:prstGeom>
          <a:solidFill>
            <a:srgbClr val="F1F5FA"/>
          </a:solidFill>
          <a:ln w="9525">
            <a:solidFill>
              <a:srgbClr val="C3C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14816" y="4023360"/>
            <a:ext cx="257860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B26A00"/>
                </a:solidFill>
                <a:latin typeface="Segoe UI"/>
              </a:rPr>
              <a:t>26 of 144</a:t>
            </a:r>
          </a:p>
          <a:p>
            <a:pPr>
              <a:spcAft>
                <a:spcPts val="0"/>
              </a:spcAft>
            </a:pPr>
            <a:r>
              <a:rPr sz="1050" b="0">
                <a:solidFill>
                  <a:srgbClr val="5A6474"/>
                </a:solidFill>
                <a:latin typeface="Segoe UI"/>
              </a:rPr>
              <a:t>ghost cells have no buildings - likely GHSL false positives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0" y="5029200"/>
            <a:ext cx="2834640" cy="960120"/>
          </a:xfrm>
          <a:prstGeom prst="rect">
            <a:avLst/>
          </a:prstGeom>
          <a:solidFill>
            <a:srgbClr val="F1F5FA"/>
          </a:solidFill>
          <a:ln w="9525">
            <a:solidFill>
              <a:srgbClr val="C3C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14816" y="5120640"/>
            <a:ext cx="257860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1B5FAF"/>
                </a:solidFill>
                <a:latin typeface="Segoe UI"/>
              </a:rPr>
              <a:t>+0.32 m</a:t>
            </a:r>
          </a:p>
          <a:p>
            <a:pPr>
              <a:spcAft>
                <a:spcPts val="0"/>
              </a:spcAft>
            </a:pPr>
            <a:r>
              <a:rPr sz="1050" b="0">
                <a:solidFill>
                  <a:srgbClr val="5A6474"/>
                </a:solidFill>
                <a:latin typeface="Segoe UI"/>
              </a:rPr>
              <a:t>building height gained 2016-2023 in ghost cells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29107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A6474"/>
                </a:solidFill>
                <a:latin typeface="Segoe UI"/>
              </a:rPr>
              <a:t>Evidence for a reader, not a validation: precision stays unmeasured until ground or image labels exist - Review 4.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101826"/>
                </a:solidFill>
                <a:latin typeface="Segoe UI"/>
              </a:rPr>
              <a:t>Surface heat: the result reversed</a:t>
            </a:r>
          </a:p>
          <a:p>
            <a:pPr>
              <a:spcAft>
                <a:spcPts val="0"/>
              </a:spcAft>
            </a:pPr>
            <a:r>
              <a:rPr sz="1350" b="0">
                <a:solidFill>
                  <a:srgbClr val="1B5FAF"/>
                </a:solidFill>
                <a:latin typeface="Segoe UI"/>
              </a:rPr>
              <a:t>March to May, daytime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1371600" cy="38100"/>
          </a:xfrm>
          <a:prstGeom prst="rect">
            <a:avLst/>
          </a:prstGeom>
          <a:solidFill>
            <a:srgbClr val="1B5F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12_land_surface_tempera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10881360" cy="357025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40080" y="4709160"/>
            <a:ext cx="10881360" cy="1463040"/>
          </a:xfrm>
          <a:prstGeom prst="rect">
            <a:avLst/>
          </a:prstGeom>
          <a:solidFill>
            <a:srgbClr val="F1F5FA"/>
          </a:solidFill>
          <a:ln w="9525">
            <a:solidFill>
              <a:srgbClr val="B2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4846320"/>
            <a:ext cx="104241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26A00"/>
                </a:solidFill>
                <a:latin typeface="Segoe UI"/>
              </a:rPr>
              <a:t>Varanasi has no daytime surface heat island in the pre-monsoon season.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5A6474"/>
                </a:solidFill>
                <a:latin typeface="Segoe UI"/>
              </a:rPr>
              <a:t>Measured over urban cells, the built-up area is 1.66 C cooler than the dry, bare farmland around it, and MODIS - an independent sensor - shows no heat island either. 22.3 of the 23.8 km2 of hotspots lie on rural land. Review 2's +1.10 C was the mean over only the cells warmer than rural, which is positive by construction. Heat vulnerability, which weights heat by residents, remains the planning layer.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101826"/>
                </a:solidFill>
                <a:latin typeface="Segoe UI"/>
              </a:rPr>
              <a:t>How the growth model works</a:t>
            </a:r>
          </a:p>
          <a:p>
            <a:pPr>
              <a:spcAft>
                <a:spcPts val="0"/>
              </a:spcAft>
            </a:pPr>
            <a:r>
              <a:rPr sz="1350" b="0">
                <a:solidFill>
                  <a:srgbClr val="1B5FAF"/>
                </a:solidFill>
                <a:latin typeface="Segoe UI"/>
              </a:rPr>
              <a:t>Learn where the city grew, test on years it never saw, then project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1371600" cy="38100"/>
          </a:xfrm>
          <a:prstGeom prst="rect">
            <a:avLst/>
          </a:prstGeom>
          <a:solidFill>
            <a:srgbClr val="1B5F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5_growth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123" y="1508760"/>
            <a:ext cx="8077449" cy="47091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29107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A6474"/>
                </a:solidFill>
                <a:latin typeface="Segoe UI"/>
              </a:rPr>
              <a:t>Which years feed which step: docs/diagrams/A8_temporal_design.png.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101826"/>
                </a:solidFill>
                <a:latin typeface="Segoe UI"/>
              </a:rPr>
              <a:t>Where the city grows next</a:t>
            </a:r>
          </a:p>
          <a:p>
            <a:pPr>
              <a:spcAft>
                <a:spcPts val="0"/>
              </a:spcAft>
            </a:pPr>
            <a:r>
              <a:rPr sz="1350" b="0">
                <a:solidFill>
                  <a:srgbClr val="1B5FAF"/>
                </a:solidFill>
                <a:latin typeface="Segoe UI"/>
              </a:rPr>
              <a:t>Trained 2010-2015, scored on a held-out 2015-2020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1371600" cy="38100"/>
          </a:xfrm>
          <a:prstGeom prst="rect">
            <a:avLst/>
          </a:prstGeom>
          <a:solidFill>
            <a:srgbClr val="1B5F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07_figure_of_mer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5394960" cy="3306987"/>
          </a:xfrm>
          <a:prstGeom prst="rect">
            <a:avLst/>
          </a:prstGeom>
        </p:spPr>
      </p:pic>
      <p:pic>
        <p:nvPicPr>
          <p:cNvPr id="6" name="Picture 5" descr="F09_projection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554480"/>
            <a:ext cx="3200400" cy="2982469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4526280"/>
          <a:ext cx="5394959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1078992"/>
                <a:gridCol w="1186891"/>
                <a:gridCol w="971092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01826"/>
                          </a:solidFill>
                          <a:latin typeface="Segoe UI"/>
                        </a:rPr>
                        <a:t>Model</a:t>
                      </a:r>
                    </a:p>
                  </a:txBody>
                  <a:tcPr marL="64008" marR="64008" marT="18288" marB="18288"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01826"/>
                          </a:solidFill>
                          <a:latin typeface="Segoe UI"/>
                        </a:rPr>
                        <a:t>AUC held out</a:t>
                      </a:r>
                    </a:p>
                  </a:txBody>
                  <a:tcPr marL="64008" marR="64008" marT="18288" marB="18288"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01826"/>
                          </a:solidFill>
                          <a:latin typeface="Segoe UI"/>
                        </a:rPr>
                        <a:t>Figure of Merit</a:t>
                      </a:r>
                    </a:p>
                  </a:txBody>
                  <a:tcPr marL="64008" marR="64008" marT="18288" marB="18288"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01826"/>
                          </a:solidFill>
                          <a:latin typeface="Segoe UI"/>
                        </a:rPr>
                        <a:t>x random</a:t>
                      </a:r>
                    </a:p>
                  </a:txBody>
                  <a:tcPr marL="64008" marR="64008" marT="18288" marB="18288">
                    <a:solidFill>
                      <a:srgbClr val="F1F5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A6474"/>
                          </a:solidFill>
                          <a:latin typeface="Segoe UI"/>
                        </a:rPr>
                        <a:t>Random forest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A6474"/>
                          </a:solidFill>
                          <a:latin typeface="Segoe UI"/>
                        </a:rPr>
                        <a:t>0.834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A6474"/>
                          </a:solidFill>
                          <a:latin typeface="Segoe UI"/>
                        </a:rPr>
                        <a:t>0.103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A6474"/>
                          </a:solidFill>
                          <a:latin typeface="Segoe UI"/>
                        </a:rPr>
                        <a:t>18.7x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A6474"/>
                          </a:solidFill>
                          <a:latin typeface="Segoe UI"/>
                        </a:rPr>
                        <a:t>Logistic regression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A6474"/>
                          </a:solidFill>
                          <a:latin typeface="Segoe UI"/>
                        </a:rPr>
                        <a:t>0.910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A6474"/>
                          </a:solidFill>
                          <a:latin typeface="Segoe UI"/>
                        </a:rPr>
                        <a:t>0.069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A6474"/>
                          </a:solidFill>
                          <a:latin typeface="Segoe UI"/>
                        </a:rPr>
                        <a:t>12.5x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A6474"/>
                          </a:solidFill>
                          <a:latin typeface="Segoe UI"/>
                        </a:rPr>
                        <a:t>Random allocation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A6474"/>
                          </a:solidFill>
                          <a:latin typeface="Segoe UI"/>
                        </a:rPr>
                        <a:t>0.500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A6474"/>
                          </a:solidFill>
                          <a:latin typeface="Segoe UI"/>
                        </a:rPr>
                        <a:t>0.0055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A6474"/>
                          </a:solidFill>
                          <a:latin typeface="Segoe UI"/>
                        </a:rPr>
                        <a:t>1x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9829800" y="1737360"/>
            <a:ext cx="1691640" cy="960120"/>
          </a:xfrm>
          <a:prstGeom prst="rect">
            <a:avLst/>
          </a:prstGeom>
          <a:solidFill>
            <a:srgbClr val="F1F5FA"/>
          </a:solidFill>
          <a:ln w="9525">
            <a:solidFill>
              <a:srgbClr val="C3C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57816" y="1828800"/>
            <a:ext cx="143560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0E7A52"/>
                </a:solidFill>
                <a:latin typeface="Segoe UI"/>
              </a:rPr>
              <a:t>+14.89</a:t>
            </a:r>
          </a:p>
          <a:p>
            <a:pPr>
              <a:spcAft>
                <a:spcPts val="0"/>
              </a:spcAft>
            </a:pPr>
            <a:r>
              <a:rPr sz="1050" b="0">
                <a:solidFill>
                  <a:srgbClr val="5A6474"/>
                </a:solidFill>
                <a:latin typeface="Segoe UI"/>
              </a:rPr>
              <a:t>km2 by 2025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9829800" y="2834640"/>
            <a:ext cx="1691640" cy="960120"/>
          </a:xfrm>
          <a:prstGeom prst="rect">
            <a:avLst/>
          </a:prstGeom>
          <a:solidFill>
            <a:srgbClr val="F1F5FA"/>
          </a:solidFill>
          <a:ln w="9525">
            <a:solidFill>
              <a:srgbClr val="C3C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57816" y="2926080"/>
            <a:ext cx="143560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0E7A52"/>
                </a:solidFill>
                <a:latin typeface="Segoe UI"/>
              </a:rPr>
              <a:t>+31.21</a:t>
            </a:r>
          </a:p>
          <a:p>
            <a:pPr>
              <a:spcAft>
                <a:spcPts val="0"/>
              </a:spcAft>
            </a:pPr>
            <a:r>
              <a:rPr sz="1050" b="0">
                <a:solidFill>
                  <a:srgbClr val="5A6474"/>
                </a:solidFill>
                <a:latin typeface="Segoe UI"/>
              </a:rPr>
              <a:t>km2 by 2030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5029200"/>
            <a:ext cx="5120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B26A00"/>
                </a:solidFill>
                <a:latin typeface="Segoe UI"/>
              </a:rPr>
              <a:t>Predictions, not observations.</a:t>
            </a:r>
          </a:p>
          <a:p>
            <a:pPr>
              <a:spcAft>
                <a:spcPts val="0"/>
              </a:spcAft>
            </a:pPr>
            <a:r>
              <a:rPr sz="1150" b="0">
                <a:solidFill>
                  <a:srgbClr val="5A6474"/>
                </a:solidFill>
                <a:latin typeface="Segoe UI"/>
              </a:rPr>
              <a:t>The forest places growth better; the straight-line model ranks the bulk of the cells better. Removing roads changes nothing, so no later information leaks in. Published benchmark on the same measure: 0.264, for PLUS in Wuhan.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101826"/>
                </a:solidFill>
                <a:latin typeface="Segoe UI"/>
              </a:rPr>
              <a:t>Checked against Indian records</a:t>
            </a:r>
          </a:p>
          <a:p>
            <a:pPr>
              <a:spcAft>
                <a:spcPts val="0"/>
              </a:spcAft>
            </a:pPr>
            <a:r>
              <a:rPr sz="1350" b="0">
                <a:solidFill>
                  <a:srgbClr val="1B5FAF"/>
                </a:solidFill>
                <a:latin typeface="Segoe UI"/>
              </a:rPr>
              <a:t>Census of India, Economic Census, Uttar Pradesh district GDP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1371600" cy="38100"/>
          </a:xfrm>
          <a:prstGeom prst="rect">
            <a:avLst/>
          </a:prstGeom>
          <a:solidFill>
            <a:srgbClr val="1B5F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10_popu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72768"/>
            <a:ext cx="5394960" cy="2127764"/>
          </a:xfrm>
          <a:prstGeom prst="rect">
            <a:avLst/>
          </a:prstGeom>
        </p:spPr>
      </p:pic>
      <p:pic>
        <p:nvPicPr>
          <p:cNvPr id="6" name="Picture 5" descr="F13_lights_vs_econom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572768"/>
            <a:ext cx="5394960" cy="208592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40080" y="4297680"/>
            <a:ext cx="5394960" cy="1965960"/>
          </a:xfrm>
          <a:prstGeom prst="rect">
            <a:avLst/>
          </a:prstGeom>
          <a:solidFill>
            <a:srgbClr val="F1F5FA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4434840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5A6474"/>
                </a:solidFill>
                <a:latin typeface="Segoe UI"/>
              </a:rPr>
              <a:t>WorldPop is closer to the 2011 Census than GHS-POP: median district error -0.4% against +3.4%, over 71 districts.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5A6474"/>
                </a:solidFill>
                <a:latin typeface="Segoe UI"/>
              </a:rPr>
              <a:t>GHS-POP puts 63% too many people inside the Municipal Corporation boundary.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5A6474"/>
                </a:solidFill>
                <a:latin typeface="Segoe UI"/>
              </a:rPr>
              <a:t>So the Review 2 headline becomes a range: built-up area grew 1.3x to 2.3x faster than population.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4297680"/>
            <a:ext cx="5212080" cy="1965960"/>
          </a:xfrm>
          <a:prstGeom prst="rect">
            <a:avLst/>
          </a:prstGeom>
          <a:solidFill>
            <a:srgbClr val="F1F5FA"/>
          </a:solidFill>
          <a:ln w="9525">
            <a:solidFill>
              <a:srgbClr val="0E7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0528" y="443484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5A6474"/>
                </a:solidFill>
                <a:latin typeface="Segoe UI"/>
              </a:rPr>
              <a:t>District scale: light against UP district GDP, Spearman 0.85, R2 0.75. Varanasi sits within 5% of what its light predicts.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5A6474"/>
                </a:solidFill>
                <a:latin typeface="Segoe UI"/>
              </a:rPr>
              <a:t>Village scale: light against 2013 Economic Census jobs, 0.41 - no better than population.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5A6474"/>
                </a:solidFill>
                <a:latin typeface="Segoe UI"/>
              </a:rPr>
              <a:t>That is why the screen reports zones, not single cells.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101826"/>
                </a:solidFill>
                <a:latin typeface="Segoe UI"/>
              </a:rPr>
              <a:t>Limitations, and what Review 4 adds</a:t>
            </a:r>
          </a:p>
          <a:p>
            <a:pPr>
              <a:spcAft>
                <a:spcPts val="0"/>
              </a:spcAft>
            </a:pPr>
            <a:r>
              <a:rPr sz="1350" b="0">
                <a:solidFill>
                  <a:srgbClr val="1B5FAF"/>
                </a:solidFill>
                <a:latin typeface="Segoe UI"/>
              </a:rPr>
              <a:t>Said plainly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1371600" cy="38100"/>
          </a:xfrm>
          <a:prstGeom prst="rect">
            <a:avLst/>
          </a:prstGeom>
          <a:solidFill>
            <a:srgbClr val="1B5F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572768"/>
            <a:ext cx="5349240" cy="4526280"/>
          </a:xfrm>
          <a:prstGeom prst="rect">
            <a:avLst/>
          </a:prstGeom>
          <a:solidFill>
            <a:srgbClr val="F1F5FA"/>
          </a:solidFill>
          <a:ln w="9525">
            <a:solidFill>
              <a:srgbClr val="B2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19072"/>
            <a:ext cx="489204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150" b="0">
                <a:solidFill>
                  <a:srgbClr val="5A6474"/>
                </a:solidFill>
                <a:latin typeface="Segoe UI"/>
              </a:rPr>
              <a:t>No ground truth for the ghost flag: how often a flagged zone is really vacant is unmeasured. The hold-out test and the building check are indirect.</a:t>
            </a:r>
          </a:p>
          <a:p>
            <a:pPr>
              <a:spcAft>
                <a:spcPts val="700"/>
              </a:spcAft>
            </a:pPr>
            <a:r>
              <a:rPr sz="1150" b="0">
                <a:solidFill>
                  <a:srgbClr val="5A6474"/>
                </a:solidFill>
                <a:latin typeface="Segoe UI"/>
              </a:rPr>
              <a:t>VIIRS pixels are 463 m; at village scale, light mostly measures settlement size.</a:t>
            </a:r>
          </a:p>
          <a:p>
            <a:pPr>
              <a:spcAft>
                <a:spcPts val="700"/>
              </a:spcAft>
            </a:pPr>
            <a:r>
              <a:rPr sz="1150" b="0">
                <a:solidFill>
                  <a:srgbClr val="5A6474"/>
                </a:solidFill>
                <a:latin typeface="Segoe UI"/>
              </a:rPr>
              <a:t>GHS-POP over-counts the city core; the activity index still uses it, at weight 0.20.</a:t>
            </a:r>
          </a:p>
          <a:p>
            <a:pPr>
              <a:spcAft>
                <a:spcPts val="700"/>
              </a:spcAft>
            </a:pPr>
            <a:r>
              <a:rPr sz="1150" b="0">
                <a:solidFill>
                  <a:srgbClr val="5A6474"/>
                </a:solidFill>
                <a:latin typeface="Segoe UI"/>
              </a:rPr>
              <a:t>Heat is daytime only, and the 2013 composite has just 5 dates.</a:t>
            </a:r>
          </a:p>
          <a:p>
            <a:pPr>
              <a:spcAft>
                <a:spcPts val="700"/>
              </a:spcAft>
            </a:pPr>
            <a:r>
              <a:rPr sz="1150" b="0">
                <a:solidFill>
                  <a:srgbClr val="5A6474"/>
                </a:solidFill>
                <a:latin typeface="Segoe UI"/>
              </a:rPr>
              <a:t>Dynamic World's built class is unreliable in this landscape: 531 km2 against GHSL's 154 km2.</a:t>
            </a:r>
          </a:p>
          <a:p>
            <a:pPr>
              <a:spcAft>
                <a:spcPts val="700"/>
              </a:spcAft>
            </a:pPr>
            <a:r>
              <a:rPr sz="1150" b="0">
                <a:solidFill>
                  <a:srgbClr val="5A6474"/>
                </a:solidFill>
                <a:latin typeface="Segoe UI"/>
              </a:rPr>
              <a:t>The projection assumes the 2010-2020 growth rate continues.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572768"/>
            <a:ext cx="5349240" cy="4526280"/>
          </a:xfrm>
          <a:prstGeom prst="rect">
            <a:avLst/>
          </a:prstGeom>
          <a:solidFill>
            <a:srgbClr val="F1F5FA"/>
          </a:solidFill>
          <a:ln w="9525">
            <a:solidFill>
              <a:srgbClr val="0E7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19072"/>
            <a:ext cx="489204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0E7A52"/>
                </a:solidFill>
                <a:latin typeface="Segoe UI"/>
              </a:rPr>
              <a:t>Review 4</a:t>
            </a:r>
            <a:r>
              <a:rPr sz="1150" b="1">
                <a:solidFill>
                  <a:srgbClr val="101826"/>
                </a:solidFill>
                <a:latin typeface="Segoe UI"/>
              </a:rPr>
              <a:t>City search  </a:t>
            </a:r>
            <a:r>
              <a:rPr sz="1150">
                <a:solidFill>
                  <a:srgbClr val="5A6474"/>
                </a:solidFill>
                <a:latin typeface="Segoe UI"/>
              </a:rPr>
              <a:t>type any city name; the Earth Engine route is already checked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101826"/>
                </a:solidFill>
                <a:latin typeface="Segoe UI"/>
              </a:rPr>
              <a:t>Labels  </a:t>
            </a:r>
            <a:r>
              <a:rPr sz="1150">
                <a:solidFill>
                  <a:srgbClr val="5A6474"/>
                </a:solidFill>
                <a:latin typeface="Segoe UI"/>
              </a:rPr>
              <a:t>read a sample of flagged and unflagged cells off historical high-resolution imagery, and measure precision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101826"/>
                </a:solidFill>
                <a:latin typeface="Segoe UI"/>
              </a:rPr>
              <a:t>Planning data  </a:t>
            </a:r>
            <a:r>
              <a:rPr sz="1150">
                <a:solidFill>
                  <a:srgbClr val="5A6474"/>
                </a:solidFill>
                <a:latin typeface="Segoe UI"/>
              </a:rPr>
              <a:t>ward-level reporting, VDA Master Plan 2031, Bhuvan land use, UP RERA cross-check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101826"/>
                </a:solidFill>
                <a:latin typeface="Segoe UI"/>
              </a:rPr>
              <a:t>Model  </a:t>
            </a:r>
            <a:r>
              <a:rPr sz="1150">
                <a:solidFill>
                  <a:srgbClr val="5A6474"/>
                </a:solidFill>
                <a:latin typeface="Segoe UI"/>
              </a:rPr>
              <a:t>drop the population driver, tune the neighbourhood weight, give a range of demand scenarios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101826"/>
                </a:solidFill>
                <a:latin typeface="Segoe UI"/>
              </a:rPr>
              <a:t>Publication  </a:t>
            </a:r>
            <a:r>
              <a:rPr sz="1150">
                <a:solidFill>
                  <a:srgbClr val="5A6474"/>
                </a:solidFill>
                <a:latin typeface="Segoe UI"/>
              </a:rPr>
              <a:t>a paper submission, built on the hold-out and proxy-scale findings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101826"/>
                </a:solidFill>
                <a:latin typeface="Segoe UI"/>
              </a:rPr>
              <a:t>Where we are</a:t>
            </a:r>
          </a:p>
          <a:p>
            <a:pPr>
              <a:spcAft>
                <a:spcPts val="0"/>
              </a:spcAft>
            </a:pPr>
            <a:r>
              <a:rPr sz="1350" b="0">
                <a:solidFill>
                  <a:srgbClr val="1B5FAF"/>
                </a:solidFill>
                <a:latin typeface="Segoe UI"/>
              </a:rPr>
              <a:t>Phases, reviews and what is left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1371600" cy="38100"/>
          </a:xfrm>
          <a:prstGeom prst="rect">
            <a:avLst/>
          </a:prstGeom>
          <a:solidFill>
            <a:srgbClr val="1B5F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1_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313" y="1508760"/>
            <a:ext cx="10699069" cy="47091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29107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A6474"/>
                </a:solidFill>
                <a:latin typeface="Segoe UI"/>
              </a:rPr>
              <a:t>Code size per module: docs/diagrams/P2_implementation_status.png; the one-command run: P4_run_timeline.png.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101826"/>
                </a:solidFill>
                <a:latin typeface="Segoe UI"/>
              </a:rPr>
              <a:t>Everything here is reproducible</a:t>
            </a:r>
          </a:p>
          <a:p>
            <a:pPr>
              <a:spcAft>
                <a:spcPts val="0"/>
              </a:spcAft>
            </a:pPr>
            <a:r>
              <a:rPr sz="1350" b="0">
                <a:solidFill>
                  <a:srgbClr val="1B5FAF"/>
                </a:solidFill>
                <a:latin typeface="Segoe UI"/>
              </a:rPr>
              <a:t>And attributable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1371600" cy="38100"/>
          </a:xfrm>
          <a:prstGeom prst="rect">
            <a:avLst/>
          </a:prstGeom>
          <a:solidFill>
            <a:srgbClr val="1B5F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572768"/>
            <a:ext cx="10881360" cy="1371600"/>
          </a:xfrm>
          <a:prstGeom prst="rect">
            <a:avLst/>
          </a:prstGeom>
          <a:solidFill>
            <a:srgbClr val="F1F5FA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55648"/>
            <a:ext cx="10424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B5FAF"/>
                </a:solidFill>
                <a:latin typeface="Segoe UI"/>
              </a:rPr>
              <a:t>run_review3.bat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5A6474"/>
                </a:solidFill>
                <a:latin typeface="Segoe UI"/>
              </a:rPr>
              <a:t>Unit tests, pipeline, growth models, four validations, 14 figures and 23 zone cards - one command, on cached data, in a few minutes. Every number in this deck is in outputs/review3_results.json.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3200400"/>
          <a:ext cx="10881358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6780"/>
                <a:gridCol w="6093561"/>
                <a:gridCol w="1741017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01826"/>
                          </a:solidFill>
                          <a:latin typeface="Segoe UI"/>
                        </a:rPr>
                        <a:t>Stream</a:t>
                      </a:r>
                    </a:p>
                  </a:txBody>
                  <a:tcPr marL="64008" marR="64008" marT="18288" marB="18288"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01826"/>
                          </a:solidFill>
                          <a:latin typeface="Segoe UI"/>
                        </a:rPr>
                        <a:t>Work packages</a:t>
                      </a:r>
                    </a:p>
                  </a:txBody>
                  <a:tcPr marL="64008" marR="64008" marT="18288" marB="18288"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01826"/>
                          </a:solidFill>
                          <a:latin typeface="Segoe UI"/>
                        </a:rPr>
                        <a:t>Owner</a:t>
                      </a:r>
                    </a:p>
                  </a:txBody>
                  <a:tcPr marL="64008" marR="64008" marT="18288" marB="18288">
                    <a:solidFill>
                      <a:srgbClr val="F1F5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A6474"/>
                          </a:solidFill>
                          <a:latin typeface="Segoe UI"/>
                        </a:rPr>
                        <a:t>A - pipeline, heat, results, dashboard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A6474"/>
                          </a:solidFill>
                          <a:latin typeface="Segoe UI"/>
                        </a:rPr>
                        <a:t>Observed epochs, heat-island fixes, zone cards, figures, dashboard, report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A6474"/>
                          </a:solidFill>
                          <a:latin typeface="Segoe UI"/>
                        </a:rPr>
                        <a:t>B - validation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A6474"/>
                          </a:solidFill>
                          <a:latin typeface="Segoe UI"/>
                        </a:rPr>
                        <a:t>Satellite cross-checks; Indian census, economic census and district GDP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A6474"/>
                          </a:solidFill>
                          <a:latin typeface="Segoe UI"/>
                        </a:rPr>
                        <a:t>C - models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A6474"/>
                          </a:solidFill>
                          <a:latin typeface="Segoe UI"/>
                        </a:rPr>
                        <a:t>Typology rule and hold-out test; logistic regression, random forest, projections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4983480"/>
            <a:ext cx="10881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5A6474"/>
                </a:solidFill>
                <a:latin typeface="Segoe UI"/>
              </a:rPr>
              <a:t>Owners are filled in CONTRIBUTIONS.md; each owner re-runs, explains and presents their own part. AI assistance is acknowledged there, as the project guidelines require.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101826"/>
                </a:solidFill>
                <a:latin typeface="Segoe UI"/>
              </a:rPr>
              <a:t>Questions we expect: why the 2025 epoch mattered; why the heat result reversed; why the forest wins on Figure of Merit but loses on AUC; what the ghost flag can and cannot claim.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