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8" d="100"/>
          <a:sy n="98" d="100"/>
        </p:scale>
        <p:origin x="82" y="1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truecolour.png"/>
          <p:cNvPicPr>
            <a:picLocks noChangeAspect="1"/>
          </p:cNvPicPr>
          <p:nvPr/>
        </p:nvPicPr>
        <p:blipFill>
          <a:blip r:embed="rId2"/>
          <a:stretch>
            <a:fillRect/>
          </a:stretch>
        </p:blipFill>
        <p:spPr>
          <a:xfrm>
            <a:off x="6888175" y="1148262"/>
            <a:ext cx="5303520" cy="4561475"/>
          </a:xfrm>
          <a:prstGeom prst="rect">
            <a:avLst/>
          </a:prstGeom>
          <a:ln>
            <a:solidFill/>
          </a:ln>
        </p:spPr>
      </p:pic>
      <p:sp>
        <p:nvSpPr>
          <p:cNvPr id="4" name="TextBox 3"/>
          <p:cNvSpPr txBox="1"/>
          <p:nvPr/>
        </p:nvSpPr>
        <p:spPr>
          <a:xfrm>
            <a:off x="731520" y="1371600"/>
            <a:ext cx="6035040" cy="5365571"/>
          </a:xfrm>
          <a:prstGeom prst="rect">
            <a:avLst/>
          </a:prstGeom>
          <a:noFill/>
          <a:ln>
            <a:solidFill/>
          </a:ln>
        </p:spPr>
        <p:txBody>
          <a:bodyPr wrap="square">
            <a:spAutoFit/>
          </a:bodyPr>
          <a:lstStyle/>
          <a:p>
            <a:pPr algn="l">
              <a:spcAft>
                <a:spcPts val="0"/>
              </a:spcAft>
            </a:pPr>
            <a:r>
              <a:rPr sz="3400" b="1" dirty="0">
                <a:solidFill>
                  <a:srgbClr val="101826"/>
                </a:solidFill>
                <a:latin typeface="Segoe UI"/>
              </a:rPr>
              <a:t>Satellite-Based Urban Growth and</a:t>
            </a:r>
          </a:p>
          <a:p>
            <a:pPr>
              <a:spcAft>
                <a:spcPts val="1000"/>
              </a:spcAft>
            </a:pPr>
            <a:r>
              <a:rPr sz="3400" b="1" dirty="0">
                <a:solidFill>
                  <a:srgbClr val="101826"/>
                </a:solidFill>
                <a:latin typeface="Segoe UI"/>
              </a:rPr>
              <a:t>Economic Activity Intelligence System</a:t>
            </a:r>
          </a:p>
          <a:p>
            <a:pPr>
              <a:spcAft>
                <a:spcPts val="2600"/>
              </a:spcAft>
            </a:pPr>
            <a:r>
              <a:rPr sz="1600" b="0" dirty="0">
                <a:solidFill>
                  <a:srgbClr val="1B5FAF"/>
                </a:solidFill>
                <a:latin typeface="Segoe UI"/>
              </a:rPr>
              <a:t>Detecting built-but-inactive development from open satellite data</a:t>
            </a:r>
          </a:p>
          <a:p>
            <a:pPr>
              <a:spcAft>
                <a:spcPts val="3000"/>
              </a:spcAft>
            </a:pPr>
            <a:r>
              <a:rPr sz="1500" b="0" dirty="0">
                <a:solidFill>
                  <a:srgbClr val="5A6474"/>
                </a:solidFill>
                <a:latin typeface="Segoe UI"/>
              </a:rPr>
              <a:t>Case study:  Varanasi, Uttar Pradesh</a:t>
            </a:r>
          </a:p>
          <a:p>
            <a:pPr>
              <a:spcAft>
                <a:spcPts val="400"/>
              </a:spcAft>
            </a:pPr>
            <a:r>
              <a:rPr sz="1200" b="1" dirty="0">
                <a:solidFill>
                  <a:srgbClr val="1B5FAF"/>
                </a:solidFill>
                <a:latin typeface="Segoe UI"/>
              </a:rPr>
              <a:t>Team</a:t>
            </a:r>
          </a:p>
          <a:p>
            <a:pPr>
              <a:spcAft>
                <a:spcPts val="300"/>
              </a:spcAft>
            </a:pPr>
            <a:r>
              <a:rPr lang="en-US" sz="1500" b="0" dirty="0">
                <a:solidFill>
                  <a:srgbClr val="101826"/>
                </a:solidFill>
                <a:latin typeface="Segoe UI"/>
              </a:rPr>
              <a:t>Mayank</a:t>
            </a:r>
            <a:r>
              <a:rPr sz="1500" b="0" dirty="0">
                <a:solidFill>
                  <a:srgbClr val="101826"/>
                </a:solidFill>
                <a:latin typeface="Segoe UI"/>
              </a:rPr>
              <a:t>  —  </a:t>
            </a:r>
            <a:r>
              <a:rPr lang="en-US" sz="1500" dirty="0">
                <a:solidFill>
                  <a:srgbClr val="101826"/>
                </a:solidFill>
                <a:latin typeface="Segoe UI"/>
              </a:rPr>
              <a:t>23BCE1753</a:t>
            </a:r>
            <a:endParaRPr sz="1500" b="0" dirty="0">
              <a:solidFill>
                <a:srgbClr val="E6EDF3"/>
              </a:solidFill>
              <a:latin typeface="Segoe UI"/>
            </a:endParaRPr>
          </a:p>
          <a:p>
            <a:pPr>
              <a:spcAft>
                <a:spcPts val="300"/>
              </a:spcAft>
            </a:pPr>
            <a:r>
              <a:rPr lang="en-US" sz="1500" dirty="0">
                <a:solidFill>
                  <a:srgbClr val="101826"/>
                </a:solidFill>
                <a:latin typeface="Segoe UI"/>
              </a:rPr>
              <a:t>Achal Pramod Tripathi</a:t>
            </a:r>
            <a:r>
              <a:rPr sz="1500" b="0" dirty="0">
                <a:solidFill>
                  <a:srgbClr val="101826"/>
                </a:solidFill>
                <a:latin typeface="Segoe UI"/>
              </a:rPr>
              <a:t>  —  </a:t>
            </a:r>
            <a:r>
              <a:rPr lang="en-US" sz="1500" dirty="0">
                <a:solidFill>
                  <a:srgbClr val="101826"/>
                </a:solidFill>
                <a:latin typeface="Segoe UI"/>
              </a:rPr>
              <a:t>23BCE1734</a:t>
            </a:r>
            <a:endParaRPr sz="1500" b="0" dirty="0">
              <a:solidFill>
                <a:srgbClr val="E6EDF3"/>
              </a:solidFill>
              <a:latin typeface="Segoe UI"/>
            </a:endParaRPr>
          </a:p>
          <a:p>
            <a:pPr>
              <a:spcAft>
                <a:spcPts val="1400"/>
              </a:spcAft>
            </a:pPr>
            <a:r>
              <a:rPr lang="en-US" sz="1500" dirty="0">
                <a:solidFill>
                  <a:srgbClr val="101826"/>
                </a:solidFill>
                <a:latin typeface="Segoe UI"/>
              </a:rPr>
              <a:t>Mohammad Owais</a:t>
            </a:r>
            <a:r>
              <a:rPr sz="1500" b="0" dirty="0">
                <a:solidFill>
                  <a:srgbClr val="101826"/>
                </a:solidFill>
                <a:latin typeface="Segoe UI"/>
              </a:rPr>
              <a:t>  —  </a:t>
            </a:r>
            <a:r>
              <a:rPr lang="en-US" sz="1500" dirty="0">
                <a:solidFill>
                  <a:srgbClr val="101826"/>
                </a:solidFill>
                <a:latin typeface="Segoe UI"/>
              </a:rPr>
              <a:t>23BCE1746</a:t>
            </a:r>
            <a:endParaRPr sz="1500" b="0" dirty="0">
              <a:solidFill>
                <a:srgbClr val="E6EDF3"/>
              </a:solidFill>
              <a:latin typeface="Segoe UI"/>
            </a:endParaRPr>
          </a:p>
          <a:p>
            <a:pPr>
              <a:spcAft>
                <a:spcPts val="200"/>
              </a:spcAft>
            </a:pPr>
            <a:r>
              <a:rPr sz="1300" b="0" dirty="0">
                <a:solidFill>
                  <a:srgbClr val="5A6474"/>
                </a:solidFill>
                <a:latin typeface="Segoe UI"/>
              </a:rPr>
              <a:t>Guide:  </a:t>
            </a:r>
            <a:r>
              <a:rPr lang="en-US" sz="1300" dirty="0">
                <a:solidFill>
                  <a:srgbClr val="5A6474"/>
                </a:solidFill>
                <a:latin typeface="Segoe UI"/>
              </a:rPr>
              <a:t>Joshan</a:t>
            </a:r>
            <a:r>
              <a:rPr sz="1300" b="0" dirty="0">
                <a:solidFill>
                  <a:srgbClr val="5A6474"/>
                </a:solidFill>
                <a:latin typeface="Segoe UI"/>
              </a:rPr>
              <a:t>     ·     BCSE497J Project I</a:t>
            </a:r>
          </a:p>
          <a:p>
            <a:pPr>
              <a:spcAft>
                <a:spcPts val="0"/>
              </a:spcAft>
            </a:pPr>
            <a:r>
              <a:rPr sz="1300" b="0" dirty="0">
                <a:solidFill>
                  <a:srgbClr val="5A6474"/>
                </a:solidFill>
                <a:latin typeface="Segoe UI"/>
              </a:rPr>
              <a:t>School of Computer Science and Engineering  ·  Fall 2026–27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a:ln>
            <a:solidFill/>
          </a:ln>
        </p:spPr>
        <p:txBody>
          <a:bodyPr wrap="square">
            <a:spAutoFit/>
          </a:bodyPr>
          <a:lstStyle/>
          <a:p>
            <a:pPr algn="l">
              <a:spcAft>
                <a:spcPts val="200"/>
              </a:spcAft>
            </a:pPr>
            <a:r>
              <a:rPr sz="3000" b="1">
                <a:solidFill>
                  <a:srgbClr val="101826"/>
                </a:solidFill>
                <a:latin typeface="Segoe UI"/>
              </a:rPr>
              <a:t>Literature Review  ·  1 of 3</a:t>
            </a:r>
          </a:p>
          <a:p>
            <a:pPr>
              <a:spcAft>
                <a:spcPts val="0"/>
              </a:spcAft>
            </a:pPr>
            <a:r>
              <a:rPr sz="1350" b="0">
                <a:solidFill>
                  <a:srgbClr val="1B5FAF"/>
                </a:solidFill>
                <a:latin typeface="Segoe UI"/>
              </a:rPr>
              <a:t>Nighttime light as a proxy for human activity  —  20 papers reviewed, 19 from 2020 onward</a:t>
            </a:r>
          </a:p>
        </p:txBody>
      </p:sp>
      <p:sp>
        <p:nvSpPr>
          <p:cNvPr id="4" name="Rectangle 3"/>
          <p:cNvSpPr/>
          <p:nvPr/>
        </p:nvSpPr>
        <p:spPr>
          <a:xfrm>
            <a:off x="640080" y="1298448"/>
            <a:ext cx="1371600" cy="38100"/>
          </a:xfrm>
          <a:prstGeom prst="rect">
            <a:avLst/>
          </a:prstGeom>
          <a:solidFill>
            <a:srgbClr val="1B5FA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572768"/>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82496"/>
            <a:ext cx="4846320" cy="566928"/>
          </a:xfrm>
          <a:prstGeom prst="rect">
            <a:avLst/>
          </a:prstGeom>
          <a:noFill/>
          <a:ln>
            <a:solidFill/>
          </a:ln>
        </p:spPr>
        <p:txBody>
          <a:bodyPr wrap="square">
            <a:spAutoFit/>
          </a:bodyPr>
          <a:lstStyle/>
          <a:p>
            <a:pPr algn="l">
              <a:spcAft>
                <a:spcPts val="200"/>
              </a:spcAft>
            </a:pPr>
            <a:r>
              <a:rPr sz="1250" b="1">
                <a:solidFill>
                  <a:srgbClr val="101826"/>
                </a:solidFill>
                <a:latin typeface="Segoe UI"/>
              </a:rPr>
              <a:t>A global annual simulated VIIRS nighttime light dataset from 1992 to 2023</a:t>
            </a:r>
          </a:p>
        </p:txBody>
      </p:sp>
      <p:sp>
        <p:nvSpPr>
          <p:cNvPr id="7" name="TextBox 6"/>
          <p:cNvSpPr txBox="1"/>
          <p:nvPr/>
        </p:nvSpPr>
        <p:spPr>
          <a:xfrm>
            <a:off x="822960" y="2231136"/>
            <a:ext cx="4846320" cy="237744"/>
          </a:xfrm>
          <a:prstGeom prst="rect">
            <a:avLst/>
          </a:prstGeom>
          <a:noFill/>
          <a:ln>
            <a:solidFill/>
          </a:ln>
        </p:spPr>
        <p:txBody>
          <a:bodyPr wrap="square">
            <a:spAutoFit/>
          </a:bodyPr>
          <a:lstStyle/>
          <a:p>
            <a:pPr algn="l">
              <a:spcAft>
                <a:spcPts val="0"/>
              </a:spcAft>
            </a:pPr>
            <a:r>
              <a:rPr sz="1050" b="1">
                <a:solidFill>
                  <a:srgbClr val="1B5FAF"/>
                </a:solidFill>
                <a:latin typeface="Segoe UI"/>
              </a:rPr>
              <a:t>Chen, X. et al.  ·  2024  ·  Scientific Data</a:t>
            </a:r>
          </a:p>
        </p:txBody>
      </p:sp>
      <p:sp>
        <p:nvSpPr>
          <p:cNvPr id="8" name="TextBox 7"/>
          <p:cNvSpPr txBox="1"/>
          <p:nvPr/>
        </p:nvSpPr>
        <p:spPr>
          <a:xfrm>
            <a:off x="822960" y="2487168"/>
            <a:ext cx="4846320" cy="822960"/>
          </a:xfrm>
          <a:prstGeom prst="rect">
            <a:avLst/>
          </a:prstGeom>
          <a:noFill/>
          <a:ln>
            <a:solidFill/>
          </a:ln>
        </p:spPr>
        <p:txBody>
          <a:bodyPr wrap="square">
            <a:spAutoFit/>
          </a:bodyPr>
          <a:lstStyle/>
          <a:p>
            <a:pPr algn="l"/>
            <a:r>
              <a:rPr sz="1050" b="1">
                <a:solidFill>
                  <a:srgbClr val="5A6474"/>
                </a:solidFill>
                <a:latin typeface="Segoe UI"/>
              </a:rPr>
              <a:t>Method  </a:t>
            </a:r>
            <a:r>
              <a:rPr sz="1050">
                <a:solidFill>
                  <a:srgbClr val="5A6474"/>
                </a:solidFill>
                <a:latin typeface="Segoe UI"/>
              </a:rPr>
              <a:t>U-Net convolutional network reframed as image super-resolution, using Landsat NDVI as a second input.</a:t>
            </a:r>
          </a:p>
          <a:p>
            <a:pPr>
              <a:spcBef>
                <a:spcPts val="400"/>
              </a:spcBef>
            </a:pPr>
            <a:r>
              <a:rPr sz="1050" b="1">
                <a:solidFill>
                  <a:srgbClr val="B26A00"/>
                </a:solidFill>
                <a:latin typeface="Segoe UI"/>
              </a:rPr>
              <a:t>Result  </a:t>
            </a:r>
            <a:r>
              <a:rPr sz="1050">
                <a:solidFill>
                  <a:srgbClr val="101826"/>
                </a:solidFill>
                <a:latin typeface="Segoe UI"/>
              </a:rPr>
              <a:t>R² 0.617 per pixel rising to 0.964 per country. Error concentrates at the urban fringe.</a:t>
            </a:r>
          </a:p>
        </p:txBody>
      </p:sp>
      <p:sp>
        <p:nvSpPr>
          <p:cNvPr id="9" name="Rectangle 8"/>
          <p:cNvSpPr/>
          <p:nvPr/>
        </p:nvSpPr>
        <p:spPr>
          <a:xfrm>
            <a:off x="6309360" y="1572768"/>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682496"/>
            <a:ext cx="4846320" cy="566928"/>
          </a:xfrm>
          <a:prstGeom prst="rect">
            <a:avLst/>
          </a:prstGeom>
          <a:noFill/>
          <a:ln>
            <a:solidFill/>
          </a:ln>
        </p:spPr>
        <p:txBody>
          <a:bodyPr wrap="square">
            <a:spAutoFit/>
          </a:bodyPr>
          <a:lstStyle/>
          <a:p>
            <a:pPr algn="l">
              <a:spcAft>
                <a:spcPts val="200"/>
              </a:spcAft>
            </a:pPr>
            <a:r>
              <a:rPr sz="1250" b="1">
                <a:solidFill>
                  <a:srgbClr val="101826"/>
                </a:solidFill>
                <a:latin typeface="Segoe UI"/>
              </a:rPr>
              <a:t>An extended time series (2000–2018) of global NPP-VIIRS-like nighttime light data</a:t>
            </a:r>
          </a:p>
        </p:txBody>
      </p:sp>
      <p:sp>
        <p:nvSpPr>
          <p:cNvPr id="11" name="TextBox 10"/>
          <p:cNvSpPr txBox="1"/>
          <p:nvPr/>
        </p:nvSpPr>
        <p:spPr>
          <a:xfrm>
            <a:off x="6492240" y="2231136"/>
            <a:ext cx="4846320" cy="237744"/>
          </a:xfrm>
          <a:prstGeom prst="rect">
            <a:avLst/>
          </a:prstGeom>
          <a:noFill/>
          <a:ln>
            <a:solidFill/>
          </a:ln>
        </p:spPr>
        <p:txBody>
          <a:bodyPr wrap="square">
            <a:spAutoFit/>
          </a:bodyPr>
          <a:lstStyle/>
          <a:p>
            <a:pPr algn="l">
              <a:spcAft>
                <a:spcPts val="0"/>
              </a:spcAft>
            </a:pPr>
            <a:r>
              <a:rPr sz="1050" b="1">
                <a:solidFill>
                  <a:srgbClr val="1B5FAF"/>
                </a:solidFill>
                <a:latin typeface="Segoe UI"/>
              </a:rPr>
              <a:t>Chen, Z. et al.  ·  2021  ·  Earth System Science Data</a:t>
            </a:r>
          </a:p>
        </p:txBody>
      </p:sp>
      <p:sp>
        <p:nvSpPr>
          <p:cNvPr id="12" name="TextBox 11"/>
          <p:cNvSpPr txBox="1"/>
          <p:nvPr/>
        </p:nvSpPr>
        <p:spPr>
          <a:xfrm>
            <a:off x="6492240" y="2487168"/>
            <a:ext cx="4846320" cy="822960"/>
          </a:xfrm>
          <a:prstGeom prst="rect">
            <a:avLst/>
          </a:prstGeom>
          <a:noFill/>
          <a:ln>
            <a:solidFill/>
          </a:ln>
        </p:spPr>
        <p:txBody>
          <a:bodyPr wrap="square">
            <a:spAutoFit/>
          </a:bodyPr>
          <a:lstStyle/>
          <a:p>
            <a:pPr algn="l"/>
            <a:r>
              <a:rPr sz="1050" b="1">
                <a:solidFill>
                  <a:srgbClr val="5A6474"/>
                </a:solidFill>
                <a:latin typeface="Segoe UI"/>
              </a:rPr>
              <a:t>Method  </a:t>
            </a:r>
            <a:r>
              <a:rPr sz="1050">
                <a:solidFill>
                  <a:srgbClr val="5A6474"/>
                </a:solidFill>
                <a:latin typeface="Segoe UI"/>
              </a:rPr>
              <a:t>Auto-encoder neural network combined with a vegetation index to break sensor saturation.</a:t>
            </a:r>
          </a:p>
          <a:p>
            <a:pPr>
              <a:spcBef>
                <a:spcPts val="400"/>
              </a:spcBef>
            </a:pPr>
            <a:r>
              <a:rPr sz="1050" b="1">
                <a:solidFill>
                  <a:srgbClr val="B26A00"/>
                </a:solidFill>
                <a:latin typeface="Segoe UI"/>
              </a:rPr>
              <a:t>Result  </a:t>
            </a:r>
            <a:r>
              <a:rPr sz="1050">
                <a:solidFill>
                  <a:srgbClr val="101826"/>
                </a:solidFill>
                <a:latin typeface="Segoe UI"/>
              </a:rPr>
              <a:t>R² 0.87 per pixel, 0.95 per city, validated on 150,000 random pixels.</a:t>
            </a:r>
          </a:p>
        </p:txBody>
      </p:sp>
      <p:sp>
        <p:nvSpPr>
          <p:cNvPr id="13" name="Rectangle 12"/>
          <p:cNvSpPr/>
          <p:nvPr/>
        </p:nvSpPr>
        <p:spPr>
          <a:xfrm>
            <a:off x="640080" y="3913632"/>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4023360"/>
            <a:ext cx="4846320" cy="566928"/>
          </a:xfrm>
          <a:prstGeom prst="rect">
            <a:avLst/>
          </a:prstGeom>
          <a:noFill/>
          <a:ln>
            <a:solidFill/>
          </a:ln>
        </p:spPr>
        <p:txBody>
          <a:bodyPr wrap="square">
            <a:spAutoFit/>
          </a:bodyPr>
          <a:lstStyle/>
          <a:p>
            <a:pPr algn="l">
              <a:spcAft>
                <a:spcPts val="200"/>
              </a:spcAft>
            </a:pPr>
            <a:r>
              <a:rPr sz="1250" b="1">
                <a:solidFill>
                  <a:srgbClr val="101826"/>
                </a:solidFill>
                <a:latin typeface="Segoe UI"/>
              </a:rPr>
              <a:t>Cross-Sensor Nighttime Lights Image Calibration with Residual U-Net</a:t>
            </a:r>
          </a:p>
        </p:txBody>
      </p:sp>
      <p:sp>
        <p:nvSpPr>
          <p:cNvPr id="15" name="TextBox 14"/>
          <p:cNvSpPr txBox="1"/>
          <p:nvPr/>
        </p:nvSpPr>
        <p:spPr>
          <a:xfrm>
            <a:off x="822960" y="4572000"/>
            <a:ext cx="4846320" cy="237744"/>
          </a:xfrm>
          <a:prstGeom prst="rect">
            <a:avLst/>
          </a:prstGeom>
          <a:noFill/>
          <a:ln>
            <a:solidFill/>
          </a:ln>
        </p:spPr>
        <p:txBody>
          <a:bodyPr wrap="square">
            <a:spAutoFit/>
          </a:bodyPr>
          <a:lstStyle/>
          <a:p>
            <a:pPr algn="l">
              <a:spcAft>
                <a:spcPts val="0"/>
              </a:spcAft>
            </a:pPr>
            <a:r>
              <a:rPr sz="1050" b="1">
                <a:solidFill>
                  <a:srgbClr val="1B5FAF"/>
                </a:solidFill>
                <a:latin typeface="Segoe UI"/>
              </a:rPr>
              <a:t>Nechaev, D. et al.  ·  2021  ·  Remote Sensing</a:t>
            </a:r>
          </a:p>
        </p:txBody>
      </p:sp>
      <p:sp>
        <p:nvSpPr>
          <p:cNvPr id="16" name="TextBox 15"/>
          <p:cNvSpPr txBox="1"/>
          <p:nvPr/>
        </p:nvSpPr>
        <p:spPr>
          <a:xfrm>
            <a:off x="822960" y="4828032"/>
            <a:ext cx="4846320" cy="822960"/>
          </a:xfrm>
          <a:prstGeom prst="rect">
            <a:avLst/>
          </a:prstGeom>
          <a:noFill/>
          <a:ln>
            <a:solidFill/>
          </a:ln>
        </p:spPr>
        <p:txBody>
          <a:bodyPr wrap="square">
            <a:spAutoFit/>
          </a:bodyPr>
          <a:lstStyle/>
          <a:p>
            <a:pPr algn="l"/>
            <a:r>
              <a:rPr sz="1050" b="1">
                <a:solidFill>
                  <a:srgbClr val="5A6474"/>
                </a:solidFill>
                <a:latin typeface="Segoe UI"/>
              </a:rPr>
              <a:t>Method  </a:t>
            </a:r>
            <a:r>
              <a:rPr sz="1050">
                <a:solidFill>
                  <a:srgbClr val="5A6474"/>
                </a:solidFill>
                <a:latin typeface="Segoe UI"/>
              </a:rPr>
              <a:t>Residual U-Net converting the newer sensor back to match the older one — the easy direction.</a:t>
            </a:r>
          </a:p>
          <a:p>
            <a:pPr>
              <a:spcBef>
                <a:spcPts val="400"/>
              </a:spcBef>
            </a:pPr>
            <a:r>
              <a:rPr sz="1050" b="1">
                <a:solidFill>
                  <a:srgbClr val="B26A00"/>
                </a:solidFill>
                <a:latin typeface="Segoe UI"/>
              </a:rPr>
              <a:t>Result  </a:t>
            </a:r>
            <a:r>
              <a:rPr sz="1050">
                <a:solidFill>
                  <a:srgbClr val="101826"/>
                </a:solidFill>
                <a:latin typeface="Segoe UI"/>
              </a:rPr>
              <a:t>R² 0.94–0.99. Confirms the reverse direction is what is genuinely hard.</a:t>
            </a:r>
          </a:p>
        </p:txBody>
      </p:sp>
      <p:sp>
        <p:nvSpPr>
          <p:cNvPr id="17" name="Rectangle 16"/>
          <p:cNvSpPr/>
          <p:nvPr/>
        </p:nvSpPr>
        <p:spPr>
          <a:xfrm>
            <a:off x="6309360" y="3913632"/>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4023360"/>
            <a:ext cx="4846320" cy="566928"/>
          </a:xfrm>
          <a:prstGeom prst="rect">
            <a:avLst/>
          </a:prstGeom>
          <a:noFill/>
          <a:ln>
            <a:solidFill/>
          </a:ln>
        </p:spPr>
        <p:txBody>
          <a:bodyPr wrap="square">
            <a:spAutoFit/>
          </a:bodyPr>
          <a:lstStyle/>
          <a:p>
            <a:pPr algn="l">
              <a:spcAft>
                <a:spcPts val="200"/>
              </a:spcAft>
            </a:pPr>
            <a:r>
              <a:rPr sz="1250" b="1">
                <a:solidFill>
                  <a:srgbClr val="101826"/>
                </a:solidFill>
                <a:latin typeface="Segoe UI"/>
              </a:rPr>
              <a:t>A Prolonged Artificial Nighttime-light Dataset of China (1984–2020)</a:t>
            </a:r>
          </a:p>
        </p:txBody>
      </p:sp>
      <p:sp>
        <p:nvSpPr>
          <p:cNvPr id="19" name="TextBox 18"/>
          <p:cNvSpPr txBox="1"/>
          <p:nvPr/>
        </p:nvSpPr>
        <p:spPr>
          <a:xfrm>
            <a:off x="6492240" y="4572000"/>
            <a:ext cx="4846320" cy="237744"/>
          </a:xfrm>
          <a:prstGeom prst="rect">
            <a:avLst/>
          </a:prstGeom>
          <a:noFill/>
          <a:ln>
            <a:solidFill/>
          </a:ln>
        </p:spPr>
        <p:txBody>
          <a:bodyPr wrap="square">
            <a:spAutoFit/>
          </a:bodyPr>
          <a:lstStyle/>
          <a:p>
            <a:pPr algn="l">
              <a:spcAft>
                <a:spcPts val="0"/>
              </a:spcAft>
            </a:pPr>
            <a:r>
              <a:rPr sz="1050" b="1">
                <a:solidFill>
                  <a:srgbClr val="1B5FAF"/>
                </a:solidFill>
                <a:latin typeface="Segoe UI"/>
              </a:rPr>
              <a:t>Zhang, L. et al.  ·  2024  ·  Scientific Data</a:t>
            </a:r>
          </a:p>
        </p:txBody>
      </p:sp>
      <p:sp>
        <p:nvSpPr>
          <p:cNvPr id="20" name="TextBox 19"/>
          <p:cNvSpPr txBox="1"/>
          <p:nvPr/>
        </p:nvSpPr>
        <p:spPr>
          <a:xfrm>
            <a:off x="6492240" y="4828032"/>
            <a:ext cx="4846320" cy="822960"/>
          </a:xfrm>
          <a:prstGeom prst="rect">
            <a:avLst/>
          </a:prstGeom>
          <a:noFill/>
          <a:ln>
            <a:solidFill/>
          </a:ln>
        </p:spPr>
        <p:txBody>
          <a:bodyPr wrap="square">
            <a:spAutoFit/>
          </a:bodyPr>
          <a:lstStyle/>
          <a:p>
            <a:pPr algn="l"/>
            <a:r>
              <a:rPr sz="1050" b="1">
                <a:solidFill>
                  <a:srgbClr val="5A6474"/>
                </a:solidFill>
                <a:latin typeface="Segoe UI"/>
              </a:rPr>
              <a:t>Method  </a:t>
            </a:r>
            <a:r>
              <a:rPr sz="1050">
                <a:solidFill>
                  <a:srgbClr val="5A6474"/>
                </a:solidFill>
                <a:latin typeface="Segoe UI"/>
              </a:rPr>
              <a:t>Convolutional Long Short-Term Memory network, learning how light changes over time.</a:t>
            </a:r>
          </a:p>
          <a:p>
            <a:pPr>
              <a:spcBef>
                <a:spcPts val="400"/>
              </a:spcBef>
            </a:pPr>
            <a:r>
              <a:rPr sz="1050" b="1">
                <a:solidFill>
                  <a:srgbClr val="B26A00"/>
                </a:solidFill>
                <a:latin typeface="Segoe UI"/>
              </a:rPr>
              <a:t>Result  </a:t>
            </a:r>
            <a:r>
              <a:rPr sz="1050">
                <a:solidFill>
                  <a:srgbClr val="101826"/>
                </a:solidFill>
                <a:latin typeface="Segoe UI"/>
              </a:rPr>
              <a:t>RMSE 0.73, R² 0.95. Scores higher because it never crosses between two sensors.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a:ln>
            <a:solidFill/>
          </a:ln>
        </p:spPr>
        <p:txBody>
          <a:bodyPr wrap="square">
            <a:spAutoFit/>
          </a:bodyPr>
          <a:lstStyle/>
          <a:p>
            <a:pPr algn="l">
              <a:spcAft>
                <a:spcPts val="200"/>
              </a:spcAft>
            </a:pPr>
            <a:r>
              <a:rPr sz="3000" b="1">
                <a:solidFill>
                  <a:srgbClr val="101826"/>
                </a:solidFill>
                <a:latin typeface="Segoe UI"/>
              </a:rPr>
              <a:t>Literature Review  ·  2 of 3</a:t>
            </a:r>
          </a:p>
          <a:p>
            <a:pPr>
              <a:spcAft>
                <a:spcPts val="0"/>
              </a:spcAft>
            </a:pPr>
            <a:r>
              <a:rPr sz="1350" b="0">
                <a:solidFill>
                  <a:srgbClr val="1B5FAF"/>
                </a:solidFill>
                <a:latin typeface="Segoe UI"/>
              </a:rPr>
              <a:t>Measuring built-up extent, and inferring whether it is used</a:t>
            </a:r>
          </a:p>
        </p:txBody>
      </p:sp>
      <p:sp>
        <p:nvSpPr>
          <p:cNvPr id="4" name="Rectangle 3"/>
          <p:cNvSpPr/>
          <p:nvPr/>
        </p:nvSpPr>
        <p:spPr>
          <a:xfrm>
            <a:off x="640080" y="1298448"/>
            <a:ext cx="1371600" cy="38100"/>
          </a:xfrm>
          <a:prstGeom prst="rect">
            <a:avLst/>
          </a:prstGeom>
          <a:solidFill>
            <a:srgbClr val="1B5FA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572768"/>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82496"/>
            <a:ext cx="4846320" cy="566928"/>
          </a:xfrm>
          <a:prstGeom prst="rect">
            <a:avLst/>
          </a:prstGeom>
          <a:noFill/>
          <a:ln>
            <a:solidFill/>
          </a:ln>
        </p:spPr>
        <p:txBody>
          <a:bodyPr wrap="square">
            <a:spAutoFit/>
          </a:bodyPr>
          <a:lstStyle/>
          <a:p>
            <a:pPr algn="l">
              <a:spcAft>
                <a:spcPts val="200"/>
              </a:spcAft>
            </a:pPr>
            <a:r>
              <a:rPr sz="1250" b="1">
                <a:solidFill>
                  <a:srgbClr val="101826"/>
                </a:solidFill>
                <a:latin typeface="Segoe UI"/>
              </a:rPr>
              <a:t>Using Landsat and nighttime lights for supervised pixel-based image classification</a:t>
            </a:r>
          </a:p>
        </p:txBody>
      </p:sp>
      <p:sp>
        <p:nvSpPr>
          <p:cNvPr id="7" name="TextBox 6"/>
          <p:cNvSpPr txBox="1"/>
          <p:nvPr/>
        </p:nvSpPr>
        <p:spPr>
          <a:xfrm>
            <a:off x="822960" y="2231136"/>
            <a:ext cx="4846320" cy="237744"/>
          </a:xfrm>
          <a:prstGeom prst="rect">
            <a:avLst/>
          </a:prstGeom>
          <a:noFill/>
          <a:ln>
            <a:solidFill/>
          </a:ln>
        </p:spPr>
        <p:txBody>
          <a:bodyPr wrap="square">
            <a:spAutoFit/>
          </a:bodyPr>
          <a:lstStyle/>
          <a:p>
            <a:pPr algn="l">
              <a:spcAft>
                <a:spcPts val="0"/>
              </a:spcAft>
            </a:pPr>
            <a:r>
              <a:rPr sz="1050" b="1">
                <a:solidFill>
                  <a:srgbClr val="1B5FAF"/>
                </a:solidFill>
                <a:latin typeface="Segoe UI"/>
              </a:rPr>
              <a:t>Goldblatt, R. et al.  ·  2018  ·  Remote Sensing of Environment</a:t>
            </a:r>
          </a:p>
        </p:txBody>
      </p:sp>
      <p:sp>
        <p:nvSpPr>
          <p:cNvPr id="8" name="TextBox 7"/>
          <p:cNvSpPr txBox="1"/>
          <p:nvPr/>
        </p:nvSpPr>
        <p:spPr>
          <a:xfrm>
            <a:off x="822960" y="2487168"/>
            <a:ext cx="4846320" cy="822960"/>
          </a:xfrm>
          <a:prstGeom prst="rect">
            <a:avLst/>
          </a:prstGeom>
          <a:noFill/>
          <a:ln>
            <a:solidFill/>
          </a:ln>
        </p:spPr>
        <p:txBody>
          <a:bodyPr wrap="square">
            <a:spAutoFit/>
          </a:bodyPr>
          <a:lstStyle/>
          <a:p>
            <a:pPr algn="l"/>
            <a:r>
              <a:rPr sz="1050" b="1">
                <a:solidFill>
                  <a:srgbClr val="5A6474"/>
                </a:solidFill>
                <a:latin typeface="Segoe UI"/>
              </a:rPr>
              <a:t>Method  </a:t>
            </a:r>
            <a:r>
              <a:rPr sz="1050">
                <a:solidFill>
                  <a:srgbClr val="5A6474"/>
                </a:solidFill>
                <a:latin typeface="Segoe UI"/>
              </a:rPr>
              <a:t>Nighttime light used to label training data automatically, avoiding hand-drawn training areas.</a:t>
            </a:r>
          </a:p>
          <a:p>
            <a:pPr>
              <a:spcBef>
                <a:spcPts val="400"/>
              </a:spcBef>
            </a:pPr>
            <a:r>
              <a:rPr sz="1050" b="1">
                <a:solidFill>
                  <a:srgbClr val="B26A00"/>
                </a:solidFill>
                <a:latin typeface="Segoe UI"/>
              </a:rPr>
              <a:t>Result  </a:t>
            </a:r>
            <a:r>
              <a:rPr sz="1050">
                <a:solidFill>
                  <a:srgbClr val="101826"/>
                </a:solidFill>
                <a:latin typeface="Segoe UI"/>
              </a:rPr>
              <a:t>80.8% balanced accuracy for India. The methodological ancestor of this project.</a:t>
            </a:r>
          </a:p>
        </p:txBody>
      </p:sp>
      <p:sp>
        <p:nvSpPr>
          <p:cNvPr id="9" name="Rectangle 8"/>
          <p:cNvSpPr/>
          <p:nvPr/>
        </p:nvSpPr>
        <p:spPr>
          <a:xfrm>
            <a:off x="6309360" y="1572768"/>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682496"/>
            <a:ext cx="4846320" cy="566928"/>
          </a:xfrm>
          <a:prstGeom prst="rect">
            <a:avLst/>
          </a:prstGeom>
          <a:noFill/>
          <a:ln>
            <a:solidFill/>
          </a:ln>
        </p:spPr>
        <p:txBody>
          <a:bodyPr wrap="square">
            <a:spAutoFit/>
          </a:bodyPr>
          <a:lstStyle/>
          <a:p>
            <a:pPr algn="l">
              <a:spcAft>
                <a:spcPts val="200"/>
              </a:spcAft>
            </a:pPr>
            <a:r>
              <a:rPr sz="1250" b="1">
                <a:solidFill>
                  <a:srgbClr val="101826"/>
                </a:solidFill>
                <a:latin typeface="Segoe UI"/>
              </a:rPr>
              <a:t>Continental-Scale Building Detection from High Resolution Satellite Imagery</a:t>
            </a:r>
          </a:p>
        </p:txBody>
      </p:sp>
      <p:sp>
        <p:nvSpPr>
          <p:cNvPr id="11" name="TextBox 10"/>
          <p:cNvSpPr txBox="1"/>
          <p:nvPr/>
        </p:nvSpPr>
        <p:spPr>
          <a:xfrm>
            <a:off x="6492240" y="2231136"/>
            <a:ext cx="4846320" cy="237744"/>
          </a:xfrm>
          <a:prstGeom prst="rect">
            <a:avLst/>
          </a:prstGeom>
          <a:noFill/>
          <a:ln>
            <a:solidFill/>
          </a:ln>
        </p:spPr>
        <p:txBody>
          <a:bodyPr wrap="square">
            <a:spAutoFit/>
          </a:bodyPr>
          <a:lstStyle/>
          <a:p>
            <a:pPr algn="l">
              <a:spcAft>
                <a:spcPts val="0"/>
              </a:spcAft>
            </a:pPr>
            <a:r>
              <a:rPr sz="1050" b="1">
                <a:solidFill>
                  <a:srgbClr val="1B5FAF"/>
                </a:solidFill>
                <a:latin typeface="Segoe UI"/>
              </a:rPr>
              <a:t>Sirko, W. et al.  ·  2021  ·  Google Research</a:t>
            </a:r>
          </a:p>
        </p:txBody>
      </p:sp>
      <p:sp>
        <p:nvSpPr>
          <p:cNvPr id="12" name="TextBox 11"/>
          <p:cNvSpPr txBox="1"/>
          <p:nvPr/>
        </p:nvSpPr>
        <p:spPr>
          <a:xfrm>
            <a:off x="6492240" y="2487168"/>
            <a:ext cx="4846320" cy="822960"/>
          </a:xfrm>
          <a:prstGeom prst="rect">
            <a:avLst/>
          </a:prstGeom>
          <a:noFill/>
          <a:ln>
            <a:solidFill/>
          </a:ln>
        </p:spPr>
        <p:txBody>
          <a:bodyPr wrap="square">
            <a:spAutoFit/>
          </a:bodyPr>
          <a:lstStyle/>
          <a:p>
            <a:pPr algn="l"/>
            <a:r>
              <a:rPr sz="1050" b="1">
                <a:solidFill>
                  <a:srgbClr val="5A6474"/>
                </a:solidFill>
                <a:latin typeface="Segoe UI"/>
              </a:rPr>
              <a:t>Method  </a:t>
            </a:r>
            <a:r>
              <a:rPr sz="1050">
                <a:solidFill>
                  <a:srgbClr val="5A6474"/>
                </a:solidFill>
                <a:latin typeface="Segoe UI"/>
              </a:rPr>
              <a:t>U-Net on 50 cm imagery, trained on 100,000 images with 1.75 million labelled buildings.</a:t>
            </a:r>
          </a:p>
          <a:p>
            <a:pPr>
              <a:spcBef>
                <a:spcPts val="400"/>
              </a:spcBef>
            </a:pPr>
            <a:r>
              <a:rPr sz="1050" b="1">
                <a:solidFill>
                  <a:srgbClr val="B26A00"/>
                </a:solidFill>
                <a:latin typeface="Segoe UI"/>
              </a:rPr>
              <a:t>Result  </a:t>
            </a:r>
            <a:r>
              <a:rPr sz="1050">
                <a:solidFill>
                  <a:srgbClr val="101826"/>
                </a:solidFill>
                <a:latin typeface="Segoe UI"/>
              </a:rPr>
              <a:t>516 million footprints. Deeper encoders gave no gain — technique beat architecture.</a:t>
            </a:r>
          </a:p>
        </p:txBody>
      </p:sp>
      <p:sp>
        <p:nvSpPr>
          <p:cNvPr id="13" name="Rectangle 12"/>
          <p:cNvSpPr/>
          <p:nvPr/>
        </p:nvSpPr>
        <p:spPr>
          <a:xfrm>
            <a:off x="640080" y="3913632"/>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4023360"/>
            <a:ext cx="4846320" cy="566928"/>
          </a:xfrm>
          <a:prstGeom prst="rect">
            <a:avLst/>
          </a:prstGeom>
          <a:noFill/>
          <a:ln>
            <a:solidFill/>
          </a:ln>
        </p:spPr>
        <p:txBody>
          <a:bodyPr wrap="square">
            <a:spAutoFit/>
          </a:bodyPr>
          <a:lstStyle/>
          <a:p>
            <a:pPr algn="l">
              <a:spcAft>
                <a:spcPts val="200"/>
              </a:spcAft>
            </a:pPr>
            <a:r>
              <a:rPr sz="1250" b="1">
                <a:solidFill>
                  <a:srgbClr val="101826"/>
                </a:solidFill>
                <a:latin typeface="Segoe UI"/>
              </a:rPr>
              <a:t>Dynamic World, Near real-time global 10 m land use land cover mapping</a:t>
            </a:r>
          </a:p>
        </p:txBody>
      </p:sp>
      <p:sp>
        <p:nvSpPr>
          <p:cNvPr id="15" name="TextBox 14"/>
          <p:cNvSpPr txBox="1"/>
          <p:nvPr/>
        </p:nvSpPr>
        <p:spPr>
          <a:xfrm>
            <a:off x="822960" y="4572000"/>
            <a:ext cx="4846320" cy="237744"/>
          </a:xfrm>
          <a:prstGeom prst="rect">
            <a:avLst/>
          </a:prstGeom>
          <a:noFill/>
          <a:ln>
            <a:solidFill/>
          </a:ln>
        </p:spPr>
        <p:txBody>
          <a:bodyPr wrap="square">
            <a:spAutoFit/>
          </a:bodyPr>
          <a:lstStyle/>
          <a:p>
            <a:pPr algn="l">
              <a:spcAft>
                <a:spcPts val="0"/>
              </a:spcAft>
            </a:pPr>
            <a:r>
              <a:rPr sz="1050" b="1">
                <a:solidFill>
                  <a:srgbClr val="1B5FAF"/>
                </a:solidFill>
                <a:latin typeface="Segoe UI"/>
              </a:rPr>
              <a:t>Brown, C. F. et al.  ·  2022  ·  Scientific Data</a:t>
            </a:r>
          </a:p>
        </p:txBody>
      </p:sp>
      <p:sp>
        <p:nvSpPr>
          <p:cNvPr id="16" name="TextBox 15"/>
          <p:cNvSpPr txBox="1"/>
          <p:nvPr/>
        </p:nvSpPr>
        <p:spPr>
          <a:xfrm>
            <a:off x="822960" y="4828032"/>
            <a:ext cx="4846320" cy="822960"/>
          </a:xfrm>
          <a:prstGeom prst="rect">
            <a:avLst/>
          </a:prstGeom>
          <a:noFill/>
          <a:ln>
            <a:solidFill/>
          </a:ln>
        </p:spPr>
        <p:txBody>
          <a:bodyPr wrap="square">
            <a:spAutoFit/>
          </a:bodyPr>
          <a:lstStyle/>
          <a:p>
            <a:pPr algn="l"/>
            <a:r>
              <a:rPr sz="1050" b="1">
                <a:solidFill>
                  <a:srgbClr val="5A6474"/>
                </a:solidFill>
                <a:latin typeface="Segoe UI"/>
              </a:rPr>
              <a:t>Method  </a:t>
            </a:r>
            <a:r>
              <a:rPr sz="1050">
                <a:solidFill>
                  <a:srgbClr val="5A6474"/>
                </a:solidFill>
                <a:latin typeface="Segoe UI"/>
              </a:rPr>
              <a:t>Deep learning on Sentinel-2, publishing a class probability rather than one fixed label.</a:t>
            </a:r>
          </a:p>
          <a:p>
            <a:pPr>
              <a:spcBef>
                <a:spcPts val="400"/>
              </a:spcBef>
            </a:pPr>
            <a:r>
              <a:rPr sz="1050" b="1">
                <a:solidFill>
                  <a:srgbClr val="B26A00"/>
                </a:solidFill>
                <a:latin typeface="Segoe UI"/>
              </a:rPr>
              <a:t>Result  </a:t>
            </a:r>
            <a:r>
              <a:rPr sz="1050">
                <a:solidFill>
                  <a:srgbClr val="101826"/>
                </a:solidFill>
                <a:latin typeface="Segoe UI"/>
              </a:rPr>
              <a:t>First near-real-time global land cover. Supplies the water mask our heat layer needs.</a:t>
            </a:r>
          </a:p>
        </p:txBody>
      </p:sp>
      <p:sp>
        <p:nvSpPr>
          <p:cNvPr id="17" name="Rectangle 16"/>
          <p:cNvSpPr/>
          <p:nvPr/>
        </p:nvSpPr>
        <p:spPr>
          <a:xfrm>
            <a:off x="6309360" y="3913632"/>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4023360"/>
            <a:ext cx="4846320" cy="566928"/>
          </a:xfrm>
          <a:prstGeom prst="rect">
            <a:avLst/>
          </a:prstGeom>
          <a:noFill/>
          <a:ln>
            <a:solidFill/>
          </a:ln>
        </p:spPr>
        <p:txBody>
          <a:bodyPr wrap="square">
            <a:spAutoFit/>
          </a:bodyPr>
          <a:lstStyle/>
          <a:p>
            <a:pPr algn="l">
              <a:spcAft>
                <a:spcPts val="200"/>
              </a:spcAft>
            </a:pPr>
            <a:r>
              <a:rPr sz="1250" b="1">
                <a:solidFill>
                  <a:srgbClr val="101826"/>
                </a:solidFill>
                <a:latin typeface="Segoe UI"/>
              </a:rPr>
              <a:t>Inferring ghost cities on the globe in newly developed urban areas</a:t>
            </a:r>
          </a:p>
        </p:txBody>
      </p:sp>
      <p:sp>
        <p:nvSpPr>
          <p:cNvPr id="19" name="TextBox 18"/>
          <p:cNvSpPr txBox="1"/>
          <p:nvPr/>
        </p:nvSpPr>
        <p:spPr>
          <a:xfrm>
            <a:off x="6492240" y="4572000"/>
            <a:ext cx="4846320" cy="237744"/>
          </a:xfrm>
          <a:prstGeom prst="rect">
            <a:avLst/>
          </a:prstGeom>
          <a:noFill/>
          <a:ln>
            <a:solidFill/>
          </a:ln>
        </p:spPr>
        <p:txBody>
          <a:bodyPr wrap="square">
            <a:spAutoFit/>
          </a:bodyPr>
          <a:lstStyle/>
          <a:p>
            <a:pPr algn="l">
              <a:spcAft>
                <a:spcPts val="0"/>
              </a:spcAft>
            </a:pPr>
            <a:r>
              <a:rPr sz="1050" b="1">
                <a:solidFill>
                  <a:srgbClr val="1B5FAF"/>
                </a:solidFill>
                <a:latin typeface="Segoe UI"/>
              </a:rPr>
              <a:t>Zhang, Y., Tu, T. &amp; Long, Y.  ·  2024  ·  Cities</a:t>
            </a:r>
          </a:p>
        </p:txBody>
      </p:sp>
      <p:sp>
        <p:nvSpPr>
          <p:cNvPr id="20" name="TextBox 19"/>
          <p:cNvSpPr txBox="1"/>
          <p:nvPr/>
        </p:nvSpPr>
        <p:spPr>
          <a:xfrm>
            <a:off x="6492240" y="4828032"/>
            <a:ext cx="4846320" cy="822960"/>
          </a:xfrm>
          <a:prstGeom prst="rect">
            <a:avLst/>
          </a:prstGeom>
          <a:noFill/>
          <a:ln>
            <a:solidFill/>
          </a:ln>
        </p:spPr>
        <p:txBody>
          <a:bodyPr wrap="square">
            <a:spAutoFit/>
          </a:bodyPr>
          <a:lstStyle/>
          <a:p>
            <a:pPr algn="l"/>
            <a:r>
              <a:rPr sz="1050" b="1">
                <a:solidFill>
                  <a:srgbClr val="5A6474"/>
                </a:solidFill>
                <a:latin typeface="Segoe UI"/>
              </a:rPr>
              <a:t>Method  </a:t>
            </a:r>
            <a:r>
              <a:rPr sz="1050">
                <a:solidFill>
                  <a:srgbClr val="5A6474"/>
                </a:solidFill>
                <a:latin typeface="Segoe UI"/>
              </a:rPr>
              <a:t>Urban vitality from road density, points of interest and population, across 8,841 cities.</a:t>
            </a:r>
          </a:p>
          <a:p>
            <a:pPr>
              <a:spcBef>
                <a:spcPts val="400"/>
              </a:spcBef>
            </a:pPr>
            <a:r>
              <a:rPr sz="1050" b="1">
                <a:solidFill>
                  <a:srgbClr val="B26A00"/>
                </a:solidFill>
                <a:latin typeface="Segoe UI"/>
              </a:rPr>
              <a:t>Result  </a:t>
            </a:r>
            <a:r>
              <a:rPr sz="1050">
                <a:solidFill>
                  <a:srgbClr val="101826"/>
                </a:solidFill>
                <a:latin typeface="Segoe UI"/>
              </a:rPr>
              <a:t>New areas show only 7.69% of the vitality of old ones; worst 5% called ghost cities.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15" y="0"/>
            <a:ext cx="12191695" cy="6858000"/>
          </a:xfrm>
          <a:prstGeom prst="rect">
            <a:avLst/>
          </a:prstGeom>
          <a:solidFill>
            <a:srgbClr val="FFFFF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a:ln>
            <a:solidFill/>
          </a:ln>
        </p:spPr>
        <p:txBody>
          <a:bodyPr wrap="square">
            <a:spAutoFit/>
          </a:bodyPr>
          <a:lstStyle/>
          <a:p>
            <a:pPr algn="l">
              <a:spcAft>
                <a:spcPts val="200"/>
              </a:spcAft>
            </a:pPr>
            <a:r>
              <a:rPr sz="3000" b="1">
                <a:solidFill>
                  <a:srgbClr val="101826"/>
                </a:solidFill>
                <a:latin typeface="Segoe UI"/>
              </a:rPr>
              <a:t>Literature Review  ·  3 of 3</a:t>
            </a:r>
          </a:p>
          <a:p>
            <a:pPr>
              <a:spcAft>
                <a:spcPts val="0"/>
              </a:spcAft>
            </a:pPr>
            <a:r>
              <a:rPr sz="1350" b="0">
                <a:solidFill>
                  <a:srgbClr val="1B5FAF"/>
                </a:solidFill>
                <a:latin typeface="Segoe UI"/>
              </a:rPr>
              <a:t>Predicting expansion, measuring its consequences  —  and the gap we found</a:t>
            </a:r>
          </a:p>
        </p:txBody>
      </p:sp>
      <p:sp>
        <p:nvSpPr>
          <p:cNvPr id="4" name="Rectangle 3"/>
          <p:cNvSpPr/>
          <p:nvPr/>
        </p:nvSpPr>
        <p:spPr>
          <a:xfrm>
            <a:off x="640080" y="1298448"/>
            <a:ext cx="1371600" cy="38100"/>
          </a:xfrm>
          <a:prstGeom prst="rect">
            <a:avLst/>
          </a:prstGeom>
          <a:solidFill>
            <a:srgbClr val="1B5FA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572768"/>
            <a:ext cx="5212080" cy="1874519"/>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82496"/>
            <a:ext cx="4846320" cy="566928"/>
          </a:xfrm>
          <a:prstGeom prst="rect">
            <a:avLst/>
          </a:prstGeom>
          <a:noFill/>
          <a:ln>
            <a:solidFill/>
          </a:ln>
        </p:spPr>
        <p:txBody>
          <a:bodyPr wrap="square">
            <a:spAutoFit/>
          </a:bodyPr>
          <a:lstStyle/>
          <a:p>
            <a:pPr algn="l">
              <a:spcAft>
                <a:spcPts val="200"/>
              </a:spcAft>
            </a:pPr>
            <a:r>
              <a:rPr sz="1250" b="1">
                <a:solidFill>
                  <a:srgbClr val="101826"/>
                </a:solidFill>
                <a:latin typeface="Segoe UI"/>
              </a:rPr>
              <a:t>Understanding the drivers of sustainable land expansion using the PLUS model</a:t>
            </a:r>
          </a:p>
        </p:txBody>
      </p:sp>
      <p:sp>
        <p:nvSpPr>
          <p:cNvPr id="7" name="TextBox 6"/>
          <p:cNvSpPr txBox="1"/>
          <p:nvPr/>
        </p:nvSpPr>
        <p:spPr>
          <a:xfrm>
            <a:off x="822960" y="2231136"/>
            <a:ext cx="4846320" cy="237744"/>
          </a:xfrm>
          <a:prstGeom prst="rect">
            <a:avLst/>
          </a:prstGeom>
          <a:noFill/>
          <a:ln>
            <a:solidFill/>
          </a:ln>
        </p:spPr>
        <p:txBody>
          <a:bodyPr wrap="square">
            <a:spAutoFit/>
          </a:bodyPr>
          <a:lstStyle/>
          <a:p>
            <a:pPr algn="l">
              <a:spcAft>
                <a:spcPts val="0"/>
              </a:spcAft>
            </a:pPr>
            <a:r>
              <a:rPr sz="1050" b="1">
                <a:solidFill>
                  <a:srgbClr val="1B5FAF"/>
                </a:solidFill>
                <a:latin typeface="Segoe UI"/>
              </a:rPr>
              <a:t>Liang, X. et al.  ·  2021  ·  Computers, Environment and Urban Systems</a:t>
            </a:r>
          </a:p>
        </p:txBody>
      </p:sp>
      <p:sp>
        <p:nvSpPr>
          <p:cNvPr id="8" name="TextBox 7"/>
          <p:cNvSpPr txBox="1"/>
          <p:nvPr/>
        </p:nvSpPr>
        <p:spPr>
          <a:xfrm>
            <a:off x="822960" y="2487168"/>
            <a:ext cx="4846320" cy="822960"/>
          </a:xfrm>
          <a:prstGeom prst="rect">
            <a:avLst/>
          </a:prstGeom>
          <a:noFill/>
          <a:ln>
            <a:solidFill/>
          </a:ln>
        </p:spPr>
        <p:txBody>
          <a:bodyPr wrap="square">
            <a:spAutoFit/>
          </a:bodyPr>
          <a:lstStyle/>
          <a:p>
            <a:pPr algn="l"/>
            <a:r>
              <a:rPr sz="1050" b="1">
                <a:solidFill>
                  <a:srgbClr val="5A6474"/>
                </a:solidFill>
                <a:latin typeface="Segoe UI"/>
              </a:rPr>
              <a:t>Method  </a:t>
            </a:r>
            <a:r>
              <a:rPr sz="1050">
                <a:solidFill>
                  <a:srgbClr val="5A6474"/>
                </a:solidFill>
                <a:latin typeface="Segoe UI"/>
              </a:rPr>
              <a:t>Random forest to find drivers, then a cellular automaton growing realistic patches.</a:t>
            </a:r>
          </a:p>
          <a:p>
            <a:pPr>
              <a:spcBef>
                <a:spcPts val="400"/>
              </a:spcBef>
            </a:pPr>
            <a:r>
              <a:rPr sz="1050" b="1">
                <a:solidFill>
                  <a:srgbClr val="B26A00"/>
                </a:solidFill>
                <a:latin typeface="Segoe UI"/>
              </a:rPr>
              <a:t>Result  </a:t>
            </a:r>
            <a:r>
              <a:rPr sz="1050">
                <a:solidFill>
                  <a:srgbClr val="101826"/>
                </a:solidFill>
                <a:latin typeface="Segoe UI"/>
              </a:rPr>
              <a:t>Figure of Merit 0.2642 — the benchmark our own 0.0679 is measured against.</a:t>
            </a:r>
          </a:p>
        </p:txBody>
      </p:sp>
      <p:sp>
        <p:nvSpPr>
          <p:cNvPr id="9" name="Rectangle 8"/>
          <p:cNvSpPr/>
          <p:nvPr/>
        </p:nvSpPr>
        <p:spPr>
          <a:xfrm>
            <a:off x="6309360" y="1572768"/>
            <a:ext cx="5212080" cy="1874519"/>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682496"/>
            <a:ext cx="4846320" cy="566928"/>
          </a:xfrm>
          <a:prstGeom prst="rect">
            <a:avLst/>
          </a:prstGeom>
          <a:noFill/>
          <a:ln>
            <a:solidFill/>
          </a:ln>
        </p:spPr>
        <p:txBody>
          <a:bodyPr wrap="square">
            <a:spAutoFit/>
          </a:bodyPr>
          <a:lstStyle/>
          <a:p>
            <a:pPr algn="l">
              <a:spcAft>
                <a:spcPts val="200"/>
              </a:spcAft>
            </a:pPr>
            <a:r>
              <a:rPr sz="1250" b="1">
                <a:solidFill>
                  <a:srgbClr val="101826"/>
                </a:solidFill>
                <a:latin typeface="Segoe UI"/>
              </a:rPr>
              <a:t>An efficient built-up land expansion model using a modified U-Net</a:t>
            </a:r>
          </a:p>
        </p:txBody>
      </p:sp>
      <p:sp>
        <p:nvSpPr>
          <p:cNvPr id="11" name="TextBox 10"/>
          <p:cNvSpPr txBox="1"/>
          <p:nvPr/>
        </p:nvSpPr>
        <p:spPr>
          <a:xfrm>
            <a:off x="6492240" y="2231136"/>
            <a:ext cx="4846320" cy="237744"/>
          </a:xfrm>
          <a:prstGeom prst="rect">
            <a:avLst/>
          </a:prstGeom>
          <a:noFill/>
          <a:ln>
            <a:solidFill/>
          </a:ln>
        </p:spPr>
        <p:txBody>
          <a:bodyPr wrap="square">
            <a:spAutoFit/>
          </a:bodyPr>
          <a:lstStyle/>
          <a:p>
            <a:pPr algn="l">
              <a:spcAft>
                <a:spcPts val="0"/>
              </a:spcAft>
            </a:pPr>
            <a:r>
              <a:rPr sz="1050" b="1">
                <a:solidFill>
                  <a:srgbClr val="1B5FAF"/>
                </a:solidFill>
                <a:latin typeface="Segoe UI"/>
              </a:rPr>
              <a:t>Shojaei, H. et al.  ·  2022  ·  International Journal of Digital Earth</a:t>
            </a:r>
          </a:p>
        </p:txBody>
      </p:sp>
      <p:sp>
        <p:nvSpPr>
          <p:cNvPr id="12" name="TextBox 11"/>
          <p:cNvSpPr txBox="1"/>
          <p:nvPr/>
        </p:nvSpPr>
        <p:spPr>
          <a:xfrm>
            <a:off x="6492240" y="2487168"/>
            <a:ext cx="4846320" cy="822960"/>
          </a:xfrm>
          <a:prstGeom prst="rect">
            <a:avLst/>
          </a:prstGeom>
          <a:noFill/>
          <a:ln>
            <a:solidFill/>
          </a:ln>
        </p:spPr>
        <p:txBody>
          <a:bodyPr wrap="square">
            <a:spAutoFit/>
          </a:bodyPr>
          <a:lstStyle/>
          <a:p>
            <a:pPr algn="l"/>
            <a:r>
              <a:rPr sz="1050" b="1">
                <a:solidFill>
                  <a:srgbClr val="5A6474"/>
                </a:solidFill>
                <a:latin typeface="Segoe UI"/>
              </a:rPr>
              <a:t>Method  </a:t>
            </a:r>
            <a:r>
              <a:rPr sz="1050">
                <a:solidFill>
                  <a:srgbClr val="5A6474"/>
                </a:solidFill>
                <a:latin typeface="Segoe UI"/>
              </a:rPr>
              <a:t>Modified U-Net labelling every pixel built-up or not, from slope and distance drivers.</a:t>
            </a:r>
          </a:p>
          <a:p>
            <a:pPr>
              <a:spcBef>
                <a:spcPts val="400"/>
              </a:spcBef>
            </a:pPr>
            <a:r>
              <a:rPr sz="1050" b="1">
                <a:solidFill>
                  <a:srgbClr val="B26A00"/>
                </a:solidFill>
                <a:latin typeface="Segoe UI"/>
              </a:rPr>
              <a:t>Result  </a:t>
            </a:r>
            <a:r>
              <a:rPr sz="1050">
                <a:solidFill>
                  <a:srgbClr val="101826"/>
                </a:solidFill>
                <a:latin typeface="Segoe UI"/>
              </a:rPr>
              <a:t>AUC 0.87 against 0.82 for random forest — a 0.05 gain, at the cost of a GPU.</a:t>
            </a:r>
          </a:p>
        </p:txBody>
      </p:sp>
      <p:sp>
        <p:nvSpPr>
          <p:cNvPr id="13" name="Rectangle 12"/>
          <p:cNvSpPr/>
          <p:nvPr/>
        </p:nvSpPr>
        <p:spPr>
          <a:xfrm>
            <a:off x="640080" y="3584448"/>
            <a:ext cx="5212080" cy="1874519"/>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3694176"/>
            <a:ext cx="4846320" cy="566928"/>
          </a:xfrm>
          <a:prstGeom prst="rect">
            <a:avLst/>
          </a:prstGeom>
          <a:noFill/>
          <a:ln>
            <a:solidFill/>
          </a:ln>
        </p:spPr>
        <p:txBody>
          <a:bodyPr wrap="square">
            <a:spAutoFit/>
          </a:bodyPr>
          <a:lstStyle/>
          <a:p>
            <a:pPr algn="l">
              <a:spcAft>
                <a:spcPts val="200"/>
              </a:spcAft>
            </a:pPr>
            <a:r>
              <a:rPr sz="1250" b="1">
                <a:solidFill>
                  <a:srgbClr val="101826"/>
                </a:solidFill>
                <a:latin typeface="Segoe UI"/>
              </a:rPr>
              <a:t>Spatio-temporal analysis of urban expansion using Google Earth Engine</a:t>
            </a:r>
          </a:p>
        </p:txBody>
      </p:sp>
      <p:sp>
        <p:nvSpPr>
          <p:cNvPr id="15" name="TextBox 14"/>
          <p:cNvSpPr txBox="1"/>
          <p:nvPr/>
        </p:nvSpPr>
        <p:spPr>
          <a:xfrm>
            <a:off x="822960" y="4242816"/>
            <a:ext cx="4846320" cy="237744"/>
          </a:xfrm>
          <a:prstGeom prst="rect">
            <a:avLst/>
          </a:prstGeom>
          <a:noFill/>
          <a:ln>
            <a:solidFill/>
          </a:ln>
        </p:spPr>
        <p:txBody>
          <a:bodyPr wrap="square">
            <a:spAutoFit/>
          </a:bodyPr>
          <a:lstStyle/>
          <a:p>
            <a:pPr algn="l">
              <a:spcAft>
                <a:spcPts val="0"/>
              </a:spcAft>
            </a:pPr>
            <a:r>
              <a:rPr sz="1050" b="1">
                <a:solidFill>
                  <a:srgbClr val="1B5FAF"/>
                </a:solidFill>
                <a:latin typeface="Segoe UI"/>
              </a:rPr>
              <a:t>Zhang, A. et al.  ·  2025  ·  Scientific Reports</a:t>
            </a:r>
          </a:p>
        </p:txBody>
      </p:sp>
      <p:sp>
        <p:nvSpPr>
          <p:cNvPr id="16" name="TextBox 15"/>
          <p:cNvSpPr txBox="1"/>
          <p:nvPr/>
        </p:nvSpPr>
        <p:spPr>
          <a:xfrm>
            <a:off x="822960" y="4498848"/>
            <a:ext cx="4846320" cy="822960"/>
          </a:xfrm>
          <a:prstGeom prst="rect">
            <a:avLst/>
          </a:prstGeom>
          <a:noFill/>
          <a:ln>
            <a:solidFill/>
          </a:ln>
        </p:spPr>
        <p:txBody>
          <a:bodyPr wrap="square">
            <a:spAutoFit/>
          </a:bodyPr>
          <a:lstStyle/>
          <a:p>
            <a:pPr algn="l"/>
            <a:r>
              <a:rPr sz="1050" b="1">
                <a:solidFill>
                  <a:srgbClr val="5A6474"/>
                </a:solidFill>
                <a:latin typeface="Segoe UI"/>
              </a:rPr>
              <a:t>Method  </a:t>
            </a:r>
            <a:r>
              <a:rPr sz="1050">
                <a:solidFill>
                  <a:srgbClr val="5A6474"/>
                </a:solidFill>
                <a:latin typeface="Segoe UI"/>
              </a:rPr>
              <a:t>Random forest in Earth Engine, then a cellular automaton with a neural network, to 2030.</a:t>
            </a:r>
          </a:p>
          <a:p>
            <a:pPr>
              <a:spcBef>
                <a:spcPts val="400"/>
              </a:spcBef>
            </a:pPr>
            <a:r>
              <a:rPr sz="1050" b="1">
                <a:solidFill>
                  <a:srgbClr val="B26A00"/>
                </a:solidFill>
                <a:latin typeface="Segoe UI"/>
              </a:rPr>
              <a:t>Result  </a:t>
            </a:r>
            <a:r>
              <a:rPr sz="1050">
                <a:solidFill>
                  <a:srgbClr val="101826"/>
                </a:solidFill>
                <a:latin typeface="Segoe UI"/>
              </a:rPr>
              <a:t>Accuracy above 92%. The closest recent precedent for our whole workflow.</a:t>
            </a:r>
          </a:p>
        </p:txBody>
      </p:sp>
      <p:sp>
        <p:nvSpPr>
          <p:cNvPr id="17" name="Rectangle 16"/>
          <p:cNvSpPr/>
          <p:nvPr/>
        </p:nvSpPr>
        <p:spPr>
          <a:xfrm>
            <a:off x="6309360" y="3584448"/>
            <a:ext cx="5212080" cy="1874519"/>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3694176"/>
            <a:ext cx="4846320" cy="566928"/>
          </a:xfrm>
          <a:prstGeom prst="rect">
            <a:avLst/>
          </a:prstGeom>
          <a:noFill/>
          <a:ln>
            <a:solidFill/>
          </a:ln>
        </p:spPr>
        <p:txBody>
          <a:bodyPr wrap="square">
            <a:spAutoFit/>
          </a:bodyPr>
          <a:lstStyle/>
          <a:p>
            <a:pPr algn="l">
              <a:spcAft>
                <a:spcPts val="200"/>
              </a:spcAft>
            </a:pPr>
            <a:r>
              <a:rPr sz="1250" b="1">
                <a:solidFill>
                  <a:srgbClr val="101826"/>
                </a:solidFill>
                <a:latin typeface="Segoe UI"/>
              </a:rPr>
              <a:t>Google Earth Engine Open-Source Code for Landsat Land Surface Temperature</a:t>
            </a:r>
          </a:p>
        </p:txBody>
      </p:sp>
      <p:sp>
        <p:nvSpPr>
          <p:cNvPr id="19" name="TextBox 18"/>
          <p:cNvSpPr txBox="1"/>
          <p:nvPr/>
        </p:nvSpPr>
        <p:spPr>
          <a:xfrm>
            <a:off x="6492240" y="4242816"/>
            <a:ext cx="4846320" cy="237744"/>
          </a:xfrm>
          <a:prstGeom prst="rect">
            <a:avLst/>
          </a:prstGeom>
          <a:noFill/>
          <a:ln>
            <a:solidFill/>
          </a:ln>
        </p:spPr>
        <p:txBody>
          <a:bodyPr wrap="square">
            <a:spAutoFit/>
          </a:bodyPr>
          <a:lstStyle/>
          <a:p>
            <a:pPr algn="l">
              <a:spcAft>
                <a:spcPts val="0"/>
              </a:spcAft>
            </a:pPr>
            <a:r>
              <a:rPr sz="1050" b="1">
                <a:solidFill>
                  <a:srgbClr val="1B5FAF"/>
                </a:solidFill>
                <a:latin typeface="Segoe UI"/>
              </a:rPr>
              <a:t>Ermida, S. L. et al.  ·  2020  ·  Remote Sensing</a:t>
            </a:r>
          </a:p>
        </p:txBody>
      </p:sp>
      <p:sp>
        <p:nvSpPr>
          <p:cNvPr id="20" name="TextBox 19"/>
          <p:cNvSpPr txBox="1"/>
          <p:nvPr/>
        </p:nvSpPr>
        <p:spPr>
          <a:xfrm>
            <a:off x="6492240" y="4498848"/>
            <a:ext cx="4846320" cy="822960"/>
          </a:xfrm>
          <a:prstGeom prst="rect">
            <a:avLst/>
          </a:prstGeom>
          <a:noFill/>
          <a:ln>
            <a:solidFill/>
          </a:ln>
        </p:spPr>
        <p:txBody>
          <a:bodyPr wrap="square">
            <a:spAutoFit/>
          </a:bodyPr>
          <a:lstStyle/>
          <a:p>
            <a:pPr algn="l"/>
            <a:r>
              <a:rPr sz="1050" b="1">
                <a:solidFill>
                  <a:srgbClr val="5A6474"/>
                </a:solidFill>
                <a:latin typeface="Segoe UI"/>
              </a:rPr>
              <a:t>Method  </a:t>
            </a:r>
            <a:r>
              <a:rPr sz="1050">
                <a:solidFill>
                  <a:srgbClr val="5A6474"/>
                </a:solidFill>
                <a:latin typeface="Segoe UI"/>
              </a:rPr>
              <a:t>Open code computing land surface temperature from Landsat entirely inside Earth Engine.</a:t>
            </a:r>
          </a:p>
          <a:p>
            <a:pPr>
              <a:spcBef>
                <a:spcPts val="400"/>
              </a:spcBef>
            </a:pPr>
            <a:r>
              <a:rPr sz="1050" b="1">
                <a:solidFill>
                  <a:srgbClr val="B26A00"/>
                </a:solidFill>
                <a:latin typeface="Segoe UI"/>
              </a:rPr>
              <a:t>Result  </a:t>
            </a:r>
            <a:r>
              <a:rPr sz="1050">
                <a:solidFill>
                  <a:srgbClr val="101826"/>
                </a:solidFill>
                <a:latin typeface="Segoe UI"/>
              </a:rPr>
              <a:t>RMSE 1.0–1.3 K against ground sensors. The reference method behind our heat layer.</a:t>
            </a:r>
          </a:p>
        </p:txBody>
      </p:sp>
      <p:sp>
        <p:nvSpPr>
          <p:cNvPr id="21" name="Rectangle 20"/>
          <p:cNvSpPr/>
          <p:nvPr/>
        </p:nvSpPr>
        <p:spPr>
          <a:xfrm>
            <a:off x="640080" y="5623560"/>
            <a:ext cx="10881360" cy="914400"/>
          </a:xfrm>
          <a:prstGeom prst="rect">
            <a:avLst/>
          </a:prstGeom>
          <a:solidFill>
            <a:srgbClr val="F1F5FA"/>
          </a:solidFill>
          <a:ln w="9525">
            <a:solidFill>
              <a:srgbClr val="B2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5724144"/>
            <a:ext cx="10332720" cy="523220"/>
          </a:xfrm>
          <a:prstGeom prst="rect">
            <a:avLst/>
          </a:prstGeom>
          <a:noFill/>
          <a:ln>
            <a:solidFill/>
          </a:ln>
        </p:spPr>
        <p:txBody>
          <a:bodyPr wrap="square">
            <a:spAutoFit/>
          </a:bodyPr>
          <a:lstStyle/>
          <a:p>
            <a:pPr algn="l">
              <a:spcAft>
                <a:spcPts val="400"/>
              </a:spcAft>
            </a:pPr>
            <a:r>
              <a:rPr sz="1400" b="1" dirty="0">
                <a:solidFill>
                  <a:srgbClr val="101826"/>
                </a:solidFill>
                <a:latin typeface="Segoe UI"/>
              </a:rPr>
              <a:t>The gap:  no study learns the activity level normal for a given level of development within a city, then uses it to separate development that has stalled from development still filling up.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a:ln>
            <a:solidFill/>
          </a:ln>
        </p:spPr>
        <p:txBody>
          <a:bodyPr wrap="square">
            <a:spAutoFit/>
          </a:bodyPr>
          <a:lstStyle/>
          <a:p>
            <a:pPr algn="l">
              <a:spcAft>
                <a:spcPts val="200"/>
              </a:spcAft>
            </a:pPr>
            <a:r>
              <a:rPr sz="3000" b="1">
                <a:solidFill>
                  <a:srgbClr val="101826"/>
                </a:solidFill>
                <a:latin typeface="Segoe UI"/>
              </a:rPr>
              <a:t>Methodology</a:t>
            </a:r>
          </a:p>
          <a:p>
            <a:pPr>
              <a:spcAft>
                <a:spcPts val="0"/>
              </a:spcAft>
            </a:pPr>
            <a:r>
              <a:rPr sz="1350" b="0">
                <a:solidFill>
                  <a:srgbClr val="1B5FAF"/>
                </a:solidFill>
                <a:latin typeface="Segoe UI"/>
              </a:rPr>
              <a:t>Six steps, each a separate testable module</a:t>
            </a:r>
          </a:p>
        </p:txBody>
      </p:sp>
      <p:sp>
        <p:nvSpPr>
          <p:cNvPr id="4" name="Rectangle 3"/>
          <p:cNvSpPr/>
          <p:nvPr/>
        </p:nvSpPr>
        <p:spPr>
          <a:xfrm>
            <a:off x="640080" y="1298448"/>
            <a:ext cx="1371600" cy="38100"/>
          </a:xfrm>
          <a:prstGeom prst="rect">
            <a:avLst/>
          </a:prstGeom>
          <a:solidFill>
            <a:srgbClr val="1B5FA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27632"/>
            <a:ext cx="10881360" cy="722376"/>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04672" y="1801368"/>
            <a:ext cx="384048" cy="384048"/>
          </a:xfrm>
          <a:prstGeom prst="ellipse">
            <a:avLst/>
          </a:prstGeom>
          <a:solidFill>
            <a:srgbClr val="1B5FAF"/>
          </a:solidFill>
          <a:ln>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Segoe UI"/>
              </a:rPr>
              <a:t>1</a:t>
            </a:r>
          </a:p>
        </p:txBody>
      </p:sp>
      <p:sp>
        <p:nvSpPr>
          <p:cNvPr id="7" name="TextBox 6"/>
          <p:cNvSpPr txBox="1"/>
          <p:nvPr/>
        </p:nvSpPr>
        <p:spPr>
          <a:xfrm>
            <a:off x="1325880" y="1700784"/>
            <a:ext cx="2148840" cy="566928"/>
          </a:xfrm>
          <a:prstGeom prst="rect">
            <a:avLst/>
          </a:prstGeom>
          <a:noFill/>
          <a:ln>
            <a:solidFill/>
          </a:ln>
        </p:spPr>
        <p:txBody>
          <a:bodyPr wrap="square">
            <a:spAutoFit/>
          </a:bodyPr>
          <a:lstStyle/>
          <a:p>
            <a:pPr algn="l">
              <a:spcAft>
                <a:spcPts val="0"/>
              </a:spcAft>
            </a:pPr>
            <a:r>
              <a:rPr sz="1400" b="1">
                <a:solidFill>
                  <a:srgbClr val="101826"/>
                </a:solidFill>
                <a:latin typeface="Segoe UI"/>
              </a:rPr>
              <a:t>Find the city</a:t>
            </a:r>
          </a:p>
        </p:txBody>
      </p:sp>
      <p:sp>
        <p:nvSpPr>
          <p:cNvPr id="8" name="TextBox 7"/>
          <p:cNvSpPr txBox="1"/>
          <p:nvPr/>
        </p:nvSpPr>
        <p:spPr>
          <a:xfrm>
            <a:off x="3474720" y="1682496"/>
            <a:ext cx="7863840" cy="658368"/>
          </a:xfrm>
          <a:prstGeom prst="rect">
            <a:avLst/>
          </a:prstGeom>
          <a:noFill/>
          <a:ln>
            <a:solidFill/>
          </a:ln>
        </p:spPr>
        <p:txBody>
          <a:bodyPr wrap="square">
            <a:spAutoFit/>
          </a:bodyPr>
          <a:lstStyle/>
          <a:p>
            <a:pPr algn="l">
              <a:spcAft>
                <a:spcPts val="300"/>
              </a:spcAft>
            </a:pPr>
            <a:r>
              <a:rPr sz="1150" b="0">
                <a:solidFill>
                  <a:srgbClr val="101826"/>
                </a:solidFill>
                <a:latin typeface="Segoe UI"/>
              </a:rPr>
              <a:t>A city name is turned into coordinates, and a circle around that point becomes the study area.</a:t>
            </a:r>
          </a:p>
          <a:p>
            <a:pPr>
              <a:spcAft>
                <a:spcPts val="0"/>
              </a:spcAft>
            </a:pPr>
            <a:r>
              <a:rPr sz="1050" b="0">
                <a:solidFill>
                  <a:srgbClr val="5A6474"/>
                </a:solidFill>
                <a:latin typeface="Segoe UI"/>
              </a:rPr>
              <a:t>A city has no single official boundary available everywhere, and municipal limits usually exclude the fastest-growing fringe — which is exactly where our findings are.</a:t>
            </a:r>
          </a:p>
        </p:txBody>
      </p:sp>
      <p:sp>
        <p:nvSpPr>
          <p:cNvPr id="9" name="Rectangle 8"/>
          <p:cNvSpPr/>
          <p:nvPr/>
        </p:nvSpPr>
        <p:spPr>
          <a:xfrm>
            <a:off x="640080" y="2395728"/>
            <a:ext cx="10881360" cy="722376"/>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04672" y="2569464"/>
            <a:ext cx="384048" cy="384048"/>
          </a:xfrm>
          <a:prstGeom prst="ellipse">
            <a:avLst/>
          </a:prstGeom>
          <a:solidFill>
            <a:srgbClr val="1B5FAF"/>
          </a:solidFill>
          <a:ln>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Segoe UI"/>
              </a:rPr>
              <a:t>2</a:t>
            </a:r>
          </a:p>
        </p:txBody>
      </p:sp>
      <p:sp>
        <p:nvSpPr>
          <p:cNvPr id="11" name="TextBox 10"/>
          <p:cNvSpPr txBox="1"/>
          <p:nvPr/>
        </p:nvSpPr>
        <p:spPr>
          <a:xfrm>
            <a:off x="1325880" y="2468880"/>
            <a:ext cx="2148840" cy="566928"/>
          </a:xfrm>
          <a:prstGeom prst="rect">
            <a:avLst/>
          </a:prstGeom>
          <a:noFill/>
          <a:ln>
            <a:solidFill/>
          </a:ln>
        </p:spPr>
        <p:txBody>
          <a:bodyPr wrap="square">
            <a:spAutoFit/>
          </a:bodyPr>
          <a:lstStyle/>
          <a:p>
            <a:pPr algn="l">
              <a:spcAft>
                <a:spcPts val="0"/>
              </a:spcAft>
            </a:pPr>
            <a:r>
              <a:rPr sz="1400" b="1">
                <a:solidFill>
                  <a:srgbClr val="101826"/>
                </a:solidFill>
                <a:latin typeface="Segoe UI"/>
              </a:rPr>
              <a:t>Download the data</a:t>
            </a:r>
          </a:p>
        </p:txBody>
      </p:sp>
      <p:sp>
        <p:nvSpPr>
          <p:cNvPr id="12" name="TextBox 11"/>
          <p:cNvSpPr txBox="1"/>
          <p:nvPr/>
        </p:nvSpPr>
        <p:spPr>
          <a:xfrm>
            <a:off x="3474720" y="2450592"/>
            <a:ext cx="7863840" cy="658368"/>
          </a:xfrm>
          <a:prstGeom prst="rect">
            <a:avLst/>
          </a:prstGeom>
          <a:noFill/>
          <a:ln>
            <a:solidFill/>
          </a:ln>
        </p:spPr>
        <p:txBody>
          <a:bodyPr wrap="square">
            <a:spAutoFit/>
          </a:bodyPr>
          <a:lstStyle/>
          <a:p>
            <a:pPr algn="l">
              <a:spcAft>
                <a:spcPts val="300"/>
              </a:spcAft>
            </a:pPr>
            <a:r>
              <a:rPr sz="1150" b="0">
                <a:solidFill>
                  <a:srgbClr val="101826"/>
                </a:solidFill>
                <a:latin typeface="Segoe UI"/>
              </a:rPr>
              <a:t>GHSL and OpenStreetMap come straight over HTTP; the satellite layers come through Google Earth Engine.</a:t>
            </a:r>
          </a:p>
          <a:p>
            <a:pPr>
              <a:spcAft>
                <a:spcPts val="0"/>
              </a:spcAft>
            </a:pPr>
            <a:r>
              <a:rPr sz="1050" b="0">
                <a:solidFill>
                  <a:srgbClr val="5A6474"/>
                </a:solidFill>
                <a:latin typeface="Segoe UI"/>
              </a:rPr>
              <a:t>Earth Engine clips each layer on its own servers, so a few megabytes arrive instead of whole scenes. The GHSL path needs no account, so the system always returns a result.</a:t>
            </a:r>
          </a:p>
        </p:txBody>
      </p:sp>
      <p:sp>
        <p:nvSpPr>
          <p:cNvPr id="13" name="Rectangle 12"/>
          <p:cNvSpPr/>
          <p:nvPr/>
        </p:nvSpPr>
        <p:spPr>
          <a:xfrm>
            <a:off x="640080" y="3163824"/>
            <a:ext cx="10881360" cy="722376"/>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04672" y="3337560"/>
            <a:ext cx="384048" cy="384048"/>
          </a:xfrm>
          <a:prstGeom prst="ellipse">
            <a:avLst/>
          </a:prstGeom>
          <a:solidFill>
            <a:srgbClr val="1B5FAF"/>
          </a:solidFill>
          <a:ln>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Segoe UI"/>
              </a:rPr>
              <a:t>3</a:t>
            </a:r>
          </a:p>
        </p:txBody>
      </p:sp>
      <p:sp>
        <p:nvSpPr>
          <p:cNvPr id="15" name="TextBox 14"/>
          <p:cNvSpPr txBox="1"/>
          <p:nvPr/>
        </p:nvSpPr>
        <p:spPr>
          <a:xfrm>
            <a:off x="1325880" y="3236976"/>
            <a:ext cx="2148840" cy="566928"/>
          </a:xfrm>
          <a:prstGeom prst="rect">
            <a:avLst/>
          </a:prstGeom>
          <a:noFill/>
          <a:ln>
            <a:solidFill/>
          </a:ln>
        </p:spPr>
        <p:txBody>
          <a:bodyPr wrap="square">
            <a:spAutoFit/>
          </a:bodyPr>
          <a:lstStyle/>
          <a:p>
            <a:pPr algn="l">
              <a:spcAft>
                <a:spcPts val="0"/>
              </a:spcAft>
            </a:pPr>
            <a:r>
              <a:rPr sz="1400" b="1">
                <a:solidFill>
                  <a:srgbClr val="101826"/>
                </a:solidFill>
                <a:latin typeface="Segoe UI"/>
              </a:rPr>
              <a:t>Put it on one grid</a:t>
            </a:r>
          </a:p>
        </p:txBody>
      </p:sp>
      <p:sp>
        <p:nvSpPr>
          <p:cNvPr id="16" name="TextBox 15"/>
          <p:cNvSpPr txBox="1"/>
          <p:nvPr/>
        </p:nvSpPr>
        <p:spPr>
          <a:xfrm>
            <a:off x="3474720" y="3218688"/>
            <a:ext cx="7863840" cy="658368"/>
          </a:xfrm>
          <a:prstGeom prst="rect">
            <a:avLst/>
          </a:prstGeom>
          <a:noFill/>
          <a:ln>
            <a:solidFill/>
          </a:ln>
        </p:spPr>
        <p:txBody>
          <a:bodyPr wrap="square">
            <a:spAutoFit/>
          </a:bodyPr>
          <a:lstStyle/>
          <a:p>
            <a:pPr algn="l">
              <a:spcAft>
                <a:spcPts val="300"/>
              </a:spcAft>
            </a:pPr>
            <a:r>
              <a:rPr sz="1150" b="0">
                <a:solidFill>
                  <a:srgbClr val="101826"/>
                </a:solidFill>
                <a:latin typeface="Segoe UI"/>
              </a:rPr>
              <a:t>Every dataset is reprojected onto a single 100 m grid in UTM zone 44N, and reported at 500 m.</a:t>
            </a:r>
          </a:p>
          <a:p>
            <a:pPr>
              <a:spcAft>
                <a:spcPts val="0"/>
              </a:spcAft>
            </a:pPr>
            <a:r>
              <a:rPr sz="1050" b="0">
                <a:solidFill>
                  <a:srgbClr val="5A6474"/>
                </a:solidFill>
                <a:latin typeface="Segoe UI"/>
              </a:rPr>
              <a:t>Built-up area and population are extensive quantities, so they are converted to density before reprojection and rescaled after — otherwise the totals would not survive the warp.</a:t>
            </a:r>
          </a:p>
        </p:txBody>
      </p:sp>
      <p:sp>
        <p:nvSpPr>
          <p:cNvPr id="17" name="Rectangle 16"/>
          <p:cNvSpPr/>
          <p:nvPr/>
        </p:nvSpPr>
        <p:spPr>
          <a:xfrm>
            <a:off x="640080" y="3931920"/>
            <a:ext cx="10881360" cy="722376"/>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04672" y="4105656"/>
            <a:ext cx="384048" cy="384048"/>
          </a:xfrm>
          <a:prstGeom prst="ellipse">
            <a:avLst/>
          </a:prstGeom>
          <a:solidFill>
            <a:srgbClr val="1B5FAF"/>
          </a:solidFill>
          <a:ln>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Segoe UI"/>
              </a:rPr>
              <a:t>4</a:t>
            </a:r>
          </a:p>
        </p:txBody>
      </p:sp>
      <p:sp>
        <p:nvSpPr>
          <p:cNvPr id="19" name="TextBox 18"/>
          <p:cNvSpPr txBox="1"/>
          <p:nvPr/>
        </p:nvSpPr>
        <p:spPr>
          <a:xfrm>
            <a:off x="1325880" y="4005072"/>
            <a:ext cx="2148840" cy="566928"/>
          </a:xfrm>
          <a:prstGeom prst="rect">
            <a:avLst/>
          </a:prstGeom>
          <a:noFill/>
          <a:ln>
            <a:solidFill/>
          </a:ln>
        </p:spPr>
        <p:txBody>
          <a:bodyPr wrap="square">
            <a:spAutoFit/>
          </a:bodyPr>
          <a:lstStyle/>
          <a:p>
            <a:pPr algn="l">
              <a:spcAft>
                <a:spcPts val="0"/>
              </a:spcAft>
            </a:pPr>
            <a:r>
              <a:rPr sz="1400" b="1">
                <a:solidFill>
                  <a:srgbClr val="101826"/>
                </a:solidFill>
                <a:latin typeface="Segoe UI"/>
              </a:rPr>
              <a:t>Compute indicators</a:t>
            </a:r>
          </a:p>
        </p:txBody>
      </p:sp>
      <p:sp>
        <p:nvSpPr>
          <p:cNvPr id="20" name="TextBox 19"/>
          <p:cNvSpPr txBox="1"/>
          <p:nvPr/>
        </p:nvSpPr>
        <p:spPr>
          <a:xfrm>
            <a:off x="3474720" y="3986784"/>
            <a:ext cx="7863840" cy="658368"/>
          </a:xfrm>
          <a:prstGeom prst="rect">
            <a:avLst/>
          </a:prstGeom>
          <a:noFill/>
          <a:ln>
            <a:solidFill/>
          </a:ln>
        </p:spPr>
        <p:txBody>
          <a:bodyPr wrap="square">
            <a:spAutoFit/>
          </a:bodyPr>
          <a:lstStyle/>
          <a:p>
            <a:pPr algn="l">
              <a:spcAft>
                <a:spcPts val="300"/>
              </a:spcAft>
            </a:pPr>
            <a:r>
              <a:rPr sz="1150" b="0">
                <a:solidFill>
                  <a:srgbClr val="101826"/>
                </a:solidFill>
                <a:latin typeface="Segoe UI"/>
              </a:rPr>
              <a:t>Built-up change, vegetation loss, surface temperature, night-light trend, and shop and road density.</a:t>
            </a:r>
          </a:p>
          <a:p>
            <a:pPr>
              <a:spcAft>
                <a:spcPts val="0"/>
              </a:spcAft>
            </a:pPr>
            <a:r>
              <a:rPr sz="1050" b="0">
                <a:solidFill>
                  <a:srgbClr val="5A6474"/>
                </a:solidFill>
                <a:latin typeface="Segoe UI"/>
              </a:rPr>
              <a:t>Each is normalised per unit of built-up area, because raw values otherwise measure how large a place is rather than how intensively it is used.</a:t>
            </a:r>
          </a:p>
        </p:txBody>
      </p:sp>
      <p:sp>
        <p:nvSpPr>
          <p:cNvPr id="21" name="Rectangle 20"/>
          <p:cNvSpPr/>
          <p:nvPr/>
        </p:nvSpPr>
        <p:spPr>
          <a:xfrm>
            <a:off x="640080" y="4700016"/>
            <a:ext cx="10881360" cy="722376"/>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04672" y="4873752"/>
            <a:ext cx="384048" cy="384048"/>
          </a:xfrm>
          <a:prstGeom prst="ellipse">
            <a:avLst/>
          </a:prstGeom>
          <a:solidFill>
            <a:srgbClr val="1B5FAF"/>
          </a:solidFill>
          <a:ln>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Segoe UI"/>
              </a:rPr>
              <a:t>5</a:t>
            </a:r>
          </a:p>
        </p:txBody>
      </p:sp>
      <p:sp>
        <p:nvSpPr>
          <p:cNvPr id="23" name="TextBox 22"/>
          <p:cNvSpPr txBox="1"/>
          <p:nvPr/>
        </p:nvSpPr>
        <p:spPr>
          <a:xfrm>
            <a:off x="1325880" y="4773168"/>
            <a:ext cx="2148840" cy="566928"/>
          </a:xfrm>
          <a:prstGeom prst="rect">
            <a:avLst/>
          </a:prstGeom>
          <a:noFill/>
          <a:ln>
            <a:solidFill/>
          </a:ln>
        </p:spPr>
        <p:txBody>
          <a:bodyPr wrap="square">
            <a:spAutoFit/>
          </a:bodyPr>
          <a:lstStyle/>
          <a:p>
            <a:pPr algn="l">
              <a:spcAft>
                <a:spcPts val="0"/>
              </a:spcAft>
            </a:pPr>
            <a:r>
              <a:rPr sz="1400" b="1">
                <a:solidFill>
                  <a:srgbClr val="101826"/>
                </a:solidFill>
                <a:latin typeface="Segoe UI"/>
              </a:rPr>
              <a:t>Train the model</a:t>
            </a:r>
          </a:p>
        </p:txBody>
      </p:sp>
      <p:sp>
        <p:nvSpPr>
          <p:cNvPr id="24" name="TextBox 23"/>
          <p:cNvSpPr txBox="1"/>
          <p:nvPr/>
        </p:nvSpPr>
        <p:spPr>
          <a:xfrm>
            <a:off x="3474720" y="4754880"/>
            <a:ext cx="7863840" cy="658368"/>
          </a:xfrm>
          <a:prstGeom prst="rect">
            <a:avLst/>
          </a:prstGeom>
          <a:noFill/>
          <a:ln>
            <a:solidFill/>
          </a:ln>
        </p:spPr>
        <p:txBody>
          <a:bodyPr wrap="square">
            <a:spAutoFit/>
          </a:bodyPr>
          <a:lstStyle/>
          <a:p>
            <a:pPr algn="l">
              <a:spcAft>
                <a:spcPts val="300"/>
              </a:spcAft>
            </a:pPr>
            <a:r>
              <a:rPr sz="1150" b="0">
                <a:solidFill>
                  <a:srgbClr val="101826"/>
                </a:solidFill>
                <a:latin typeface="Segoe UI"/>
              </a:rPr>
              <a:t>Logistic Regression learns which cells became built-up, from seven drivers; a cellular automaton places the growth.</a:t>
            </a:r>
          </a:p>
          <a:p>
            <a:pPr>
              <a:spcAft>
                <a:spcPts val="0"/>
              </a:spcAft>
            </a:pPr>
            <a:r>
              <a:rPr sz="1050" b="0">
                <a:solidFill>
                  <a:srgbClr val="5A6474"/>
                </a:solidFill>
                <a:latin typeface="Segoe UI"/>
              </a:rPr>
              <a:t>The automaton makes each cell look at its neighbours, so predicted development appears in connected patches rather than scattered single cells — which is how cities actually grow.</a:t>
            </a:r>
          </a:p>
        </p:txBody>
      </p:sp>
      <p:sp>
        <p:nvSpPr>
          <p:cNvPr id="25" name="Rectangle 24"/>
          <p:cNvSpPr/>
          <p:nvPr/>
        </p:nvSpPr>
        <p:spPr>
          <a:xfrm>
            <a:off x="640080" y="5468112"/>
            <a:ext cx="10881360" cy="722376"/>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04672" y="5641848"/>
            <a:ext cx="384048" cy="384048"/>
          </a:xfrm>
          <a:prstGeom prst="ellipse">
            <a:avLst/>
          </a:prstGeom>
          <a:solidFill>
            <a:srgbClr val="1B5FAF"/>
          </a:solidFill>
          <a:ln>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Segoe UI"/>
              </a:rPr>
              <a:t>6</a:t>
            </a:r>
          </a:p>
        </p:txBody>
      </p:sp>
      <p:sp>
        <p:nvSpPr>
          <p:cNvPr id="27" name="TextBox 26"/>
          <p:cNvSpPr txBox="1"/>
          <p:nvPr/>
        </p:nvSpPr>
        <p:spPr>
          <a:xfrm>
            <a:off x="1325880" y="5541264"/>
            <a:ext cx="2148840" cy="566928"/>
          </a:xfrm>
          <a:prstGeom prst="rect">
            <a:avLst/>
          </a:prstGeom>
          <a:noFill/>
          <a:ln>
            <a:solidFill/>
          </a:ln>
        </p:spPr>
        <p:txBody>
          <a:bodyPr wrap="square">
            <a:spAutoFit/>
          </a:bodyPr>
          <a:lstStyle/>
          <a:p>
            <a:pPr algn="l">
              <a:spcAft>
                <a:spcPts val="0"/>
              </a:spcAft>
            </a:pPr>
            <a:r>
              <a:rPr sz="1400" b="1">
                <a:solidFill>
                  <a:srgbClr val="101826"/>
                </a:solidFill>
                <a:latin typeface="Segoe UI"/>
              </a:rPr>
              <a:t>Predict and display</a:t>
            </a:r>
          </a:p>
        </p:txBody>
      </p:sp>
      <p:sp>
        <p:nvSpPr>
          <p:cNvPr id="28" name="TextBox 27"/>
          <p:cNvSpPr txBox="1"/>
          <p:nvPr/>
        </p:nvSpPr>
        <p:spPr>
          <a:xfrm>
            <a:off x="3474720" y="5522976"/>
            <a:ext cx="7863840" cy="658368"/>
          </a:xfrm>
          <a:prstGeom prst="rect">
            <a:avLst/>
          </a:prstGeom>
          <a:noFill/>
          <a:ln>
            <a:solidFill/>
          </a:ln>
        </p:spPr>
        <p:txBody>
          <a:bodyPr wrap="square">
            <a:spAutoFit/>
          </a:bodyPr>
          <a:lstStyle/>
          <a:p>
            <a:pPr algn="l">
              <a:spcAft>
                <a:spcPts val="300"/>
              </a:spcAft>
            </a:pPr>
            <a:r>
              <a:rPr sz="1150" b="0">
                <a:solidFill>
                  <a:srgbClr val="101826"/>
                </a:solidFill>
                <a:latin typeface="Segoe UI"/>
              </a:rPr>
              <a:t>Future demand is extrapolated from the city's own past growth rate, then allocated to the most suitable cells.</a:t>
            </a:r>
          </a:p>
          <a:p>
            <a:pPr>
              <a:spcAft>
                <a:spcPts val="0"/>
              </a:spcAft>
            </a:pPr>
            <a:r>
              <a:rPr sz="1050" b="0">
                <a:solidFill>
                  <a:srgbClr val="5A6474"/>
                </a:solidFill>
                <a:latin typeface="Segoe UI"/>
              </a:rPr>
              <a:t>The +5 and +10 year maps are a prediction, not a measurement — they show where growth is likely if current trends continue, and the dashboard says so.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a:ln>
            <a:solidFill/>
          </a:ln>
        </p:spPr>
        <p:txBody>
          <a:bodyPr wrap="square">
            <a:spAutoFit/>
          </a:bodyPr>
          <a:lstStyle/>
          <a:p>
            <a:pPr algn="l">
              <a:spcAft>
                <a:spcPts val="200"/>
              </a:spcAft>
            </a:pPr>
            <a:r>
              <a:rPr sz="3000" b="1">
                <a:solidFill>
                  <a:srgbClr val="101826"/>
                </a:solidFill>
                <a:latin typeface="Segoe UI"/>
              </a:rPr>
              <a:t>Workflow</a:t>
            </a:r>
          </a:p>
          <a:p>
            <a:pPr>
              <a:spcAft>
                <a:spcPts val="0"/>
              </a:spcAft>
            </a:pPr>
            <a:r>
              <a:rPr sz="1350" b="0">
                <a:solidFill>
                  <a:srgbClr val="1B5FAF"/>
                </a:solidFill>
                <a:latin typeface="Segoe UI"/>
              </a:rPr>
              <a:t>Seven pipeline stages, run in order</a:t>
            </a:r>
          </a:p>
        </p:txBody>
      </p:sp>
      <p:sp>
        <p:nvSpPr>
          <p:cNvPr id="4" name="Rectangle 3"/>
          <p:cNvSpPr/>
          <p:nvPr/>
        </p:nvSpPr>
        <p:spPr>
          <a:xfrm>
            <a:off x="640080" y="1298448"/>
            <a:ext cx="1371600" cy="38100"/>
          </a:xfrm>
          <a:prstGeom prst="rect">
            <a:avLst/>
          </a:prstGeom>
          <a:solidFill>
            <a:srgbClr val="1B5FA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20240"/>
            <a:ext cx="1417320" cy="173736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057400"/>
            <a:ext cx="1234440" cy="365760"/>
          </a:xfrm>
          <a:prstGeom prst="rect">
            <a:avLst/>
          </a:prstGeom>
          <a:noFill/>
          <a:ln>
            <a:solidFill/>
          </a:ln>
        </p:spPr>
        <p:txBody>
          <a:bodyPr wrap="square">
            <a:spAutoFit/>
          </a:bodyPr>
          <a:lstStyle/>
          <a:p>
            <a:pPr algn="ctr">
              <a:spcAft>
                <a:spcPts val="600"/>
              </a:spcAft>
            </a:pPr>
            <a:r>
              <a:rPr sz="1250" b="1">
                <a:solidFill>
                  <a:srgbClr val="1B5FAF"/>
                </a:solidFill>
                <a:latin typeface="Segoe UI"/>
              </a:rPr>
              <a:t>1. builtup</a:t>
            </a:r>
          </a:p>
          <a:p>
            <a:pPr algn="ctr">
              <a:spcAft>
                <a:spcPts val="0"/>
              </a:spcAft>
            </a:pPr>
            <a:r>
              <a:rPr sz="1100" b="0">
                <a:solidFill>
                  <a:srgbClr val="5A6474"/>
                </a:solidFill>
                <a:latin typeface="Segoe UI"/>
              </a:rPr>
              <a:t>GHS-BUILT-S</a:t>
            </a:r>
            <a:br/>
            <a:r>
              <a:rPr sz="1100" b="0">
                <a:solidFill>
                  <a:srgbClr val="5A6474"/>
                </a:solidFill>
                <a:latin typeface="Segoe UI"/>
              </a:rPr>
              <a:t>GHS-POP</a:t>
            </a:r>
          </a:p>
        </p:txBody>
      </p:sp>
      <p:sp>
        <p:nvSpPr>
          <p:cNvPr id="7" name="Rectangle 6"/>
          <p:cNvSpPr/>
          <p:nvPr/>
        </p:nvSpPr>
        <p:spPr>
          <a:xfrm>
            <a:off x="2212848" y="1920240"/>
            <a:ext cx="1417320" cy="173736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04288" y="2057400"/>
            <a:ext cx="1234440" cy="365760"/>
          </a:xfrm>
          <a:prstGeom prst="rect">
            <a:avLst/>
          </a:prstGeom>
          <a:noFill/>
          <a:ln>
            <a:solidFill/>
          </a:ln>
        </p:spPr>
        <p:txBody>
          <a:bodyPr wrap="square">
            <a:spAutoFit/>
          </a:bodyPr>
          <a:lstStyle/>
          <a:p>
            <a:pPr algn="ctr">
              <a:spcAft>
                <a:spcPts val="600"/>
              </a:spcAft>
            </a:pPr>
            <a:r>
              <a:rPr sz="1250" b="1">
                <a:solidFill>
                  <a:srgbClr val="1B5FAF"/>
                </a:solidFill>
                <a:latin typeface="Segoe UI"/>
              </a:rPr>
              <a:t>2. osm</a:t>
            </a:r>
          </a:p>
          <a:p>
            <a:pPr algn="ctr">
              <a:spcAft>
                <a:spcPts val="0"/>
              </a:spcAft>
            </a:pPr>
            <a:r>
              <a:rPr sz="1100" b="0">
                <a:solidFill>
                  <a:srgbClr val="5A6474"/>
                </a:solidFill>
                <a:latin typeface="Segoe UI"/>
              </a:rPr>
              <a:t>OpenStreetMap</a:t>
            </a:r>
            <a:br/>
            <a:r>
              <a:rPr sz="1100" b="0">
                <a:solidFill>
                  <a:srgbClr val="5A6474"/>
                </a:solidFill>
                <a:latin typeface="Segoe UI"/>
              </a:rPr>
              <a:t>Overpass API</a:t>
            </a:r>
          </a:p>
        </p:txBody>
      </p:sp>
      <p:sp>
        <p:nvSpPr>
          <p:cNvPr id="9" name="Rectangle 8"/>
          <p:cNvSpPr/>
          <p:nvPr/>
        </p:nvSpPr>
        <p:spPr>
          <a:xfrm>
            <a:off x="3785616" y="1920240"/>
            <a:ext cx="1417320" cy="1737360"/>
          </a:xfrm>
          <a:prstGeom prst="rect">
            <a:avLst/>
          </a:prstGeom>
          <a:solidFill>
            <a:srgbClr val="F1F5FA"/>
          </a:solidFill>
          <a:ln w="9525">
            <a:solidFill>
              <a:srgbClr val="1B5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77056" y="2057400"/>
            <a:ext cx="1234440" cy="365760"/>
          </a:xfrm>
          <a:prstGeom prst="rect">
            <a:avLst/>
          </a:prstGeom>
          <a:noFill/>
          <a:ln>
            <a:solidFill/>
          </a:ln>
        </p:spPr>
        <p:txBody>
          <a:bodyPr wrap="square">
            <a:spAutoFit/>
          </a:bodyPr>
          <a:lstStyle/>
          <a:p>
            <a:pPr algn="ctr">
              <a:spcAft>
                <a:spcPts val="600"/>
              </a:spcAft>
            </a:pPr>
            <a:r>
              <a:rPr sz="1250" b="1">
                <a:solidFill>
                  <a:srgbClr val="1B5FAF"/>
                </a:solidFill>
                <a:latin typeface="Segoe UI"/>
              </a:rPr>
              <a:t>3. gee</a:t>
            </a:r>
          </a:p>
          <a:p>
            <a:pPr algn="ctr">
              <a:spcAft>
                <a:spcPts val="0"/>
              </a:spcAft>
            </a:pPr>
            <a:r>
              <a:rPr sz="1100" b="0">
                <a:solidFill>
                  <a:srgbClr val="5A6474"/>
                </a:solidFill>
                <a:latin typeface="Segoe UI"/>
              </a:rPr>
              <a:t>VIIRS · Sentinel-2</a:t>
            </a:r>
            <a:br/>
            <a:r>
              <a:rPr sz="1100" b="0">
                <a:solidFill>
                  <a:srgbClr val="5A6474"/>
                </a:solidFill>
                <a:latin typeface="Segoe UI"/>
              </a:rPr>
              <a:t>Landsat · Dynamic World</a:t>
            </a:r>
          </a:p>
        </p:txBody>
      </p:sp>
      <p:sp>
        <p:nvSpPr>
          <p:cNvPr id="11" name="Rectangle 10"/>
          <p:cNvSpPr/>
          <p:nvPr/>
        </p:nvSpPr>
        <p:spPr>
          <a:xfrm>
            <a:off x="5358384" y="1920240"/>
            <a:ext cx="1417320" cy="173736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49824" y="2057400"/>
            <a:ext cx="1234440" cy="365760"/>
          </a:xfrm>
          <a:prstGeom prst="rect">
            <a:avLst/>
          </a:prstGeom>
          <a:noFill/>
          <a:ln>
            <a:solidFill/>
          </a:ln>
        </p:spPr>
        <p:txBody>
          <a:bodyPr wrap="square">
            <a:spAutoFit/>
          </a:bodyPr>
          <a:lstStyle/>
          <a:p>
            <a:pPr algn="ctr">
              <a:spcAft>
                <a:spcPts val="600"/>
              </a:spcAft>
            </a:pPr>
            <a:r>
              <a:rPr sz="1250" b="1">
                <a:solidFill>
                  <a:srgbClr val="1B5FAF"/>
                </a:solidFill>
                <a:latin typeface="Segoe UI"/>
              </a:rPr>
              <a:t>4. vegetation</a:t>
            </a:r>
          </a:p>
          <a:p>
            <a:pPr algn="ctr">
              <a:spcAft>
                <a:spcPts val="0"/>
              </a:spcAft>
            </a:pPr>
            <a:r>
              <a:rPr sz="1100" b="0">
                <a:solidFill>
                  <a:srgbClr val="5A6474"/>
                </a:solidFill>
                <a:latin typeface="Segoe UI"/>
              </a:rPr>
              <a:t>Green cover</a:t>
            </a:r>
            <a:br/>
            <a:r>
              <a:rPr sz="1100" b="0">
                <a:solidFill>
                  <a:srgbClr val="5A6474"/>
                </a:solidFill>
                <a:latin typeface="Segoe UI"/>
              </a:rPr>
              <a:t>change</a:t>
            </a:r>
          </a:p>
        </p:txBody>
      </p:sp>
      <p:sp>
        <p:nvSpPr>
          <p:cNvPr id="13" name="Rectangle 12"/>
          <p:cNvSpPr/>
          <p:nvPr/>
        </p:nvSpPr>
        <p:spPr>
          <a:xfrm>
            <a:off x="6931152" y="1920240"/>
            <a:ext cx="1417320" cy="173736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22592" y="2057400"/>
            <a:ext cx="1234440" cy="365760"/>
          </a:xfrm>
          <a:prstGeom prst="rect">
            <a:avLst/>
          </a:prstGeom>
          <a:noFill/>
          <a:ln>
            <a:solidFill/>
          </a:ln>
        </p:spPr>
        <p:txBody>
          <a:bodyPr wrap="square">
            <a:spAutoFit/>
          </a:bodyPr>
          <a:lstStyle/>
          <a:p>
            <a:pPr algn="ctr">
              <a:spcAft>
                <a:spcPts val="600"/>
              </a:spcAft>
            </a:pPr>
            <a:r>
              <a:rPr sz="1250" b="1">
                <a:solidFill>
                  <a:srgbClr val="1B5FAF"/>
                </a:solidFill>
                <a:latin typeface="Segoe UI"/>
              </a:rPr>
              <a:t>5. thermal</a:t>
            </a:r>
          </a:p>
          <a:p>
            <a:pPr algn="ctr">
              <a:spcAft>
                <a:spcPts val="0"/>
              </a:spcAft>
            </a:pPr>
            <a:r>
              <a:rPr sz="1100" b="0">
                <a:solidFill>
                  <a:srgbClr val="5A6474"/>
                </a:solidFill>
                <a:latin typeface="Segoe UI"/>
              </a:rPr>
              <a:t>Heat island</a:t>
            </a:r>
            <a:br/>
            <a:r>
              <a:rPr sz="1100" b="0">
                <a:solidFill>
                  <a:srgbClr val="5A6474"/>
                </a:solidFill>
                <a:latin typeface="Segoe UI"/>
              </a:rPr>
              <a:t>intensity</a:t>
            </a:r>
          </a:p>
        </p:txBody>
      </p:sp>
      <p:sp>
        <p:nvSpPr>
          <p:cNvPr id="15" name="Rectangle 14"/>
          <p:cNvSpPr/>
          <p:nvPr/>
        </p:nvSpPr>
        <p:spPr>
          <a:xfrm>
            <a:off x="8503920" y="1920240"/>
            <a:ext cx="1417320" cy="1737360"/>
          </a:xfrm>
          <a:prstGeom prst="rect">
            <a:avLst/>
          </a:prstGeom>
          <a:solidFill>
            <a:srgbClr val="F1F5FA"/>
          </a:solidFill>
          <a:ln w="9525">
            <a:solidFill>
              <a:srgbClr val="1B5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0" y="2057400"/>
            <a:ext cx="1234440" cy="365760"/>
          </a:xfrm>
          <a:prstGeom prst="rect">
            <a:avLst/>
          </a:prstGeom>
          <a:noFill/>
          <a:ln>
            <a:solidFill/>
          </a:ln>
        </p:spPr>
        <p:txBody>
          <a:bodyPr wrap="square">
            <a:spAutoFit/>
          </a:bodyPr>
          <a:lstStyle/>
          <a:p>
            <a:pPr algn="ctr">
              <a:spcAft>
                <a:spcPts val="600"/>
              </a:spcAft>
            </a:pPr>
            <a:r>
              <a:rPr sz="1250" b="1">
                <a:solidFill>
                  <a:srgbClr val="1B5FAF"/>
                </a:solidFill>
                <a:latin typeface="Segoe UI"/>
              </a:rPr>
              <a:t>6. ghost</a:t>
            </a:r>
          </a:p>
          <a:p>
            <a:pPr algn="ctr">
              <a:spcAft>
                <a:spcPts val="0"/>
              </a:spcAft>
            </a:pPr>
            <a:r>
              <a:rPr sz="1100" b="0">
                <a:solidFill>
                  <a:srgbClr val="5A6474"/>
                </a:solidFill>
                <a:latin typeface="Segoe UI"/>
              </a:rPr>
              <a:t>Activity index</a:t>
            </a:r>
            <a:br/>
            <a:r>
              <a:rPr sz="1100" b="0">
                <a:solidFill>
                  <a:srgbClr val="5A6474"/>
                </a:solidFill>
                <a:latin typeface="Segoe UI"/>
              </a:rPr>
              <a:t>+ typology</a:t>
            </a:r>
          </a:p>
        </p:txBody>
      </p:sp>
      <p:sp>
        <p:nvSpPr>
          <p:cNvPr id="17" name="Rectangle 16"/>
          <p:cNvSpPr/>
          <p:nvPr/>
        </p:nvSpPr>
        <p:spPr>
          <a:xfrm>
            <a:off x="10076688" y="1920240"/>
            <a:ext cx="1417320" cy="173736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168128" y="2057400"/>
            <a:ext cx="1234440" cy="365760"/>
          </a:xfrm>
          <a:prstGeom prst="rect">
            <a:avLst/>
          </a:prstGeom>
          <a:noFill/>
          <a:ln>
            <a:solidFill/>
          </a:ln>
        </p:spPr>
        <p:txBody>
          <a:bodyPr wrap="square">
            <a:spAutoFit/>
          </a:bodyPr>
          <a:lstStyle/>
          <a:p>
            <a:pPr algn="ctr">
              <a:spcAft>
                <a:spcPts val="600"/>
              </a:spcAft>
            </a:pPr>
            <a:r>
              <a:rPr sz="1250" b="1">
                <a:solidFill>
                  <a:srgbClr val="1B5FAF"/>
                </a:solidFill>
                <a:latin typeface="Segoe UI"/>
              </a:rPr>
              <a:t>7. export</a:t>
            </a:r>
          </a:p>
          <a:p>
            <a:pPr algn="ctr">
              <a:spcAft>
                <a:spcPts val="0"/>
              </a:spcAft>
            </a:pPr>
            <a:r>
              <a:rPr sz="1100" b="0">
                <a:solidFill>
                  <a:srgbClr val="5A6474"/>
                </a:solidFill>
                <a:latin typeface="Segoe UI"/>
              </a:rPr>
              <a:t>500 m grid</a:t>
            </a:r>
            <a:br/>
            <a:r>
              <a:rPr sz="1100" b="0">
                <a:solidFill>
                  <a:srgbClr val="5A6474"/>
                </a:solidFill>
                <a:latin typeface="Segoe UI"/>
              </a:rPr>
              <a:t>+ summary</a:t>
            </a:r>
          </a:p>
        </p:txBody>
      </p:sp>
      <p:sp>
        <p:nvSpPr>
          <p:cNvPr id="19" name="Rectangle 18"/>
          <p:cNvSpPr/>
          <p:nvPr/>
        </p:nvSpPr>
        <p:spPr>
          <a:xfrm>
            <a:off x="640080" y="3977639"/>
            <a:ext cx="5394960" cy="210312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160520"/>
            <a:ext cx="4846320" cy="1828800"/>
          </a:xfrm>
          <a:prstGeom prst="rect">
            <a:avLst/>
          </a:prstGeom>
          <a:noFill/>
          <a:ln>
            <a:solidFill/>
          </a:ln>
        </p:spPr>
        <p:txBody>
          <a:bodyPr wrap="square">
            <a:spAutoFit/>
          </a:bodyPr>
          <a:lstStyle/>
          <a:p>
            <a:pPr algn="l">
              <a:spcAft>
                <a:spcPts val="1000"/>
              </a:spcAft>
            </a:pPr>
            <a:r>
              <a:rPr sz="1600" b="1">
                <a:solidFill>
                  <a:srgbClr val="1B5FAF"/>
                </a:solidFill>
                <a:latin typeface="Segoe UI"/>
              </a:rPr>
              <a:t>A failed stage does not stop the run</a:t>
            </a:r>
          </a:p>
          <a:p>
            <a:pPr>
              <a:spcAft>
                <a:spcPts val="0"/>
              </a:spcAft>
            </a:pPr>
            <a:r>
              <a:rPr sz="1300" b="0">
                <a:solidFill>
                  <a:srgbClr val="5A6474"/>
                </a:solidFill>
                <a:latin typeface="Segoe UI"/>
              </a:rPr>
              <a:t>Public data sources rate-limit and time out, and Earth Engine needs an account. Any stage that cannot run records why, and the pipeline continues. The reason appears in the output and on the dashboard, so a missing layer is always visible rather than silently read as zero.</a:t>
            </a:r>
          </a:p>
        </p:txBody>
      </p:sp>
      <p:sp>
        <p:nvSpPr>
          <p:cNvPr id="21" name="Rectangle 20"/>
          <p:cNvSpPr/>
          <p:nvPr/>
        </p:nvSpPr>
        <p:spPr>
          <a:xfrm>
            <a:off x="6309360" y="3977639"/>
            <a:ext cx="5212080" cy="210312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0" y="4160520"/>
            <a:ext cx="4663440" cy="1828800"/>
          </a:xfrm>
          <a:prstGeom prst="rect">
            <a:avLst/>
          </a:prstGeom>
          <a:noFill/>
          <a:ln>
            <a:solidFill/>
          </a:ln>
        </p:spPr>
        <p:txBody>
          <a:bodyPr wrap="square">
            <a:spAutoFit/>
          </a:bodyPr>
          <a:lstStyle/>
          <a:p>
            <a:pPr algn="l">
              <a:spcAft>
                <a:spcPts val="1000"/>
              </a:spcAft>
            </a:pPr>
            <a:r>
              <a:rPr sz="1600" b="1">
                <a:solidFill>
                  <a:srgbClr val="1B5FAF"/>
                </a:solidFill>
                <a:latin typeface="Segoe UI"/>
              </a:rPr>
              <a:t>Prediction runs separately</a:t>
            </a:r>
          </a:p>
          <a:p>
            <a:pPr>
              <a:spcAft>
                <a:spcPts val="0"/>
              </a:spcAft>
            </a:pPr>
            <a:r>
              <a:rPr sz="1300" b="0">
                <a:solidFill>
                  <a:srgbClr val="5A6474"/>
                </a:solidFill>
                <a:latin typeface="Segoe UI"/>
              </a:rPr>
              <a:t>Build seven drivers  →  train on an early period  →  test on a later unseen period  →  compare against random  →  project +5 and +10 years  →  allocate with a cellular automaton so growth appears in connected patches.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a:ln>
            <a:solidFill/>
          </a:ln>
        </p:spPr>
        <p:txBody>
          <a:bodyPr wrap="square">
            <a:spAutoFit/>
          </a:bodyPr>
          <a:lstStyle/>
          <a:p>
            <a:pPr algn="l">
              <a:spcAft>
                <a:spcPts val="200"/>
              </a:spcAft>
            </a:pPr>
            <a:r>
              <a:rPr sz="3000" b="1" dirty="0">
                <a:solidFill>
                  <a:srgbClr val="101826"/>
                </a:solidFill>
                <a:latin typeface="Segoe UI"/>
              </a:rPr>
              <a:t>System Architecture</a:t>
            </a:r>
          </a:p>
          <a:p>
            <a:pPr>
              <a:spcAft>
                <a:spcPts val="0"/>
              </a:spcAft>
            </a:pPr>
            <a:r>
              <a:rPr sz="1350" b="0" dirty="0">
                <a:solidFill>
                  <a:srgbClr val="1B5FAF"/>
                </a:solidFill>
                <a:latin typeface="Segoe UI"/>
              </a:rPr>
              <a:t>Four layers · data flows upward</a:t>
            </a:r>
          </a:p>
        </p:txBody>
      </p:sp>
      <p:sp>
        <p:nvSpPr>
          <p:cNvPr id="4" name="Rectangle 3"/>
          <p:cNvSpPr/>
          <p:nvPr/>
        </p:nvSpPr>
        <p:spPr>
          <a:xfrm>
            <a:off x="640080" y="1298448"/>
            <a:ext cx="1371600" cy="38100"/>
          </a:xfrm>
          <a:prstGeom prst="rect">
            <a:avLst/>
          </a:prstGeom>
          <a:solidFill>
            <a:srgbClr val="1B5FA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572768"/>
            <a:ext cx="8138160" cy="621792"/>
          </a:xfrm>
          <a:prstGeom prst="rect">
            <a:avLst/>
          </a:prstGeom>
          <a:solidFill>
            <a:srgbClr val="F1F5FA"/>
          </a:solidFill>
          <a:ln w="9525">
            <a:solidFill>
              <a:srgbClr val="1B5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572768"/>
            <a:ext cx="146304" cy="621792"/>
          </a:xfrm>
          <a:prstGeom prst="roundRect">
            <a:avLst/>
          </a:prstGeom>
          <a:solidFill>
            <a:srgbClr val="1B5FA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673352"/>
            <a:ext cx="2743200" cy="292608"/>
          </a:xfrm>
          <a:prstGeom prst="rect">
            <a:avLst/>
          </a:prstGeom>
          <a:noFill/>
          <a:ln>
            <a:solidFill/>
          </a:ln>
        </p:spPr>
        <p:txBody>
          <a:bodyPr wrap="square">
            <a:spAutoFit/>
          </a:bodyPr>
          <a:lstStyle/>
          <a:p>
            <a:pPr algn="l">
              <a:spcAft>
                <a:spcPts val="0"/>
              </a:spcAft>
            </a:pPr>
            <a:r>
              <a:rPr sz="1150" b="1">
                <a:solidFill>
                  <a:srgbClr val="1B5FAF"/>
                </a:solidFill>
                <a:latin typeface="Segoe UI"/>
              </a:rPr>
              <a:t>PRESENTATION</a:t>
            </a:r>
          </a:p>
        </p:txBody>
      </p:sp>
      <p:sp>
        <p:nvSpPr>
          <p:cNvPr id="8" name="Rounded Rectangle 7"/>
          <p:cNvSpPr/>
          <p:nvPr/>
        </p:nvSpPr>
        <p:spPr>
          <a:xfrm>
            <a:off x="3840480" y="1709928"/>
            <a:ext cx="932688"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Interactive map</a:t>
            </a:r>
          </a:p>
        </p:txBody>
      </p:sp>
      <p:sp>
        <p:nvSpPr>
          <p:cNvPr id="9" name="Rounded Rectangle 8"/>
          <p:cNvSpPr/>
          <p:nvPr/>
        </p:nvSpPr>
        <p:spPr>
          <a:xfrm>
            <a:off x="4828032" y="1709928"/>
            <a:ext cx="932688"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Growth typology</a:t>
            </a:r>
          </a:p>
        </p:txBody>
      </p:sp>
      <p:sp>
        <p:nvSpPr>
          <p:cNvPr id="10" name="Rounded Rectangle 9"/>
          <p:cNvSpPr/>
          <p:nvPr/>
        </p:nvSpPr>
        <p:spPr>
          <a:xfrm>
            <a:off x="5815584" y="1709928"/>
            <a:ext cx="932688"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Ghost zones</a:t>
            </a:r>
          </a:p>
        </p:txBody>
      </p:sp>
      <p:sp>
        <p:nvSpPr>
          <p:cNvPr id="11" name="Rounded Rectangle 10"/>
          <p:cNvSpPr/>
          <p:nvPr/>
        </p:nvSpPr>
        <p:spPr>
          <a:xfrm>
            <a:off x="6803136" y="1709928"/>
            <a:ext cx="932688"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Environment</a:t>
            </a:r>
          </a:p>
        </p:txBody>
      </p:sp>
      <p:sp>
        <p:nvSpPr>
          <p:cNvPr id="12" name="Rounded Rectangle 11"/>
          <p:cNvSpPr/>
          <p:nvPr/>
        </p:nvSpPr>
        <p:spPr>
          <a:xfrm>
            <a:off x="7790688" y="1709928"/>
            <a:ext cx="932688"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Grid export</a:t>
            </a:r>
          </a:p>
        </p:txBody>
      </p:sp>
      <p:sp>
        <p:nvSpPr>
          <p:cNvPr id="13" name="Left Arrow 12"/>
          <p:cNvSpPr/>
          <p:nvPr/>
        </p:nvSpPr>
        <p:spPr>
          <a:xfrm rot="16200000">
            <a:off x="4494929" y="2331720"/>
            <a:ext cx="319387" cy="174389"/>
          </a:xfrm>
          <a:prstGeom prst="leftArrow">
            <a:avLst/>
          </a:prstGeom>
          <a:solidFill>
            <a:srgbClr val="B8C4D4"/>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2578608"/>
            <a:ext cx="8138160" cy="1115568"/>
          </a:xfrm>
          <a:prstGeom prst="rect">
            <a:avLst/>
          </a:prstGeom>
          <a:solidFill>
            <a:srgbClr val="F1F5FA"/>
          </a:solidFill>
          <a:ln w="9525">
            <a:solidFill>
              <a:srgbClr val="E6E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0080" y="2578608"/>
            <a:ext cx="146304" cy="1115568"/>
          </a:xfrm>
          <a:prstGeom prst="roundRect">
            <a:avLst/>
          </a:prstGeom>
          <a:solidFill>
            <a:srgbClr val="10182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2679192"/>
            <a:ext cx="2743200" cy="292608"/>
          </a:xfrm>
          <a:prstGeom prst="rect">
            <a:avLst/>
          </a:prstGeom>
          <a:noFill/>
          <a:ln>
            <a:solidFill/>
          </a:ln>
        </p:spPr>
        <p:txBody>
          <a:bodyPr wrap="square">
            <a:spAutoFit/>
          </a:bodyPr>
          <a:lstStyle/>
          <a:p>
            <a:pPr algn="l">
              <a:spcAft>
                <a:spcPts val="0"/>
              </a:spcAft>
            </a:pPr>
            <a:r>
              <a:rPr sz="1150" b="1">
                <a:solidFill>
                  <a:srgbClr val="101826"/>
                </a:solidFill>
                <a:latin typeface="Segoe UI"/>
              </a:rPr>
              <a:t>ANALYSIS</a:t>
            </a:r>
          </a:p>
        </p:txBody>
      </p:sp>
      <p:sp>
        <p:nvSpPr>
          <p:cNvPr id="17" name="Rounded Rectangle 16"/>
          <p:cNvSpPr/>
          <p:nvPr/>
        </p:nvSpPr>
        <p:spPr>
          <a:xfrm>
            <a:off x="3840480" y="2724912"/>
            <a:ext cx="1536192"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builtup.py</a:t>
            </a:r>
          </a:p>
        </p:txBody>
      </p:sp>
      <p:sp>
        <p:nvSpPr>
          <p:cNvPr id="18" name="Rounded Rectangle 17"/>
          <p:cNvSpPr/>
          <p:nvPr/>
        </p:nvSpPr>
        <p:spPr>
          <a:xfrm>
            <a:off x="5468112" y="2724912"/>
            <a:ext cx="1536192"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nightlights.py</a:t>
            </a:r>
          </a:p>
        </p:txBody>
      </p:sp>
      <p:sp>
        <p:nvSpPr>
          <p:cNvPr id="19" name="Rounded Rectangle 18"/>
          <p:cNvSpPr/>
          <p:nvPr/>
        </p:nvSpPr>
        <p:spPr>
          <a:xfrm>
            <a:off x="7095744" y="2724912"/>
            <a:ext cx="1536192"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vegetation.py</a:t>
            </a:r>
          </a:p>
        </p:txBody>
      </p:sp>
      <p:sp>
        <p:nvSpPr>
          <p:cNvPr id="20" name="Rounded Rectangle 19"/>
          <p:cNvSpPr/>
          <p:nvPr/>
        </p:nvSpPr>
        <p:spPr>
          <a:xfrm>
            <a:off x="3840480" y="3182112"/>
            <a:ext cx="1536192"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thermal.py</a:t>
            </a:r>
          </a:p>
        </p:txBody>
      </p:sp>
      <p:sp>
        <p:nvSpPr>
          <p:cNvPr id="21" name="Rounded Rectangle 20"/>
          <p:cNvSpPr/>
          <p:nvPr/>
        </p:nvSpPr>
        <p:spPr>
          <a:xfrm>
            <a:off x="5468112" y="3182112"/>
            <a:ext cx="1536192"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ghost.py</a:t>
            </a:r>
          </a:p>
        </p:txBody>
      </p:sp>
      <p:sp>
        <p:nvSpPr>
          <p:cNvPr id="22" name="Rounded Rectangle 21"/>
          <p:cNvSpPr/>
          <p:nvPr/>
        </p:nvSpPr>
        <p:spPr>
          <a:xfrm>
            <a:off x="7095744" y="3182112"/>
            <a:ext cx="1536192"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growth_model.py</a:t>
            </a:r>
          </a:p>
        </p:txBody>
      </p:sp>
      <p:sp>
        <p:nvSpPr>
          <p:cNvPr id="23" name="TextBox 22"/>
          <p:cNvSpPr txBox="1"/>
          <p:nvPr/>
        </p:nvSpPr>
        <p:spPr>
          <a:xfrm>
            <a:off x="960120" y="3035808"/>
            <a:ext cx="2743200" cy="548640"/>
          </a:xfrm>
          <a:prstGeom prst="rect">
            <a:avLst/>
          </a:prstGeom>
          <a:noFill/>
          <a:ln>
            <a:solidFill/>
          </a:ln>
        </p:spPr>
        <p:txBody>
          <a:bodyPr wrap="square">
            <a:spAutoFit/>
          </a:bodyPr>
          <a:lstStyle/>
          <a:p>
            <a:pPr algn="l">
              <a:spcAft>
                <a:spcPts val="0"/>
              </a:spcAft>
            </a:pPr>
            <a:r>
              <a:rPr sz="950" b="0">
                <a:solidFill>
                  <a:srgbClr val="5A6474"/>
                </a:solidFill>
                <a:latin typeface="Segoe UI"/>
              </a:rPr>
              <a:t>Never downloads —</a:t>
            </a:r>
            <a:br/>
            <a:r>
              <a:rPr sz="950" b="0">
                <a:solidFill>
                  <a:srgbClr val="5A6474"/>
                </a:solidFill>
                <a:latin typeface="Segoe UI"/>
              </a:rPr>
              <a:t>so it is testable offline</a:t>
            </a:r>
          </a:p>
        </p:txBody>
      </p:sp>
      <p:sp>
        <p:nvSpPr>
          <p:cNvPr id="24" name="Left Arrow 23"/>
          <p:cNvSpPr/>
          <p:nvPr/>
        </p:nvSpPr>
        <p:spPr>
          <a:xfrm rot="16200000">
            <a:off x="4474845" y="3789043"/>
            <a:ext cx="377191" cy="219456"/>
          </a:xfrm>
          <a:prstGeom prst="leftArrow">
            <a:avLst/>
          </a:prstGeom>
          <a:solidFill>
            <a:srgbClr val="B8C4D4"/>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0080" y="4096512"/>
            <a:ext cx="8138160" cy="1298448"/>
          </a:xfrm>
          <a:prstGeom prst="rect">
            <a:avLst/>
          </a:prstGeom>
          <a:solidFill>
            <a:srgbClr val="F1F5FA"/>
          </a:solidFill>
          <a:ln w="9525">
            <a:solidFill>
              <a:srgbClr val="E6E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40080" y="4096512"/>
            <a:ext cx="146304" cy="1298448"/>
          </a:xfrm>
          <a:prstGeom prst="roundRect">
            <a:avLst/>
          </a:prstGeom>
          <a:solidFill>
            <a:srgbClr val="101826"/>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60120" y="4197096"/>
            <a:ext cx="2743200" cy="292608"/>
          </a:xfrm>
          <a:prstGeom prst="rect">
            <a:avLst/>
          </a:prstGeom>
          <a:noFill/>
          <a:ln>
            <a:solidFill/>
          </a:ln>
        </p:spPr>
        <p:txBody>
          <a:bodyPr wrap="square">
            <a:spAutoFit/>
          </a:bodyPr>
          <a:lstStyle/>
          <a:p>
            <a:pPr algn="l">
              <a:spcAft>
                <a:spcPts val="0"/>
              </a:spcAft>
            </a:pPr>
            <a:r>
              <a:rPr sz="1150" b="1">
                <a:solidFill>
                  <a:srgbClr val="101826"/>
                </a:solidFill>
                <a:latin typeface="Segoe UI"/>
              </a:rPr>
              <a:t>ACQUISITION</a:t>
            </a:r>
          </a:p>
        </p:txBody>
      </p:sp>
      <p:sp>
        <p:nvSpPr>
          <p:cNvPr id="28" name="TextBox 27"/>
          <p:cNvSpPr txBox="1"/>
          <p:nvPr/>
        </p:nvSpPr>
        <p:spPr>
          <a:xfrm>
            <a:off x="3840480" y="4169663"/>
            <a:ext cx="2377440" cy="274320"/>
          </a:xfrm>
          <a:prstGeom prst="rect">
            <a:avLst/>
          </a:prstGeom>
          <a:noFill/>
          <a:ln>
            <a:solidFill/>
          </a:ln>
        </p:spPr>
        <p:txBody>
          <a:bodyPr wrap="square">
            <a:spAutoFit/>
          </a:bodyPr>
          <a:lstStyle/>
          <a:p>
            <a:pPr algn="l">
              <a:spcAft>
                <a:spcPts val="0"/>
              </a:spcAft>
            </a:pPr>
            <a:r>
              <a:rPr sz="950" b="1">
                <a:solidFill>
                  <a:srgbClr val="0E7A52"/>
                </a:solidFill>
                <a:latin typeface="Segoe UI"/>
              </a:rPr>
              <a:t>OPEN PATH — no account</a:t>
            </a:r>
          </a:p>
        </p:txBody>
      </p:sp>
      <p:sp>
        <p:nvSpPr>
          <p:cNvPr id="29" name="Rounded Rectangle 28"/>
          <p:cNvSpPr/>
          <p:nvPr/>
        </p:nvSpPr>
        <p:spPr>
          <a:xfrm>
            <a:off x="3840480" y="4443984"/>
            <a:ext cx="2103120" cy="25603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GHS-BUILT-S</a:t>
            </a:r>
          </a:p>
        </p:txBody>
      </p:sp>
      <p:sp>
        <p:nvSpPr>
          <p:cNvPr id="30" name="Rounded Rectangle 29"/>
          <p:cNvSpPr/>
          <p:nvPr/>
        </p:nvSpPr>
        <p:spPr>
          <a:xfrm>
            <a:off x="3840480" y="4736592"/>
            <a:ext cx="2103120" cy="25603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GHS-POP</a:t>
            </a:r>
          </a:p>
        </p:txBody>
      </p:sp>
      <p:sp>
        <p:nvSpPr>
          <p:cNvPr id="31" name="Rounded Rectangle 30"/>
          <p:cNvSpPr/>
          <p:nvPr/>
        </p:nvSpPr>
        <p:spPr>
          <a:xfrm>
            <a:off x="3840480" y="5029200"/>
            <a:ext cx="2103120" cy="25603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OpenStreetMap</a:t>
            </a:r>
          </a:p>
        </p:txBody>
      </p:sp>
      <p:sp>
        <p:nvSpPr>
          <p:cNvPr id="32" name="TextBox 31"/>
          <p:cNvSpPr txBox="1"/>
          <p:nvPr/>
        </p:nvSpPr>
        <p:spPr>
          <a:xfrm>
            <a:off x="6263640" y="4169663"/>
            <a:ext cx="2377440" cy="274320"/>
          </a:xfrm>
          <a:prstGeom prst="rect">
            <a:avLst/>
          </a:prstGeom>
          <a:noFill/>
          <a:ln>
            <a:solidFill/>
          </a:ln>
        </p:spPr>
        <p:txBody>
          <a:bodyPr wrap="square">
            <a:spAutoFit/>
          </a:bodyPr>
          <a:lstStyle/>
          <a:p>
            <a:pPr algn="l">
              <a:spcAft>
                <a:spcPts val="0"/>
              </a:spcAft>
            </a:pPr>
            <a:r>
              <a:rPr sz="950" b="1">
                <a:solidFill>
                  <a:srgbClr val="B26A00"/>
                </a:solidFill>
                <a:latin typeface="Segoe UI"/>
              </a:rPr>
              <a:t>EARTH ENGINE PATH — one login</a:t>
            </a:r>
          </a:p>
        </p:txBody>
      </p:sp>
      <p:sp>
        <p:nvSpPr>
          <p:cNvPr id="33" name="Rounded Rectangle 32"/>
          <p:cNvSpPr/>
          <p:nvPr/>
        </p:nvSpPr>
        <p:spPr>
          <a:xfrm>
            <a:off x="6263640" y="4443984"/>
            <a:ext cx="2331720" cy="16459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VIIRS nighttime lights</a:t>
            </a:r>
          </a:p>
        </p:txBody>
      </p:sp>
      <p:sp>
        <p:nvSpPr>
          <p:cNvPr id="34" name="Rounded Rectangle 33"/>
          <p:cNvSpPr/>
          <p:nvPr/>
        </p:nvSpPr>
        <p:spPr>
          <a:xfrm>
            <a:off x="6263640" y="4626864"/>
            <a:ext cx="2331720" cy="16459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Sentinel-2</a:t>
            </a:r>
          </a:p>
        </p:txBody>
      </p:sp>
      <p:sp>
        <p:nvSpPr>
          <p:cNvPr id="35" name="Rounded Rectangle 34"/>
          <p:cNvSpPr/>
          <p:nvPr/>
        </p:nvSpPr>
        <p:spPr>
          <a:xfrm>
            <a:off x="6263640" y="4809744"/>
            <a:ext cx="2331720" cy="16459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Landsat 8 / 9</a:t>
            </a:r>
          </a:p>
        </p:txBody>
      </p:sp>
      <p:sp>
        <p:nvSpPr>
          <p:cNvPr id="36" name="Rounded Rectangle 35"/>
          <p:cNvSpPr/>
          <p:nvPr/>
        </p:nvSpPr>
        <p:spPr>
          <a:xfrm>
            <a:off x="6263640" y="4992624"/>
            <a:ext cx="2331720" cy="16459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Dynamic World</a:t>
            </a:r>
          </a:p>
        </p:txBody>
      </p:sp>
      <p:sp>
        <p:nvSpPr>
          <p:cNvPr id="37" name="Rounded Rectangle 36"/>
          <p:cNvSpPr/>
          <p:nvPr/>
        </p:nvSpPr>
        <p:spPr>
          <a:xfrm>
            <a:off x="6263640" y="5175504"/>
            <a:ext cx="2331720" cy="16459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Open Buildings</a:t>
            </a:r>
          </a:p>
        </p:txBody>
      </p:sp>
      <p:sp>
        <p:nvSpPr>
          <p:cNvPr id="38" name="Left Arrow 37"/>
          <p:cNvSpPr/>
          <p:nvPr/>
        </p:nvSpPr>
        <p:spPr>
          <a:xfrm rot="16200000">
            <a:off x="4517138" y="5493257"/>
            <a:ext cx="384047" cy="205743"/>
          </a:xfrm>
          <a:prstGeom prst="leftArrow">
            <a:avLst/>
          </a:prstGeom>
          <a:solidFill>
            <a:srgbClr val="B8C4D4"/>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40080" y="5788152"/>
            <a:ext cx="8138160" cy="621792"/>
          </a:xfrm>
          <a:prstGeom prst="rect">
            <a:avLst/>
          </a:prstGeom>
          <a:solidFill>
            <a:srgbClr val="F1F5FA"/>
          </a:solidFill>
          <a:ln w="9525">
            <a:solidFill>
              <a:srgbClr val="9AA4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640080" y="5788152"/>
            <a:ext cx="146304" cy="621792"/>
          </a:xfrm>
          <a:prstGeom prst="roundRect">
            <a:avLst/>
          </a:prstGeom>
          <a:solidFill>
            <a:srgbClr val="5A6474"/>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60120" y="5888736"/>
            <a:ext cx="2743200" cy="292608"/>
          </a:xfrm>
          <a:prstGeom prst="rect">
            <a:avLst/>
          </a:prstGeom>
          <a:noFill/>
          <a:ln>
            <a:solidFill/>
          </a:ln>
        </p:spPr>
        <p:txBody>
          <a:bodyPr wrap="square">
            <a:spAutoFit/>
          </a:bodyPr>
          <a:lstStyle/>
          <a:p>
            <a:pPr algn="l">
              <a:spcAft>
                <a:spcPts val="0"/>
              </a:spcAft>
            </a:pPr>
            <a:r>
              <a:rPr sz="1150" b="1">
                <a:solidFill>
                  <a:srgbClr val="5A6474"/>
                </a:solidFill>
                <a:latin typeface="Segoe UI"/>
              </a:rPr>
              <a:t>CONFIGURATION</a:t>
            </a:r>
          </a:p>
        </p:txBody>
      </p:sp>
      <p:sp>
        <p:nvSpPr>
          <p:cNvPr id="42" name="TextBox 41"/>
          <p:cNvSpPr txBox="1"/>
          <p:nvPr/>
        </p:nvSpPr>
        <p:spPr>
          <a:xfrm>
            <a:off x="3840480" y="5888736"/>
            <a:ext cx="4754880" cy="457200"/>
          </a:xfrm>
          <a:prstGeom prst="rect">
            <a:avLst/>
          </a:prstGeom>
          <a:noFill/>
          <a:ln>
            <a:solidFill/>
          </a:ln>
        </p:spPr>
        <p:txBody>
          <a:bodyPr wrap="square">
            <a:spAutoFit/>
          </a:bodyPr>
          <a:lstStyle/>
          <a:p>
            <a:pPr algn="l">
              <a:spcAft>
                <a:spcPts val="0"/>
              </a:spcAft>
            </a:pPr>
            <a:r>
              <a:rPr sz="1050" b="0">
                <a:solidFill>
                  <a:srgbClr val="101826"/>
                </a:solidFill>
                <a:latin typeface="Segoe UI"/>
              </a:rPr>
              <a:t>config/varanasi.yaml  —  city, area, grid, epochs, thresholds, sources</a:t>
            </a:r>
          </a:p>
        </p:txBody>
      </p:sp>
      <p:sp>
        <p:nvSpPr>
          <p:cNvPr id="43" name="Rectangle 42"/>
          <p:cNvSpPr/>
          <p:nvPr/>
        </p:nvSpPr>
        <p:spPr>
          <a:xfrm>
            <a:off x="8961120" y="1572768"/>
            <a:ext cx="2560320" cy="1481328"/>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144000" y="1691640"/>
            <a:ext cx="2240280" cy="1280160"/>
          </a:xfrm>
          <a:prstGeom prst="rect">
            <a:avLst/>
          </a:prstGeom>
          <a:noFill/>
          <a:ln>
            <a:solidFill/>
          </a:ln>
        </p:spPr>
        <p:txBody>
          <a:bodyPr wrap="square">
            <a:spAutoFit/>
          </a:bodyPr>
          <a:lstStyle/>
          <a:p>
            <a:pPr algn="l">
              <a:spcAft>
                <a:spcPts val="500"/>
              </a:spcAft>
            </a:pPr>
            <a:r>
              <a:rPr sz="1150" b="1">
                <a:solidFill>
                  <a:srgbClr val="1B5FAF"/>
                </a:solidFill>
                <a:latin typeface="Segoe UI"/>
              </a:rPr>
              <a:t>Two paths, on purpose</a:t>
            </a:r>
          </a:p>
          <a:p>
            <a:pPr>
              <a:spcAft>
                <a:spcPts val="0"/>
              </a:spcAft>
            </a:pPr>
            <a:r>
              <a:rPr sz="950" b="0">
                <a:solidFill>
                  <a:srgbClr val="5A6474"/>
                </a:solidFill>
                <a:latin typeface="Segoe UI"/>
              </a:rPr>
              <a:t>Most projects of this kind stall at “first, get an Earth Engine account”. Splitting the sources means the core result exists before anyone logs in.</a:t>
            </a:r>
          </a:p>
        </p:txBody>
      </p:sp>
      <p:sp>
        <p:nvSpPr>
          <p:cNvPr id="45" name="Rectangle 44"/>
          <p:cNvSpPr/>
          <p:nvPr/>
        </p:nvSpPr>
        <p:spPr>
          <a:xfrm>
            <a:off x="8961120" y="3200400"/>
            <a:ext cx="2560320" cy="1481328"/>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144000" y="3319272"/>
            <a:ext cx="2240280" cy="1280160"/>
          </a:xfrm>
          <a:prstGeom prst="rect">
            <a:avLst/>
          </a:prstGeom>
          <a:noFill/>
          <a:ln>
            <a:solidFill/>
          </a:ln>
        </p:spPr>
        <p:txBody>
          <a:bodyPr wrap="square">
            <a:spAutoFit/>
          </a:bodyPr>
          <a:lstStyle/>
          <a:p>
            <a:pPr algn="l">
              <a:spcAft>
                <a:spcPts val="500"/>
              </a:spcAft>
            </a:pPr>
            <a:r>
              <a:rPr sz="1150" b="1">
                <a:solidFill>
                  <a:srgbClr val="101826"/>
                </a:solidFill>
                <a:latin typeface="Segoe UI"/>
              </a:rPr>
              <a:t>Layers only talk downward</a:t>
            </a:r>
          </a:p>
          <a:p>
            <a:pPr>
              <a:spcAft>
                <a:spcPts val="0"/>
              </a:spcAft>
            </a:pPr>
            <a:r>
              <a:rPr sz="950" b="0">
                <a:solidFill>
                  <a:srgbClr val="5A6474"/>
                </a:solidFill>
                <a:latin typeface="Segoe UI"/>
              </a:rPr>
              <a:t>Acquisition never analyses; analysis never downloads. That is why the analysis can be tested on synthetic data with no network — the suite runs in seconds.</a:t>
            </a:r>
          </a:p>
        </p:txBody>
      </p:sp>
      <p:sp>
        <p:nvSpPr>
          <p:cNvPr id="47" name="Rectangle 46"/>
          <p:cNvSpPr/>
          <p:nvPr/>
        </p:nvSpPr>
        <p:spPr>
          <a:xfrm>
            <a:off x="8961120" y="4828032"/>
            <a:ext cx="2560320" cy="1481328"/>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144000" y="4946904"/>
            <a:ext cx="2240280" cy="1280160"/>
          </a:xfrm>
          <a:prstGeom prst="rect">
            <a:avLst/>
          </a:prstGeom>
          <a:noFill/>
          <a:ln>
            <a:solidFill/>
          </a:ln>
        </p:spPr>
        <p:txBody>
          <a:bodyPr wrap="square">
            <a:spAutoFit/>
          </a:bodyPr>
          <a:lstStyle/>
          <a:p>
            <a:pPr algn="l">
              <a:spcAft>
                <a:spcPts val="500"/>
              </a:spcAft>
            </a:pPr>
            <a:r>
              <a:rPr sz="1150" b="1">
                <a:solidFill>
                  <a:srgbClr val="B26A00"/>
                </a:solidFill>
                <a:latin typeface="Segoe UI"/>
              </a:rPr>
              <a:t>A new city is a new file</a:t>
            </a:r>
          </a:p>
          <a:p>
            <a:pPr>
              <a:spcAft>
                <a:spcPts val="0"/>
              </a:spcAft>
            </a:pPr>
            <a:r>
              <a:rPr sz="950" b="0">
                <a:solidFill>
                  <a:srgbClr val="5A6474"/>
                </a:solidFill>
                <a:latin typeface="Segoe UI"/>
              </a:rPr>
              <a:t>Nothing below the configuration layer is hard-coded. Pointing the system at another city changes a centre point and a radius, not a line of code.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a:ln>
            <a:solidFill/>
          </a:ln>
        </p:spPr>
        <p:txBody>
          <a:bodyPr wrap="square">
            <a:spAutoFit/>
          </a:bodyPr>
          <a:lstStyle/>
          <a:p>
            <a:pPr algn="l">
              <a:spcAft>
                <a:spcPts val="200"/>
              </a:spcAft>
            </a:pPr>
            <a:r>
              <a:rPr sz="3000" b="1">
                <a:solidFill>
                  <a:srgbClr val="101826"/>
                </a:solidFill>
                <a:latin typeface="Segoe UI"/>
              </a:rPr>
              <a:t>Datasets Acquired</a:t>
            </a:r>
          </a:p>
          <a:p>
            <a:pPr>
              <a:spcAft>
                <a:spcPts val="0"/>
              </a:spcAft>
            </a:pPr>
            <a:r>
              <a:rPr sz="1350" b="0">
                <a:solidFill>
                  <a:srgbClr val="1B5FAF"/>
                </a:solidFill>
                <a:latin typeface="Segoe UI"/>
              </a:rPr>
              <a:t>Official identifiers, exactly as published</a:t>
            </a:r>
          </a:p>
        </p:txBody>
      </p:sp>
      <p:sp>
        <p:nvSpPr>
          <p:cNvPr id="4" name="Rectangle 3"/>
          <p:cNvSpPr/>
          <p:nvPr/>
        </p:nvSpPr>
        <p:spPr>
          <a:xfrm>
            <a:off x="640080" y="1298448"/>
            <a:ext cx="1371600" cy="38100"/>
          </a:xfrm>
          <a:prstGeom prst="rect">
            <a:avLst/>
          </a:prstGeom>
          <a:solidFill>
            <a:srgbClr val="1B5FA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00200"/>
            <a:ext cx="10881360" cy="41148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91640"/>
            <a:ext cx="10698480" cy="320040"/>
          </a:xfrm>
          <a:prstGeom prst="rect">
            <a:avLst/>
          </a:prstGeom>
          <a:noFill/>
          <a:ln>
            <a:solidFill/>
          </a:ln>
        </p:spPr>
        <p:txBody>
          <a:bodyPr wrap="square">
            <a:spAutoFit/>
          </a:bodyPr>
          <a:lstStyle/>
          <a:p>
            <a:pPr algn="l">
              <a:spcAft>
                <a:spcPts val="0"/>
              </a:spcAft>
            </a:pPr>
            <a:endParaRPr/>
          </a:p>
        </p:txBody>
      </p:sp>
      <p:sp>
        <p:nvSpPr>
          <p:cNvPr id="7" name="TextBox 6"/>
          <p:cNvSpPr txBox="1"/>
          <p:nvPr/>
        </p:nvSpPr>
        <p:spPr>
          <a:xfrm>
            <a:off x="731520" y="1737360"/>
            <a:ext cx="3749039" cy="320040"/>
          </a:xfrm>
          <a:prstGeom prst="rect">
            <a:avLst/>
          </a:prstGeom>
          <a:noFill/>
          <a:ln>
            <a:solidFill/>
          </a:ln>
        </p:spPr>
        <p:txBody>
          <a:bodyPr wrap="square">
            <a:spAutoFit/>
          </a:bodyPr>
          <a:lstStyle/>
          <a:p>
            <a:pPr algn="l">
              <a:spcAft>
                <a:spcPts val="0"/>
              </a:spcAft>
            </a:pPr>
            <a:r>
              <a:rPr sz="1150" b="1">
                <a:solidFill>
                  <a:srgbClr val="1B5FAF"/>
                </a:solidFill>
                <a:latin typeface="Segoe UI"/>
              </a:rPr>
              <a:t>Official dataset</a:t>
            </a:r>
          </a:p>
        </p:txBody>
      </p:sp>
      <p:sp>
        <p:nvSpPr>
          <p:cNvPr id="8" name="TextBox 7"/>
          <p:cNvSpPr txBox="1"/>
          <p:nvPr/>
        </p:nvSpPr>
        <p:spPr>
          <a:xfrm>
            <a:off x="4572000" y="1737360"/>
            <a:ext cx="2011680" cy="320040"/>
          </a:xfrm>
          <a:prstGeom prst="rect">
            <a:avLst/>
          </a:prstGeom>
          <a:noFill/>
          <a:ln>
            <a:solidFill/>
          </a:ln>
        </p:spPr>
        <p:txBody>
          <a:bodyPr wrap="square">
            <a:spAutoFit/>
          </a:bodyPr>
          <a:lstStyle/>
          <a:p>
            <a:pPr algn="l">
              <a:spcAft>
                <a:spcPts val="0"/>
              </a:spcAft>
            </a:pPr>
            <a:r>
              <a:rPr sz="1150" b="1">
                <a:solidFill>
                  <a:srgbClr val="1B5FAF"/>
                </a:solidFill>
                <a:latin typeface="Segoe UI"/>
              </a:rPr>
              <a:t>Provider</a:t>
            </a:r>
          </a:p>
        </p:txBody>
      </p:sp>
      <p:sp>
        <p:nvSpPr>
          <p:cNvPr id="9" name="TextBox 8"/>
          <p:cNvSpPr txBox="1"/>
          <p:nvPr/>
        </p:nvSpPr>
        <p:spPr>
          <a:xfrm>
            <a:off x="6675120" y="1737360"/>
            <a:ext cx="1005840" cy="320040"/>
          </a:xfrm>
          <a:prstGeom prst="rect">
            <a:avLst/>
          </a:prstGeom>
          <a:noFill/>
          <a:ln>
            <a:solidFill/>
          </a:ln>
        </p:spPr>
        <p:txBody>
          <a:bodyPr wrap="square">
            <a:spAutoFit/>
          </a:bodyPr>
          <a:lstStyle/>
          <a:p>
            <a:pPr algn="l">
              <a:spcAft>
                <a:spcPts val="0"/>
              </a:spcAft>
            </a:pPr>
            <a:r>
              <a:rPr sz="1150" b="1">
                <a:solidFill>
                  <a:srgbClr val="1B5FAF"/>
                </a:solidFill>
                <a:latin typeface="Segoe UI"/>
              </a:rPr>
              <a:t>Res.</a:t>
            </a:r>
          </a:p>
        </p:txBody>
      </p:sp>
      <p:sp>
        <p:nvSpPr>
          <p:cNvPr id="10" name="TextBox 9"/>
          <p:cNvSpPr txBox="1"/>
          <p:nvPr/>
        </p:nvSpPr>
        <p:spPr>
          <a:xfrm>
            <a:off x="7772400" y="1737360"/>
            <a:ext cx="1828800" cy="320040"/>
          </a:xfrm>
          <a:prstGeom prst="rect">
            <a:avLst/>
          </a:prstGeom>
          <a:noFill/>
          <a:ln>
            <a:solidFill/>
          </a:ln>
        </p:spPr>
        <p:txBody>
          <a:bodyPr wrap="square">
            <a:spAutoFit/>
          </a:bodyPr>
          <a:lstStyle/>
          <a:p>
            <a:pPr algn="l">
              <a:spcAft>
                <a:spcPts val="0"/>
              </a:spcAft>
            </a:pPr>
            <a:r>
              <a:rPr sz="1150" b="1">
                <a:solidFill>
                  <a:srgbClr val="1B5FAF"/>
                </a:solidFill>
                <a:latin typeface="Segoe UI"/>
              </a:rPr>
              <a:t>Imagery dates</a:t>
            </a:r>
          </a:p>
        </p:txBody>
      </p:sp>
      <p:sp>
        <p:nvSpPr>
          <p:cNvPr id="11" name="TextBox 10"/>
          <p:cNvSpPr txBox="1"/>
          <p:nvPr/>
        </p:nvSpPr>
        <p:spPr>
          <a:xfrm>
            <a:off x="9692640" y="1737360"/>
            <a:ext cx="1920240" cy="320040"/>
          </a:xfrm>
          <a:prstGeom prst="rect">
            <a:avLst/>
          </a:prstGeom>
          <a:noFill/>
          <a:ln>
            <a:solidFill/>
          </a:ln>
        </p:spPr>
        <p:txBody>
          <a:bodyPr wrap="square">
            <a:spAutoFit/>
          </a:bodyPr>
          <a:lstStyle/>
          <a:p>
            <a:pPr algn="l">
              <a:spcAft>
                <a:spcPts val="0"/>
              </a:spcAft>
            </a:pPr>
            <a:r>
              <a:rPr sz="1150" b="1">
                <a:solidFill>
                  <a:srgbClr val="1B5FAF"/>
                </a:solidFill>
                <a:latin typeface="Segoe UI"/>
              </a:rPr>
              <a:t>Gives us</a:t>
            </a:r>
          </a:p>
        </p:txBody>
      </p:sp>
      <p:sp>
        <p:nvSpPr>
          <p:cNvPr id="12" name="TextBox 11"/>
          <p:cNvSpPr txBox="1"/>
          <p:nvPr/>
        </p:nvSpPr>
        <p:spPr>
          <a:xfrm>
            <a:off x="731520" y="2121408"/>
            <a:ext cx="3749039" cy="384048"/>
          </a:xfrm>
          <a:prstGeom prst="rect">
            <a:avLst/>
          </a:prstGeom>
          <a:noFill/>
          <a:ln>
            <a:solidFill/>
          </a:ln>
        </p:spPr>
        <p:txBody>
          <a:bodyPr wrap="square">
            <a:spAutoFit/>
          </a:bodyPr>
          <a:lstStyle/>
          <a:p>
            <a:pPr algn="l">
              <a:spcAft>
                <a:spcPts val="0"/>
              </a:spcAft>
            </a:pPr>
            <a:r>
              <a:rPr sz="1050" b="1">
                <a:solidFill>
                  <a:srgbClr val="101826"/>
                </a:solidFill>
                <a:latin typeface="Segoe UI"/>
              </a:rPr>
              <a:t>GHS-BUILT-S R2023A</a:t>
            </a:r>
          </a:p>
        </p:txBody>
      </p:sp>
      <p:sp>
        <p:nvSpPr>
          <p:cNvPr id="13" name="TextBox 12"/>
          <p:cNvSpPr txBox="1"/>
          <p:nvPr/>
        </p:nvSpPr>
        <p:spPr>
          <a:xfrm>
            <a:off x="4572000" y="2121408"/>
            <a:ext cx="201168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EC Joint Research Centre</a:t>
            </a:r>
          </a:p>
        </p:txBody>
      </p:sp>
      <p:sp>
        <p:nvSpPr>
          <p:cNvPr id="14" name="TextBox 13"/>
          <p:cNvSpPr txBox="1"/>
          <p:nvPr/>
        </p:nvSpPr>
        <p:spPr>
          <a:xfrm>
            <a:off x="6675120" y="2121408"/>
            <a:ext cx="100584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100 m</a:t>
            </a:r>
          </a:p>
        </p:txBody>
      </p:sp>
      <p:sp>
        <p:nvSpPr>
          <p:cNvPr id="15" name="TextBox 14"/>
          <p:cNvSpPr txBox="1"/>
          <p:nvPr/>
        </p:nvSpPr>
        <p:spPr>
          <a:xfrm>
            <a:off x="7772400" y="2121408"/>
            <a:ext cx="182880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2020 epoch</a:t>
            </a:r>
          </a:p>
        </p:txBody>
      </p:sp>
      <p:sp>
        <p:nvSpPr>
          <p:cNvPr id="16" name="TextBox 15"/>
          <p:cNvSpPr txBox="1"/>
          <p:nvPr/>
        </p:nvSpPr>
        <p:spPr>
          <a:xfrm>
            <a:off x="9692640" y="2121408"/>
            <a:ext cx="192024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Built-up surface</a:t>
            </a:r>
          </a:p>
        </p:txBody>
      </p:sp>
      <p:sp>
        <p:nvSpPr>
          <p:cNvPr id="17" name="TextBox 16"/>
          <p:cNvSpPr txBox="1"/>
          <p:nvPr/>
        </p:nvSpPr>
        <p:spPr>
          <a:xfrm>
            <a:off x="731520" y="2578608"/>
            <a:ext cx="3749039" cy="384048"/>
          </a:xfrm>
          <a:prstGeom prst="rect">
            <a:avLst/>
          </a:prstGeom>
          <a:noFill/>
          <a:ln>
            <a:solidFill/>
          </a:ln>
        </p:spPr>
        <p:txBody>
          <a:bodyPr wrap="square">
            <a:spAutoFit/>
          </a:bodyPr>
          <a:lstStyle/>
          <a:p>
            <a:pPr algn="l">
              <a:spcAft>
                <a:spcPts val="0"/>
              </a:spcAft>
            </a:pPr>
            <a:r>
              <a:rPr sz="1050" b="1">
                <a:solidFill>
                  <a:srgbClr val="101826"/>
                </a:solidFill>
                <a:latin typeface="Segoe UI"/>
              </a:rPr>
              <a:t>GHS-POP R2023A</a:t>
            </a:r>
          </a:p>
        </p:txBody>
      </p:sp>
      <p:sp>
        <p:nvSpPr>
          <p:cNvPr id="18" name="TextBox 17"/>
          <p:cNvSpPr txBox="1"/>
          <p:nvPr/>
        </p:nvSpPr>
        <p:spPr>
          <a:xfrm>
            <a:off x="4572000" y="2578608"/>
            <a:ext cx="201168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EC Joint Research Centre</a:t>
            </a:r>
          </a:p>
        </p:txBody>
      </p:sp>
      <p:sp>
        <p:nvSpPr>
          <p:cNvPr id="19" name="TextBox 18"/>
          <p:cNvSpPr txBox="1"/>
          <p:nvPr/>
        </p:nvSpPr>
        <p:spPr>
          <a:xfrm>
            <a:off x="6675120" y="2578608"/>
            <a:ext cx="100584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100 m</a:t>
            </a:r>
          </a:p>
        </p:txBody>
      </p:sp>
      <p:sp>
        <p:nvSpPr>
          <p:cNvPr id="20" name="TextBox 19"/>
          <p:cNvSpPr txBox="1"/>
          <p:nvPr/>
        </p:nvSpPr>
        <p:spPr>
          <a:xfrm>
            <a:off x="7772400" y="2578608"/>
            <a:ext cx="182880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2020 epoch</a:t>
            </a:r>
          </a:p>
        </p:txBody>
      </p:sp>
      <p:sp>
        <p:nvSpPr>
          <p:cNvPr id="21" name="TextBox 20"/>
          <p:cNvSpPr txBox="1"/>
          <p:nvPr/>
        </p:nvSpPr>
        <p:spPr>
          <a:xfrm>
            <a:off x="9692640" y="2578608"/>
            <a:ext cx="192024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Population</a:t>
            </a:r>
          </a:p>
        </p:txBody>
      </p:sp>
      <p:sp>
        <p:nvSpPr>
          <p:cNvPr id="22" name="TextBox 21"/>
          <p:cNvSpPr txBox="1"/>
          <p:nvPr/>
        </p:nvSpPr>
        <p:spPr>
          <a:xfrm>
            <a:off x="731520" y="3035808"/>
            <a:ext cx="3749039" cy="384048"/>
          </a:xfrm>
          <a:prstGeom prst="rect">
            <a:avLst/>
          </a:prstGeom>
          <a:noFill/>
          <a:ln>
            <a:solidFill/>
          </a:ln>
        </p:spPr>
        <p:txBody>
          <a:bodyPr wrap="square">
            <a:spAutoFit/>
          </a:bodyPr>
          <a:lstStyle/>
          <a:p>
            <a:pPr algn="l">
              <a:spcAft>
                <a:spcPts val="0"/>
              </a:spcAft>
            </a:pPr>
            <a:r>
              <a:rPr sz="1050" b="1">
                <a:solidFill>
                  <a:srgbClr val="101826"/>
                </a:solidFill>
                <a:latin typeface="Segoe UI"/>
              </a:rPr>
              <a:t>NOAA/VIIRS/DNB/ANNUAL_V21 / _V22</a:t>
            </a:r>
          </a:p>
        </p:txBody>
      </p:sp>
      <p:sp>
        <p:nvSpPr>
          <p:cNvPr id="23" name="TextBox 22"/>
          <p:cNvSpPr txBox="1"/>
          <p:nvPr/>
        </p:nvSpPr>
        <p:spPr>
          <a:xfrm>
            <a:off x="4572000" y="3035808"/>
            <a:ext cx="201168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NOAA</a:t>
            </a:r>
          </a:p>
        </p:txBody>
      </p:sp>
      <p:sp>
        <p:nvSpPr>
          <p:cNvPr id="24" name="TextBox 23"/>
          <p:cNvSpPr txBox="1"/>
          <p:nvPr/>
        </p:nvSpPr>
        <p:spPr>
          <a:xfrm>
            <a:off x="6675120" y="3035808"/>
            <a:ext cx="100584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463 m</a:t>
            </a:r>
          </a:p>
        </p:txBody>
      </p:sp>
      <p:sp>
        <p:nvSpPr>
          <p:cNvPr id="25" name="TextBox 24"/>
          <p:cNvSpPr txBox="1"/>
          <p:nvPr/>
        </p:nvSpPr>
        <p:spPr>
          <a:xfrm>
            <a:off x="7772400" y="3035808"/>
            <a:ext cx="182880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2013–2024</a:t>
            </a:r>
          </a:p>
        </p:txBody>
      </p:sp>
      <p:sp>
        <p:nvSpPr>
          <p:cNvPr id="26" name="TextBox 25"/>
          <p:cNvSpPr txBox="1"/>
          <p:nvPr/>
        </p:nvSpPr>
        <p:spPr>
          <a:xfrm>
            <a:off x="9692640" y="3035808"/>
            <a:ext cx="192024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Nighttime lights</a:t>
            </a:r>
          </a:p>
        </p:txBody>
      </p:sp>
      <p:sp>
        <p:nvSpPr>
          <p:cNvPr id="27" name="TextBox 26"/>
          <p:cNvSpPr txBox="1"/>
          <p:nvPr/>
        </p:nvSpPr>
        <p:spPr>
          <a:xfrm>
            <a:off x="731520" y="3493008"/>
            <a:ext cx="3749039" cy="384048"/>
          </a:xfrm>
          <a:prstGeom prst="rect">
            <a:avLst/>
          </a:prstGeom>
          <a:noFill/>
          <a:ln>
            <a:solidFill/>
          </a:ln>
        </p:spPr>
        <p:txBody>
          <a:bodyPr wrap="square">
            <a:spAutoFit/>
          </a:bodyPr>
          <a:lstStyle/>
          <a:p>
            <a:pPr algn="l">
              <a:spcAft>
                <a:spcPts val="0"/>
              </a:spcAft>
            </a:pPr>
            <a:r>
              <a:rPr sz="1050" b="1">
                <a:solidFill>
                  <a:srgbClr val="101826"/>
                </a:solidFill>
                <a:latin typeface="Segoe UI"/>
              </a:rPr>
              <a:t>COPERNICUS/S2_SR_HARMONIZED</a:t>
            </a:r>
          </a:p>
        </p:txBody>
      </p:sp>
      <p:sp>
        <p:nvSpPr>
          <p:cNvPr id="28" name="TextBox 27"/>
          <p:cNvSpPr txBox="1"/>
          <p:nvPr/>
        </p:nvSpPr>
        <p:spPr>
          <a:xfrm>
            <a:off x="4572000" y="3493008"/>
            <a:ext cx="201168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ESA / Copernicus</a:t>
            </a:r>
          </a:p>
        </p:txBody>
      </p:sp>
      <p:sp>
        <p:nvSpPr>
          <p:cNvPr id="29" name="TextBox 28"/>
          <p:cNvSpPr txBox="1"/>
          <p:nvPr/>
        </p:nvSpPr>
        <p:spPr>
          <a:xfrm>
            <a:off x="6675120" y="3493008"/>
            <a:ext cx="100584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10 m</a:t>
            </a:r>
          </a:p>
        </p:txBody>
      </p:sp>
      <p:sp>
        <p:nvSpPr>
          <p:cNvPr id="30" name="TextBox 29"/>
          <p:cNvSpPr txBox="1"/>
          <p:nvPr/>
        </p:nvSpPr>
        <p:spPr>
          <a:xfrm>
            <a:off x="7772400" y="3493008"/>
            <a:ext cx="182880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Oct 2024 – Mar 2025</a:t>
            </a:r>
          </a:p>
        </p:txBody>
      </p:sp>
      <p:sp>
        <p:nvSpPr>
          <p:cNvPr id="31" name="TextBox 30"/>
          <p:cNvSpPr txBox="1"/>
          <p:nvPr/>
        </p:nvSpPr>
        <p:spPr>
          <a:xfrm>
            <a:off x="9692640" y="3493008"/>
            <a:ext cx="192024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True colour, NDVI, NDBI</a:t>
            </a:r>
          </a:p>
        </p:txBody>
      </p:sp>
      <p:sp>
        <p:nvSpPr>
          <p:cNvPr id="32" name="TextBox 31"/>
          <p:cNvSpPr txBox="1"/>
          <p:nvPr/>
        </p:nvSpPr>
        <p:spPr>
          <a:xfrm>
            <a:off x="731520" y="3950208"/>
            <a:ext cx="3749039" cy="384048"/>
          </a:xfrm>
          <a:prstGeom prst="rect">
            <a:avLst/>
          </a:prstGeom>
          <a:noFill/>
          <a:ln>
            <a:solidFill/>
          </a:ln>
        </p:spPr>
        <p:txBody>
          <a:bodyPr wrap="square">
            <a:spAutoFit/>
          </a:bodyPr>
          <a:lstStyle/>
          <a:p>
            <a:pPr algn="l">
              <a:spcAft>
                <a:spcPts val="0"/>
              </a:spcAft>
            </a:pPr>
            <a:r>
              <a:rPr sz="1050" b="1">
                <a:solidFill>
                  <a:srgbClr val="101826"/>
                </a:solidFill>
                <a:latin typeface="Segoe UI"/>
              </a:rPr>
              <a:t>LANDSAT/LC08 &amp; LC09/C02/T1_L2</a:t>
            </a:r>
          </a:p>
        </p:txBody>
      </p:sp>
      <p:sp>
        <p:nvSpPr>
          <p:cNvPr id="33" name="TextBox 32"/>
          <p:cNvSpPr txBox="1"/>
          <p:nvPr/>
        </p:nvSpPr>
        <p:spPr>
          <a:xfrm>
            <a:off x="4572000" y="3950208"/>
            <a:ext cx="201168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USGS</a:t>
            </a:r>
          </a:p>
        </p:txBody>
      </p:sp>
      <p:sp>
        <p:nvSpPr>
          <p:cNvPr id="34" name="TextBox 33"/>
          <p:cNvSpPr txBox="1"/>
          <p:nvPr/>
        </p:nvSpPr>
        <p:spPr>
          <a:xfrm>
            <a:off x="6675120" y="3950208"/>
            <a:ext cx="100584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30 m</a:t>
            </a:r>
          </a:p>
        </p:txBody>
      </p:sp>
      <p:sp>
        <p:nvSpPr>
          <p:cNvPr id="35" name="TextBox 34"/>
          <p:cNvSpPr txBox="1"/>
          <p:nvPr/>
        </p:nvSpPr>
        <p:spPr>
          <a:xfrm>
            <a:off x="7772400" y="3950208"/>
            <a:ext cx="182880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Mar – May 2024</a:t>
            </a:r>
          </a:p>
        </p:txBody>
      </p:sp>
      <p:sp>
        <p:nvSpPr>
          <p:cNvPr id="36" name="TextBox 35"/>
          <p:cNvSpPr txBox="1"/>
          <p:nvPr/>
        </p:nvSpPr>
        <p:spPr>
          <a:xfrm>
            <a:off x="9692640" y="3950208"/>
            <a:ext cx="192024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Land surface temperature</a:t>
            </a:r>
          </a:p>
        </p:txBody>
      </p:sp>
      <p:sp>
        <p:nvSpPr>
          <p:cNvPr id="37" name="TextBox 36"/>
          <p:cNvSpPr txBox="1"/>
          <p:nvPr/>
        </p:nvSpPr>
        <p:spPr>
          <a:xfrm>
            <a:off x="731520" y="4407408"/>
            <a:ext cx="3749039" cy="384048"/>
          </a:xfrm>
          <a:prstGeom prst="rect">
            <a:avLst/>
          </a:prstGeom>
          <a:noFill/>
          <a:ln>
            <a:solidFill/>
          </a:ln>
        </p:spPr>
        <p:txBody>
          <a:bodyPr wrap="square">
            <a:spAutoFit/>
          </a:bodyPr>
          <a:lstStyle/>
          <a:p>
            <a:pPr algn="l">
              <a:spcAft>
                <a:spcPts val="0"/>
              </a:spcAft>
            </a:pPr>
            <a:r>
              <a:rPr sz="1050" b="1">
                <a:solidFill>
                  <a:srgbClr val="101826"/>
                </a:solidFill>
                <a:latin typeface="Segoe UI"/>
              </a:rPr>
              <a:t>GOOGLE/DYNAMICWORLD/V1</a:t>
            </a:r>
          </a:p>
        </p:txBody>
      </p:sp>
      <p:sp>
        <p:nvSpPr>
          <p:cNvPr id="38" name="TextBox 37"/>
          <p:cNvSpPr txBox="1"/>
          <p:nvPr/>
        </p:nvSpPr>
        <p:spPr>
          <a:xfrm>
            <a:off x="4572000" y="4407408"/>
            <a:ext cx="201168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Google</a:t>
            </a:r>
          </a:p>
        </p:txBody>
      </p:sp>
      <p:sp>
        <p:nvSpPr>
          <p:cNvPr id="39" name="TextBox 38"/>
          <p:cNvSpPr txBox="1"/>
          <p:nvPr/>
        </p:nvSpPr>
        <p:spPr>
          <a:xfrm>
            <a:off x="6675120" y="4407408"/>
            <a:ext cx="100584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10 m</a:t>
            </a:r>
          </a:p>
        </p:txBody>
      </p:sp>
      <p:sp>
        <p:nvSpPr>
          <p:cNvPr id="40" name="TextBox 39"/>
          <p:cNvSpPr txBox="1"/>
          <p:nvPr/>
        </p:nvSpPr>
        <p:spPr>
          <a:xfrm>
            <a:off x="7772400" y="4407408"/>
            <a:ext cx="182880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Oct 2024 – Mar 2025</a:t>
            </a:r>
          </a:p>
        </p:txBody>
      </p:sp>
      <p:sp>
        <p:nvSpPr>
          <p:cNvPr id="41" name="TextBox 40"/>
          <p:cNvSpPr txBox="1"/>
          <p:nvPr/>
        </p:nvSpPr>
        <p:spPr>
          <a:xfrm>
            <a:off x="9692640" y="4407408"/>
            <a:ext cx="192024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Land cover</a:t>
            </a:r>
          </a:p>
        </p:txBody>
      </p:sp>
      <p:sp>
        <p:nvSpPr>
          <p:cNvPr id="42" name="TextBox 41"/>
          <p:cNvSpPr txBox="1"/>
          <p:nvPr/>
        </p:nvSpPr>
        <p:spPr>
          <a:xfrm>
            <a:off x="731520" y="4864608"/>
            <a:ext cx="3749039" cy="384048"/>
          </a:xfrm>
          <a:prstGeom prst="rect">
            <a:avLst/>
          </a:prstGeom>
          <a:noFill/>
          <a:ln>
            <a:solidFill/>
          </a:ln>
        </p:spPr>
        <p:txBody>
          <a:bodyPr wrap="square">
            <a:spAutoFit/>
          </a:bodyPr>
          <a:lstStyle/>
          <a:p>
            <a:pPr algn="l">
              <a:spcAft>
                <a:spcPts val="0"/>
              </a:spcAft>
            </a:pPr>
            <a:r>
              <a:rPr sz="1050" b="1">
                <a:solidFill>
                  <a:srgbClr val="101826"/>
                </a:solidFill>
                <a:latin typeface="Segoe UI"/>
              </a:rPr>
              <a:t>GOOGLE/Research/open-buildings-temporal/v1</a:t>
            </a:r>
          </a:p>
        </p:txBody>
      </p:sp>
      <p:sp>
        <p:nvSpPr>
          <p:cNvPr id="43" name="TextBox 42"/>
          <p:cNvSpPr txBox="1"/>
          <p:nvPr/>
        </p:nvSpPr>
        <p:spPr>
          <a:xfrm>
            <a:off x="4572000" y="4864608"/>
            <a:ext cx="201168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Google</a:t>
            </a:r>
          </a:p>
        </p:txBody>
      </p:sp>
      <p:sp>
        <p:nvSpPr>
          <p:cNvPr id="44" name="TextBox 43"/>
          <p:cNvSpPr txBox="1"/>
          <p:nvPr/>
        </p:nvSpPr>
        <p:spPr>
          <a:xfrm>
            <a:off x="6675120" y="4864608"/>
            <a:ext cx="100584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4 m</a:t>
            </a:r>
          </a:p>
        </p:txBody>
      </p:sp>
      <p:sp>
        <p:nvSpPr>
          <p:cNvPr id="45" name="TextBox 44"/>
          <p:cNvSpPr txBox="1"/>
          <p:nvPr/>
        </p:nvSpPr>
        <p:spPr>
          <a:xfrm>
            <a:off x="7772400" y="4864608"/>
            <a:ext cx="182880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2023</a:t>
            </a:r>
          </a:p>
        </p:txBody>
      </p:sp>
      <p:sp>
        <p:nvSpPr>
          <p:cNvPr id="46" name="TextBox 45"/>
          <p:cNvSpPr txBox="1"/>
          <p:nvPr/>
        </p:nvSpPr>
        <p:spPr>
          <a:xfrm>
            <a:off x="9692640" y="4864608"/>
            <a:ext cx="192024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Building height</a:t>
            </a:r>
          </a:p>
        </p:txBody>
      </p:sp>
      <p:sp>
        <p:nvSpPr>
          <p:cNvPr id="47" name="TextBox 46"/>
          <p:cNvSpPr txBox="1"/>
          <p:nvPr/>
        </p:nvSpPr>
        <p:spPr>
          <a:xfrm>
            <a:off x="731520" y="5321808"/>
            <a:ext cx="3749039" cy="384048"/>
          </a:xfrm>
          <a:prstGeom prst="rect">
            <a:avLst/>
          </a:prstGeom>
          <a:noFill/>
          <a:ln>
            <a:solidFill/>
          </a:ln>
        </p:spPr>
        <p:txBody>
          <a:bodyPr wrap="square">
            <a:spAutoFit/>
          </a:bodyPr>
          <a:lstStyle/>
          <a:p>
            <a:pPr algn="l">
              <a:spcAft>
                <a:spcPts val="0"/>
              </a:spcAft>
            </a:pPr>
            <a:r>
              <a:rPr sz="1050" b="1">
                <a:solidFill>
                  <a:srgbClr val="101826"/>
                </a:solidFill>
                <a:latin typeface="Segoe UI"/>
              </a:rPr>
              <a:t>OpenStreetMap · Overpass API</a:t>
            </a:r>
          </a:p>
        </p:txBody>
      </p:sp>
      <p:sp>
        <p:nvSpPr>
          <p:cNvPr id="48" name="TextBox 47"/>
          <p:cNvSpPr txBox="1"/>
          <p:nvPr/>
        </p:nvSpPr>
        <p:spPr>
          <a:xfrm>
            <a:off x="4572000" y="5321808"/>
            <a:ext cx="201168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OSM contributors</a:t>
            </a:r>
          </a:p>
        </p:txBody>
      </p:sp>
      <p:sp>
        <p:nvSpPr>
          <p:cNvPr id="49" name="TextBox 48"/>
          <p:cNvSpPr txBox="1"/>
          <p:nvPr/>
        </p:nvSpPr>
        <p:spPr>
          <a:xfrm>
            <a:off x="6675120" y="5321808"/>
            <a:ext cx="100584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vector</a:t>
            </a:r>
          </a:p>
        </p:txBody>
      </p:sp>
      <p:sp>
        <p:nvSpPr>
          <p:cNvPr id="50" name="TextBox 49"/>
          <p:cNvSpPr txBox="1"/>
          <p:nvPr/>
        </p:nvSpPr>
        <p:spPr>
          <a:xfrm>
            <a:off x="7772400" y="5321808"/>
            <a:ext cx="182880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Current</a:t>
            </a:r>
          </a:p>
        </p:txBody>
      </p:sp>
      <p:sp>
        <p:nvSpPr>
          <p:cNvPr id="51" name="TextBox 50"/>
          <p:cNvSpPr txBox="1"/>
          <p:nvPr/>
        </p:nvSpPr>
        <p:spPr>
          <a:xfrm>
            <a:off x="9692640" y="5321808"/>
            <a:ext cx="1920240" cy="384048"/>
          </a:xfrm>
          <a:prstGeom prst="rect">
            <a:avLst/>
          </a:prstGeom>
          <a:noFill/>
          <a:ln>
            <a:solidFill/>
          </a:ln>
        </p:spPr>
        <p:txBody>
          <a:bodyPr wrap="square">
            <a:spAutoFit/>
          </a:bodyPr>
          <a:lstStyle/>
          <a:p>
            <a:pPr algn="l">
              <a:spcAft>
                <a:spcPts val="0"/>
              </a:spcAft>
            </a:pPr>
            <a:r>
              <a:rPr sz="1050" b="0">
                <a:solidFill>
                  <a:srgbClr val="5A6474"/>
                </a:solidFill>
                <a:latin typeface="Segoe UI"/>
              </a:rPr>
              <a:t>Shops, offices, roads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a:ln>
            <a:solidFill/>
          </a:ln>
        </p:spPr>
        <p:txBody>
          <a:bodyPr wrap="square">
            <a:spAutoFit/>
          </a:bodyPr>
          <a:lstStyle/>
          <a:p>
            <a:pPr algn="l">
              <a:spcAft>
                <a:spcPts val="200"/>
              </a:spcAft>
            </a:pPr>
            <a:r>
              <a:rPr sz="3000" b="1">
                <a:solidFill>
                  <a:srgbClr val="101826"/>
                </a:solidFill>
                <a:latin typeface="Segoe UI"/>
              </a:rPr>
              <a:t>The Complete Pipeline</a:t>
            </a:r>
          </a:p>
          <a:p>
            <a:pPr>
              <a:spcAft>
                <a:spcPts val="0"/>
              </a:spcAft>
            </a:pPr>
            <a:r>
              <a:rPr sz="1350" b="0">
                <a:solidFill>
                  <a:srgbClr val="1B5FAF"/>
                </a:solidFill>
                <a:latin typeface="Segoe UI"/>
              </a:rPr>
              <a:t>Real output at every stage — nothing here is a sample image</a:t>
            </a:r>
          </a:p>
        </p:txBody>
      </p:sp>
      <p:sp>
        <p:nvSpPr>
          <p:cNvPr id="4" name="Rectangle 3"/>
          <p:cNvSpPr/>
          <p:nvPr/>
        </p:nvSpPr>
        <p:spPr>
          <a:xfrm>
            <a:off x="640080" y="1298448"/>
            <a:ext cx="1371600" cy="38100"/>
          </a:xfrm>
          <a:prstGeom prst="rect">
            <a:avLst/>
          </a:prstGeom>
          <a:solidFill>
            <a:srgbClr val="1B5FA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45920"/>
            <a:ext cx="2606040" cy="32004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truecolour.png"/>
          <p:cNvPicPr>
            <a:picLocks noChangeAspect="1"/>
          </p:cNvPicPr>
          <p:nvPr/>
        </p:nvPicPr>
        <p:blipFill>
          <a:blip r:embed="rId2"/>
          <a:stretch>
            <a:fillRect/>
          </a:stretch>
        </p:blipFill>
        <p:spPr>
          <a:xfrm>
            <a:off x="777240" y="1783080"/>
            <a:ext cx="2331720" cy="2005476"/>
          </a:xfrm>
          <a:prstGeom prst="rect">
            <a:avLst/>
          </a:prstGeom>
          <a:ln>
            <a:solidFill/>
          </a:ln>
        </p:spPr>
      </p:pic>
      <p:sp>
        <p:nvSpPr>
          <p:cNvPr id="7" name="TextBox 6"/>
          <p:cNvSpPr txBox="1"/>
          <p:nvPr/>
        </p:nvSpPr>
        <p:spPr>
          <a:xfrm>
            <a:off x="777240" y="4206240"/>
            <a:ext cx="2331720" cy="640080"/>
          </a:xfrm>
          <a:prstGeom prst="rect">
            <a:avLst/>
          </a:prstGeom>
          <a:noFill/>
          <a:ln>
            <a:solidFill/>
          </a:ln>
        </p:spPr>
        <p:txBody>
          <a:bodyPr wrap="square">
            <a:spAutoFit/>
          </a:bodyPr>
          <a:lstStyle/>
          <a:p>
            <a:pPr algn="l">
              <a:spcAft>
                <a:spcPts val="300"/>
              </a:spcAft>
            </a:pPr>
            <a:r>
              <a:rPr sz="1300" b="1">
                <a:solidFill>
                  <a:srgbClr val="1B5FAF"/>
                </a:solidFill>
                <a:latin typeface="Segoe UI"/>
              </a:rPr>
              <a:t>1 · Satellite image</a:t>
            </a:r>
          </a:p>
          <a:p>
            <a:pPr>
              <a:spcAft>
                <a:spcPts val="0"/>
              </a:spcAft>
            </a:pPr>
            <a:r>
              <a:rPr sz="1100" b="0">
                <a:solidFill>
                  <a:srgbClr val="5A6474"/>
                </a:solidFill>
                <a:latin typeface="Segoe UI"/>
              </a:rPr>
              <a:t>Sentinel-2 true colour</a:t>
            </a:r>
          </a:p>
        </p:txBody>
      </p:sp>
      <p:sp>
        <p:nvSpPr>
          <p:cNvPr id="8" name="Rectangle 7"/>
          <p:cNvSpPr/>
          <p:nvPr/>
        </p:nvSpPr>
        <p:spPr>
          <a:xfrm>
            <a:off x="3383280" y="1645920"/>
            <a:ext cx="2606040" cy="32004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builtup.png"/>
          <p:cNvPicPr>
            <a:picLocks noChangeAspect="1"/>
          </p:cNvPicPr>
          <p:nvPr/>
        </p:nvPicPr>
        <p:blipFill>
          <a:blip r:embed="rId3"/>
          <a:stretch>
            <a:fillRect/>
          </a:stretch>
        </p:blipFill>
        <p:spPr>
          <a:xfrm>
            <a:off x="3520440" y="1783080"/>
            <a:ext cx="2331720" cy="2006364"/>
          </a:xfrm>
          <a:prstGeom prst="rect">
            <a:avLst/>
          </a:prstGeom>
          <a:ln>
            <a:solidFill/>
          </a:ln>
        </p:spPr>
      </p:pic>
      <p:sp>
        <p:nvSpPr>
          <p:cNvPr id="10" name="TextBox 9"/>
          <p:cNvSpPr txBox="1"/>
          <p:nvPr/>
        </p:nvSpPr>
        <p:spPr>
          <a:xfrm>
            <a:off x="3520440" y="4206240"/>
            <a:ext cx="2331720" cy="640080"/>
          </a:xfrm>
          <a:prstGeom prst="rect">
            <a:avLst/>
          </a:prstGeom>
          <a:noFill/>
          <a:ln>
            <a:solidFill/>
          </a:ln>
        </p:spPr>
        <p:txBody>
          <a:bodyPr wrap="square">
            <a:spAutoFit/>
          </a:bodyPr>
          <a:lstStyle/>
          <a:p>
            <a:pPr algn="l">
              <a:spcAft>
                <a:spcPts val="300"/>
              </a:spcAft>
            </a:pPr>
            <a:r>
              <a:rPr sz="1300" b="1">
                <a:solidFill>
                  <a:srgbClr val="1B5FAF"/>
                </a:solidFill>
                <a:latin typeface="Segoe UI"/>
              </a:rPr>
              <a:t>2 · Built-up surface</a:t>
            </a:r>
          </a:p>
          <a:p>
            <a:pPr>
              <a:spcAft>
                <a:spcPts val="0"/>
              </a:spcAft>
            </a:pPr>
            <a:r>
              <a:rPr sz="1100" b="0">
                <a:solidFill>
                  <a:srgbClr val="5A6474"/>
                </a:solidFill>
                <a:latin typeface="Segoe UI"/>
              </a:rPr>
              <a:t>GHS-BUILT-S, 2020</a:t>
            </a:r>
          </a:p>
        </p:txBody>
      </p:sp>
      <p:sp>
        <p:nvSpPr>
          <p:cNvPr id="11" name="Rectangle 10"/>
          <p:cNvSpPr/>
          <p:nvPr/>
        </p:nvSpPr>
        <p:spPr>
          <a:xfrm>
            <a:off x="6126480" y="1645920"/>
            <a:ext cx="2606040" cy="32004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nightlights.png"/>
          <p:cNvPicPr>
            <a:picLocks noChangeAspect="1"/>
          </p:cNvPicPr>
          <p:nvPr/>
        </p:nvPicPr>
        <p:blipFill>
          <a:blip r:embed="rId4"/>
          <a:stretch>
            <a:fillRect/>
          </a:stretch>
        </p:blipFill>
        <p:spPr>
          <a:xfrm>
            <a:off x="6263640" y="1783080"/>
            <a:ext cx="2331720" cy="2006793"/>
          </a:xfrm>
          <a:prstGeom prst="rect">
            <a:avLst/>
          </a:prstGeom>
          <a:ln>
            <a:solidFill/>
          </a:ln>
        </p:spPr>
      </p:pic>
      <p:sp>
        <p:nvSpPr>
          <p:cNvPr id="13" name="TextBox 12"/>
          <p:cNvSpPr txBox="1"/>
          <p:nvPr/>
        </p:nvSpPr>
        <p:spPr>
          <a:xfrm>
            <a:off x="6263640" y="4206240"/>
            <a:ext cx="2331720" cy="640080"/>
          </a:xfrm>
          <a:prstGeom prst="rect">
            <a:avLst/>
          </a:prstGeom>
          <a:noFill/>
          <a:ln>
            <a:solidFill/>
          </a:ln>
        </p:spPr>
        <p:txBody>
          <a:bodyPr wrap="square">
            <a:spAutoFit/>
          </a:bodyPr>
          <a:lstStyle/>
          <a:p>
            <a:pPr algn="l">
              <a:spcAft>
                <a:spcPts val="300"/>
              </a:spcAft>
            </a:pPr>
            <a:r>
              <a:rPr sz="1300" b="1">
                <a:solidFill>
                  <a:srgbClr val="1B5FAF"/>
                </a:solidFill>
                <a:latin typeface="Segoe UI"/>
              </a:rPr>
              <a:t>3 · Activity</a:t>
            </a:r>
          </a:p>
          <a:p>
            <a:pPr>
              <a:spcAft>
                <a:spcPts val="0"/>
              </a:spcAft>
            </a:pPr>
            <a:r>
              <a:rPr sz="1100" b="0">
                <a:solidFill>
                  <a:srgbClr val="5A6474"/>
                </a:solidFill>
                <a:latin typeface="Segoe UI"/>
              </a:rPr>
              <a:t>VIIRS nighttime lights</a:t>
            </a:r>
          </a:p>
        </p:txBody>
      </p:sp>
      <p:sp>
        <p:nvSpPr>
          <p:cNvPr id="14" name="Rectangle 13"/>
          <p:cNvSpPr/>
          <p:nvPr/>
        </p:nvSpPr>
        <p:spPr>
          <a:xfrm>
            <a:off x="8869680" y="1645920"/>
            <a:ext cx="2606040" cy="32004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lst.png"/>
          <p:cNvPicPr>
            <a:picLocks noChangeAspect="1"/>
          </p:cNvPicPr>
          <p:nvPr/>
        </p:nvPicPr>
        <p:blipFill>
          <a:blip r:embed="rId5"/>
          <a:stretch>
            <a:fillRect/>
          </a:stretch>
        </p:blipFill>
        <p:spPr>
          <a:xfrm>
            <a:off x="9006840" y="1783080"/>
            <a:ext cx="2331720" cy="2006793"/>
          </a:xfrm>
          <a:prstGeom prst="rect">
            <a:avLst/>
          </a:prstGeom>
          <a:ln>
            <a:solidFill/>
          </a:ln>
        </p:spPr>
      </p:pic>
      <p:sp>
        <p:nvSpPr>
          <p:cNvPr id="16" name="TextBox 15"/>
          <p:cNvSpPr txBox="1"/>
          <p:nvPr/>
        </p:nvSpPr>
        <p:spPr>
          <a:xfrm>
            <a:off x="9006840" y="4206240"/>
            <a:ext cx="2331720" cy="640080"/>
          </a:xfrm>
          <a:prstGeom prst="rect">
            <a:avLst/>
          </a:prstGeom>
          <a:noFill/>
          <a:ln>
            <a:solidFill/>
          </a:ln>
        </p:spPr>
        <p:txBody>
          <a:bodyPr wrap="square">
            <a:spAutoFit/>
          </a:bodyPr>
          <a:lstStyle/>
          <a:p>
            <a:pPr algn="l">
              <a:spcAft>
                <a:spcPts val="300"/>
              </a:spcAft>
            </a:pPr>
            <a:r>
              <a:rPr sz="1300" b="1">
                <a:solidFill>
                  <a:srgbClr val="1B5FAF"/>
                </a:solidFill>
                <a:latin typeface="Segoe UI"/>
              </a:rPr>
              <a:t>4 · Heat island</a:t>
            </a:r>
          </a:p>
          <a:p>
            <a:pPr>
              <a:spcAft>
                <a:spcPts val="0"/>
              </a:spcAft>
            </a:pPr>
            <a:r>
              <a:rPr sz="1100" b="0">
                <a:solidFill>
                  <a:srgbClr val="5A6474"/>
                </a:solidFill>
                <a:latin typeface="Segoe UI"/>
              </a:rPr>
              <a:t>Landsat surface temperature</a:t>
            </a:r>
          </a:p>
        </p:txBody>
      </p:sp>
      <p:sp>
        <p:nvSpPr>
          <p:cNvPr id="17" name="Rectangle 16"/>
          <p:cNvSpPr/>
          <p:nvPr/>
        </p:nvSpPr>
        <p:spPr>
          <a:xfrm>
            <a:off x="640080" y="5029200"/>
            <a:ext cx="10881360" cy="13716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5193792"/>
            <a:ext cx="10332720" cy="523220"/>
          </a:xfrm>
          <a:prstGeom prst="rect">
            <a:avLst/>
          </a:prstGeom>
          <a:noFill/>
          <a:ln>
            <a:solidFill/>
          </a:ln>
        </p:spPr>
        <p:txBody>
          <a:bodyPr wrap="square">
            <a:spAutoFit/>
          </a:bodyPr>
          <a:lstStyle/>
          <a:p>
            <a:pPr algn="l">
              <a:spcAft>
                <a:spcPts val="800"/>
              </a:spcAft>
            </a:pPr>
            <a:r>
              <a:rPr sz="1400" b="1" dirty="0">
                <a:solidFill>
                  <a:srgbClr val="101826"/>
                </a:solidFill>
                <a:latin typeface="Segoe UI"/>
              </a:rPr>
              <a:t>→  combined into one activity index  →  compared against the level normal for that much development in this city  →  six-class growth typology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a:ln>
            <a:solidFill/>
          </a:ln>
        </p:spPr>
        <p:txBody>
          <a:bodyPr wrap="square">
            <a:spAutoFit/>
          </a:bodyPr>
          <a:lstStyle/>
          <a:p>
            <a:pPr algn="l">
              <a:spcAft>
                <a:spcPts val="200"/>
              </a:spcAft>
            </a:pPr>
            <a:r>
              <a:rPr sz="3000" b="1">
                <a:solidFill>
                  <a:srgbClr val="101826"/>
                </a:solidFill>
                <a:latin typeface="Segoe UI"/>
              </a:rPr>
              <a:t>Conclusion</a:t>
            </a:r>
          </a:p>
          <a:p>
            <a:pPr>
              <a:spcAft>
                <a:spcPts val="0"/>
              </a:spcAft>
            </a:pPr>
            <a:r>
              <a:rPr sz="1350" b="0">
                <a:solidFill>
                  <a:srgbClr val="1B5FAF"/>
                </a:solidFill>
                <a:latin typeface="Segoe UI"/>
              </a:rPr>
              <a:t>What the system delivers, and what it does not claim</a:t>
            </a:r>
          </a:p>
        </p:txBody>
      </p:sp>
      <p:sp>
        <p:nvSpPr>
          <p:cNvPr id="4" name="Rectangle 3"/>
          <p:cNvSpPr/>
          <p:nvPr/>
        </p:nvSpPr>
        <p:spPr>
          <a:xfrm>
            <a:off x="640080" y="1298448"/>
            <a:ext cx="1371600" cy="38100"/>
          </a:xfrm>
          <a:prstGeom prst="rect">
            <a:avLst/>
          </a:prstGeom>
          <a:solidFill>
            <a:srgbClr val="1B5FAF"/>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00200"/>
            <a:ext cx="5394960" cy="237744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783080"/>
            <a:ext cx="4846320" cy="2011680"/>
          </a:xfrm>
          <a:prstGeom prst="rect">
            <a:avLst/>
          </a:prstGeom>
          <a:noFill/>
          <a:ln>
            <a:solidFill/>
          </a:ln>
        </p:spPr>
        <p:txBody>
          <a:bodyPr wrap="square">
            <a:spAutoFit/>
          </a:bodyPr>
          <a:lstStyle/>
          <a:p>
            <a:pPr algn="l">
              <a:spcAft>
                <a:spcPts val="800"/>
              </a:spcAft>
            </a:pPr>
            <a:r>
              <a:rPr sz="1600" b="1">
                <a:solidFill>
                  <a:srgbClr val="1B5FAF"/>
                </a:solidFill>
                <a:latin typeface="Segoe UI"/>
              </a:rPr>
              <a:t>Key findings for Varanasi</a:t>
            </a:r>
            <a:r>
              <a:rPr sz="1300" b="1">
                <a:solidFill>
                  <a:srgbClr val="101826"/>
                </a:solidFill>
                <a:latin typeface="Segoe UI"/>
              </a:rPr>
              <a:t>Built-up +23.8%  </a:t>
            </a:r>
            <a:r>
              <a:rPr sz="1300">
                <a:solidFill>
                  <a:srgbClr val="5A6474"/>
                </a:solidFill>
                <a:latin typeface="Segoe UI"/>
              </a:rPr>
              <a:t>against population +10.3%, 2010–2020</a:t>
            </a:r>
          </a:p>
          <a:p>
            <a:pPr>
              <a:spcAft>
                <a:spcPts val="800"/>
              </a:spcAft>
            </a:pPr>
            <a:r>
              <a:rPr sz="1300" b="1">
                <a:solidFill>
                  <a:srgbClr val="101826"/>
                </a:solidFill>
                <a:latin typeface="Segoe UI"/>
              </a:rPr>
              <a:t>2.3× more land  </a:t>
            </a:r>
            <a:r>
              <a:rPr sz="1300">
                <a:solidFill>
                  <a:srgbClr val="5A6474"/>
                </a:solidFill>
                <a:latin typeface="Segoe UI"/>
              </a:rPr>
              <a:t>consumed per resident</a:t>
            </a:r>
          </a:p>
          <a:p>
            <a:pPr>
              <a:spcAft>
                <a:spcPts val="800"/>
              </a:spcAft>
            </a:pPr>
            <a:r>
              <a:rPr sz="1300" b="1">
                <a:solidFill>
                  <a:srgbClr val="101826"/>
                </a:solidFill>
                <a:latin typeface="Segoe UI"/>
              </a:rPr>
              <a:t>48.8% leapfrog  </a:t>
            </a:r>
            <a:r>
              <a:rPr sz="1300">
                <a:solidFill>
                  <a:srgbClr val="5A6474"/>
                </a:solidFill>
                <a:latin typeface="Segoe UI"/>
              </a:rPr>
              <a:t>new development detached from the city</a:t>
            </a:r>
          </a:p>
          <a:p>
            <a:pPr>
              <a:spcAft>
                <a:spcPts val="800"/>
              </a:spcAft>
            </a:pPr>
            <a:r>
              <a:rPr sz="1300" b="1">
                <a:solidFill>
                  <a:srgbClr val="101826"/>
                </a:solidFill>
                <a:latin typeface="Segoe UI"/>
              </a:rPr>
              <a:t>0.35 km² stalled  </a:t>
            </a:r>
            <a:r>
              <a:rPr sz="1300">
                <a:solidFill>
                  <a:srgbClr val="5A6474"/>
                </a:solidFill>
                <a:latin typeface="Segoe UI"/>
              </a:rPr>
              <a:t>across 15 zones, all peripheral</a:t>
            </a:r>
          </a:p>
          <a:p>
            <a:pPr>
              <a:spcAft>
                <a:spcPts val="800"/>
              </a:spcAft>
            </a:pPr>
            <a:r>
              <a:rPr sz="1300" b="1">
                <a:solidFill>
                  <a:srgbClr val="101826"/>
                </a:solidFill>
                <a:latin typeface="Segoe UI"/>
              </a:rPr>
              <a:t>+31.21 km²  </a:t>
            </a:r>
            <a:r>
              <a:rPr sz="1300">
                <a:solidFill>
                  <a:srgbClr val="5A6474"/>
                </a:solidFill>
                <a:latin typeface="Segoe UI"/>
              </a:rPr>
              <a:t>projected urban extent by 2030</a:t>
            </a:r>
          </a:p>
        </p:txBody>
      </p:sp>
      <p:sp>
        <p:nvSpPr>
          <p:cNvPr id="7" name="Rectangle 6"/>
          <p:cNvSpPr/>
          <p:nvPr/>
        </p:nvSpPr>
        <p:spPr>
          <a:xfrm>
            <a:off x="6309360" y="1600200"/>
            <a:ext cx="5212080" cy="237744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1783080"/>
            <a:ext cx="4663440" cy="2011680"/>
          </a:xfrm>
          <a:prstGeom prst="rect">
            <a:avLst/>
          </a:prstGeom>
          <a:noFill/>
          <a:ln>
            <a:solidFill/>
          </a:ln>
        </p:spPr>
        <p:txBody>
          <a:bodyPr wrap="square">
            <a:spAutoFit/>
          </a:bodyPr>
          <a:lstStyle/>
          <a:p>
            <a:pPr algn="l">
              <a:spcAft>
                <a:spcPts val="1000"/>
              </a:spcAft>
            </a:pPr>
            <a:r>
              <a:rPr sz="1600" b="1">
                <a:solidFill>
                  <a:srgbClr val="1B5FAF"/>
                </a:solidFill>
                <a:latin typeface="Segoe UI"/>
              </a:rPr>
              <a:t>Contribution</a:t>
            </a:r>
          </a:p>
          <a:p>
            <a:pPr>
              <a:spcAft>
                <a:spcPts val="0"/>
              </a:spcAft>
            </a:pPr>
            <a:r>
              <a:rPr sz="1300" b="0">
                <a:solidFill>
                  <a:srgbClr val="5A6474"/>
                </a:solidFill>
                <a:latin typeface="Segoe UI"/>
              </a:rPr>
              <a:t>The activity level expected of a place is learned from the city's own data rather than set as a fixed threshold, so the method transfers to any city unchanged. Development that has stalled is separated from development still filling up — a distinction that accounts for 95% of what would otherwise be reported as a problem.</a:t>
            </a:r>
          </a:p>
        </p:txBody>
      </p:sp>
      <p:sp>
        <p:nvSpPr>
          <p:cNvPr id="9" name="Rectangle 8"/>
          <p:cNvSpPr/>
          <p:nvPr/>
        </p:nvSpPr>
        <p:spPr>
          <a:xfrm>
            <a:off x="640080" y="4160520"/>
            <a:ext cx="5394960" cy="192024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4315968"/>
            <a:ext cx="4846320" cy="1645920"/>
          </a:xfrm>
          <a:prstGeom prst="rect">
            <a:avLst/>
          </a:prstGeom>
          <a:noFill/>
          <a:ln>
            <a:solidFill/>
          </a:ln>
        </p:spPr>
        <p:txBody>
          <a:bodyPr wrap="square">
            <a:spAutoFit/>
          </a:bodyPr>
          <a:lstStyle/>
          <a:p>
            <a:pPr algn="l">
              <a:spcAft>
                <a:spcPts val="700"/>
              </a:spcAft>
            </a:pPr>
            <a:r>
              <a:rPr sz="1250" b="0">
                <a:solidFill>
                  <a:srgbClr val="5A6474"/>
                </a:solidFill>
                <a:latin typeface="Segoe UI"/>
              </a:rPr>
              <a:t>Screening, not a census — the smallest reliable unit is a neighbourhood</a:t>
            </a:r>
          </a:p>
          <a:p>
            <a:pPr>
              <a:spcAft>
                <a:spcPts val="700"/>
              </a:spcAft>
            </a:pPr>
            <a:r>
              <a:rPr sz="1250" b="0">
                <a:solidFill>
                  <a:srgbClr val="5A6474"/>
                </a:solidFill>
                <a:latin typeface="Segoe UI"/>
              </a:rPr>
              <a:t>No ground validation yet; that is the first Phase 3 task</a:t>
            </a:r>
          </a:p>
          <a:p>
            <a:pPr>
              <a:spcAft>
                <a:spcPts val="700"/>
              </a:spcAft>
            </a:pPr>
            <a:r>
              <a:rPr sz="1250" b="0">
                <a:solidFill>
                  <a:srgbClr val="5A6474"/>
                </a:solidFill>
                <a:latin typeface="Segoe UI"/>
              </a:rPr>
              <a:t>Figure of Merit 0.0679 carries real signal but is not parcel-accurate</a:t>
            </a:r>
          </a:p>
        </p:txBody>
      </p:sp>
      <p:sp>
        <p:nvSpPr>
          <p:cNvPr id="11" name="Rectangle 10"/>
          <p:cNvSpPr/>
          <p:nvPr/>
        </p:nvSpPr>
        <p:spPr>
          <a:xfrm>
            <a:off x="6309360" y="4160520"/>
            <a:ext cx="5212080" cy="192024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0" y="4315968"/>
            <a:ext cx="4663440" cy="1645920"/>
          </a:xfrm>
          <a:prstGeom prst="rect">
            <a:avLst/>
          </a:prstGeom>
          <a:noFill/>
          <a:ln>
            <a:solidFill/>
          </a:ln>
        </p:spPr>
        <p:txBody>
          <a:bodyPr wrap="square">
            <a:spAutoFit/>
          </a:bodyPr>
          <a:lstStyle/>
          <a:p>
            <a:pPr algn="l">
              <a:spcAft>
                <a:spcPts val="700"/>
              </a:spcAft>
            </a:pPr>
            <a:r>
              <a:rPr sz="1250" b="0">
                <a:solidFill>
                  <a:srgbClr val="5A6474"/>
                </a:solidFill>
                <a:latin typeface="Segoe UI"/>
              </a:rPr>
              <a:t>Ground validation of the 15 flagged zones</a:t>
            </a:r>
          </a:p>
          <a:p>
            <a:pPr>
              <a:spcAft>
                <a:spcPts val="700"/>
              </a:spcAft>
            </a:pPr>
            <a:r>
              <a:rPr sz="1250" b="0">
                <a:solidFill>
                  <a:srgbClr val="5A6474"/>
                </a:solidFill>
                <a:latin typeface="Segoe UI"/>
              </a:rPr>
              <a:t>Ward-level reporting on Census 2011 boundaries</a:t>
            </a:r>
          </a:p>
          <a:p>
            <a:pPr>
              <a:spcAft>
                <a:spcPts val="700"/>
              </a:spcAft>
            </a:pPr>
            <a:r>
              <a:rPr sz="1250" b="0">
                <a:solidFill>
                  <a:srgbClr val="5A6474"/>
                </a:solidFill>
                <a:latin typeface="Segoe UI"/>
              </a:rPr>
              <a:t>City search box replacing the configuration file</a:t>
            </a:r>
          </a:p>
          <a:p>
            <a:pPr>
              <a:spcAft>
                <a:spcPts val="700"/>
              </a:spcAft>
            </a:pPr>
            <a:r>
              <a:rPr sz="1250" b="0">
                <a:solidFill>
                  <a:srgbClr val="5A6474"/>
                </a:solidFill>
                <a:latin typeface="Segoe UI"/>
              </a:rPr>
              <a:t>Master-plan overlay: planned versus actual development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69</TotalTime>
  <Words>1903</Words>
  <Application>Microsoft Office PowerPoint</Application>
  <PresentationFormat>Widescreen</PresentationFormat>
  <Paragraphs>220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MOHAMMAD OWAIS</cp:lastModifiedBy>
  <cp:revision>4</cp:revision>
  <dcterms:created xsi:type="dcterms:W3CDTF">2013-01-27T09:14:16Z</dcterms:created>
  <dcterms:modified xsi:type="dcterms:W3CDTF">2026-08-19T07:06:01Z</dcterms:modified>
  <cp:category/>
</cp:coreProperties>
</file>