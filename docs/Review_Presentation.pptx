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1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truecolour.png"/>
          <p:cNvPicPr>
            <a:picLocks noChangeAspect="1"/>
          </p:cNvPicPr>
          <p:nvPr/>
        </p:nvPicPr>
        <p:blipFill>
          <a:blip r:embed="rId2"/>
          <a:stretch>
            <a:fillRect/>
          </a:stretch>
        </p:blipFill>
        <p:spPr>
          <a:xfrm>
            <a:off x="6888175" y="1148262"/>
            <a:ext cx="5303520" cy="4561475"/>
          </a:xfrm>
          <a:prstGeom prst="rect">
            <a:avLst/>
          </a:prstGeom>
        </p:spPr>
      </p:pic>
      <p:sp>
        <p:nvSpPr>
          <p:cNvPr id="4" name="TextBox 3"/>
          <p:cNvSpPr txBox="1"/>
          <p:nvPr/>
        </p:nvSpPr>
        <p:spPr>
          <a:xfrm>
            <a:off x="731520" y="1371600"/>
            <a:ext cx="6035040" cy="3657600"/>
          </a:xfrm>
          <a:prstGeom prst="rect">
            <a:avLst/>
          </a:prstGeom>
          <a:noFill/>
        </p:spPr>
        <p:txBody>
          <a:bodyPr wrap="square">
            <a:spAutoFit/>
          </a:bodyPr>
          <a:lstStyle/>
          <a:p>
            <a:pPr algn="l">
              <a:spcAft>
                <a:spcPts val="0"/>
              </a:spcAft>
            </a:pPr>
            <a:r>
              <a:rPr sz="3400" b="1">
                <a:solidFill>
                  <a:srgbClr val="E6EDF3"/>
                </a:solidFill>
                <a:latin typeface="Segoe UI"/>
              </a:rPr>
              <a:t>Satellite-Based Urban Growth and</a:t>
            </a:r>
          </a:p>
          <a:p>
            <a:pPr>
              <a:spcAft>
                <a:spcPts val="1000"/>
              </a:spcAft>
            </a:pPr>
            <a:r>
              <a:rPr sz="3400" b="1">
                <a:solidFill>
                  <a:srgbClr val="E6EDF3"/>
                </a:solidFill>
                <a:latin typeface="Segoe UI"/>
              </a:rPr>
              <a:t>Economic Activity Intelligence System</a:t>
            </a:r>
          </a:p>
          <a:p>
            <a:pPr>
              <a:spcAft>
                <a:spcPts val="2600"/>
              </a:spcAft>
            </a:pPr>
            <a:r>
              <a:rPr sz="1600" b="0">
                <a:solidFill>
                  <a:srgbClr val="4F9CF9"/>
                </a:solidFill>
                <a:latin typeface="Segoe UI"/>
              </a:rPr>
              <a:t>Detecting built-but-inactive development from open satellite data</a:t>
            </a:r>
          </a:p>
          <a:p>
            <a:pPr>
              <a:spcAft>
                <a:spcPts val="3000"/>
              </a:spcAft>
            </a:pPr>
            <a:r>
              <a:rPr sz="1500" b="0">
                <a:solidFill>
                  <a:srgbClr val="9AA4B0"/>
                </a:solidFill>
                <a:latin typeface="Segoe UI"/>
              </a:rPr>
              <a:t>Case study:  Varanasi, Uttar Pradesh</a:t>
            </a:r>
          </a:p>
          <a:p>
            <a:pPr>
              <a:spcAft>
                <a:spcPts val="400"/>
              </a:spcAft>
            </a:pPr>
            <a:r>
              <a:rPr sz="1200" b="1">
                <a:solidFill>
                  <a:srgbClr val="4F9CF9"/>
                </a:solidFill>
                <a:latin typeface="Segoe UI"/>
              </a:rPr>
              <a:t>Team</a:t>
            </a:r>
          </a:p>
          <a:p>
            <a:pPr>
              <a:spcAft>
                <a:spcPts val="300"/>
              </a:spcAft>
            </a:pPr>
            <a:r>
              <a:rPr sz="1500" b="0">
                <a:solidFill>
                  <a:srgbClr val="E6EDF3"/>
                </a:solidFill>
                <a:latin typeface="Segoe UI"/>
              </a:rPr>
              <a:t>[Name 1]  —  [Registration Number]</a:t>
            </a:r>
          </a:p>
          <a:p>
            <a:pPr>
              <a:spcAft>
                <a:spcPts val="300"/>
              </a:spcAft>
            </a:pPr>
            <a:r>
              <a:rPr sz="1500" b="0">
                <a:solidFill>
                  <a:srgbClr val="E6EDF3"/>
                </a:solidFill>
                <a:latin typeface="Segoe UI"/>
              </a:rPr>
              <a:t>[Name 2]  —  [Registration Number]</a:t>
            </a:r>
          </a:p>
          <a:p>
            <a:pPr>
              <a:spcAft>
                <a:spcPts val="1400"/>
              </a:spcAft>
            </a:pPr>
            <a:r>
              <a:rPr sz="1500" b="0">
                <a:solidFill>
                  <a:srgbClr val="E6EDF3"/>
                </a:solidFill>
                <a:latin typeface="Segoe UI"/>
              </a:rPr>
              <a:t>[Name 3]  —  [Registration Number]</a:t>
            </a:r>
          </a:p>
          <a:p>
            <a:pPr>
              <a:spcAft>
                <a:spcPts val="200"/>
              </a:spcAft>
            </a:pPr>
            <a:r>
              <a:rPr sz="1300" b="0">
                <a:solidFill>
                  <a:srgbClr val="9AA4B0"/>
                </a:solidFill>
                <a:latin typeface="Segoe UI"/>
              </a:rPr>
              <a:t>Guide:  [Guide Name]     ·     BCSE497J Project I</a:t>
            </a:r>
          </a:p>
          <a:p>
            <a:pPr>
              <a:spcAft>
                <a:spcPts val="0"/>
              </a:spcAft>
            </a:pPr>
            <a:r>
              <a:rPr sz="1300" b="0">
                <a:solidFill>
                  <a:srgbClr val="9AA4B0"/>
                </a:solidFill>
                <a:latin typeface="Segoe UI"/>
              </a:rPr>
              <a:t>School of Computer Science and Engineering  ·  Fall 2026–27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1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822960"/>
          </a:xfrm>
          <a:prstGeom prst="rect">
            <a:avLst/>
          </a:prstGeom>
          <a:noFill/>
        </p:spPr>
        <p:txBody>
          <a:bodyPr wrap="square">
            <a:spAutoFit/>
          </a:bodyPr>
          <a:lstStyle/>
          <a:p>
            <a:pPr algn="l">
              <a:spcAft>
                <a:spcPts val="200"/>
              </a:spcAft>
            </a:pPr>
            <a:r>
              <a:rPr sz="3000" b="1">
                <a:solidFill>
                  <a:srgbClr val="E6EDF3"/>
                </a:solidFill>
                <a:latin typeface="Segoe UI"/>
              </a:rPr>
              <a:t>Literature Review</a:t>
            </a:r>
          </a:p>
          <a:p>
            <a:pPr>
              <a:spcAft>
                <a:spcPts val="0"/>
              </a:spcAft>
            </a:pPr>
            <a:r>
              <a:rPr sz="1350" b="0">
                <a:solidFill>
                  <a:srgbClr val="4F9CF9"/>
                </a:solidFill>
                <a:latin typeface="Segoe UI"/>
              </a:rPr>
              <a:t>20 papers reviewed  ·  19 published in 2020 or later</a:t>
            </a:r>
          </a:p>
        </p:txBody>
      </p:sp>
      <p:sp>
        <p:nvSpPr>
          <p:cNvPr id="4" name="Rectangle 3"/>
          <p:cNvSpPr/>
          <p:nvPr/>
        </p:nvSpPr>
        <p:spPr>
          <a:xfrm>
            <a:off x="640080" y="1298448"/>
            <a:ext cx="1371600" cy="38100"/>
          </a:xfrm>
          <a:prstGeom prst="rect">
            <a:avLst/>
          </a:prstGeom>
          <a:solidFill>
            <a:srgbClr val="4F9C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00200"/>
            <a:ext cx="5394960" cy="4480560"/>
          </a:xfrm>
          <a:prstGeom prst="rect">
            <a:avLst/>
          </a:prstGeom>
          <a:solidFill>
            <a:srgbClr val="161A20"/>
          </a:solidFill>
          <a:ln w="9525">
            <a:solidFill>
              <a:srgbClr val="262C3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83080"/>
            <a:ext cx="4846320" cy="4114800"/>
          </a:xfrm>
          <a:prstGeom prst="rect">
            <a:avLst/>
          </a:prstGeom>
          <a:noFill/>
        </p:spPr>
        <p:txBody>
          <a:bodyPr wrap="square">
            <a:spAutoFit/>
          </a:bodyPr>
          <a:lstStyle/>
          <a:p>
            <a:pPr algn="l">
              <a:spcAft>
                <a:spcPts val="1100"/>
              </a:spcAft>
            </a:pPr>
            <a:r>
              <a:rPr sz="1700" b="1">
                <a:solidFill>
                  <a:srgbClr val="4F9CF9"/>
                </a:solidFill>
                <a:latin typeface="Segoe UI"/>
              </a:rPr>
              <a:t>Organised into five themes</a:t>
            </a:r>
            <a:r>
              <a:rPr sz="1450" b="1">
                <a:solidFill>
                  <a:srgbClr val="E6EDF3"/>
                </a:solidFill>
                <a:latin typeface="Segoe UI"/>
              </a:rPr>
              <a:t>A · Nighttime light as an activity proxy  </a:t>
            </a:r>
            <a:r>
              <a:rPr sz="1450">
                <a:solidFill>
                  <a:srgbClr val="9AA4B0"/>
                </a:solidFill>
                <a:latin typeface="Segoe UI"/>
              </a:rPr>
              <a:t>6 papers</a:t>
            </a:r>
          </a:p>
          <a:p>
            <a:pPr>
              <a:spcAft>
                <a:spcPts val="1100"/>
              </a:spcAft>
            </a:pPr>
            <a:r>
              <a:rPr sz="1450" b="1">
                <a:solidFill>
                  <a:srgbClr val="E6EDF3"/>
                </a:solidFill>
                <a:latin typeface="Segoe UI"/>
              </a:rPr>
              <a:t>B · Measuring built-up extent  </a:t>
            </a:r>
            <a:r>
              <a:rPr sz="1450">
                <a:solidFill>
                  <a:srgbClr val="9AA4B0"/>
                </a:solidFill>
                <a:latin typeface="Segoe UI"/>
              </a:rPr>
              <a:t>5 papers</a:t>
            </a:r>
          </a:p>
          <a:p>
            <a:pPr>
              <a:spcAft>
                <a:spcPts val="1100"/>
              </a:spcAft>
            </a:pPr>
            <a:r>
              <a:rPr sz="1450" b="1">
                <a:solidFill>
                  <a:srgbClr val="E6EDF3"/>
                </a:solidFill>
                <a:latin typeface="Segoe UI"/>
              </a:rPr>
              <a:t>C · Inferring activity and vacancy  </a:t>
            </a:r>
            <a:r>
              <a:rPr sz="1450">
                <a:solidFill>
                  <a:srgbClr val="9AA4B0"/>
                </a:solidFill>
                <a:latin typeface="Segoe UI"/>
              </a:rPr>
              <a:t>3 papers</a:t>
            </a:r>
          </a:p>
          <a:p>
            <a:pPr>
              <a:spcAft>
                <a:spcPts val="1100"/>
              </a:spcAft>
            </a:pPr>
            <a:r>
              <a:rPr sz="1450" b="1">
                <a:solidFill>
                  <a:srgbClr val="E6EDF3"/>
                </a:solidFill>
                <a:latin typeface="Segoe UI"/>
              </a:rPr>
              <a:t>D · Predicting future urban expansion  </a:t>
            </a:r>
            <a:r>
              <a:rPr sz="1450">
                <a:solidFill>
                  <a:srgbClr val="9AA4B0"/>
                </a:solidFill>
                <a:latin typeface="Segoe UI"/>
              </a:rPr>
              <a:t>4 papers</a:t>
            </a:r>
          </a:p>
          <a:p>
            <a:pPr>
              <a:spcAft>
                <a:spcPts val="1100"/>
              </a:spcAft>
            </a:pPr>
            <a:r>
              <a:rPr sz="1450" b="1">
                <a:solidFill>
                  <a:srgbClr val="E6EDF3"/>
                </a:solidFill>
                <a:latin typeface="Segoe UI"/>
              </a:rPr>
              <a:t>E · Environmental consequences  </a:t>
            </a:r>
            <a:r>
              <a:rPr sz="1450">
                <a:solidFill>
                  <a:srgbClr val="9AA4B0"/>
                </a:solidFill>
                <a:latin typeface="Segoe UI"/>
              </a:rPr>
              <a:t>2 papers</a:t>
            </a:r>
          </a:p>
          <a:p>
            <a:pPr>
              <a:spcAft>
                <a:spcPts val="800"/>
              </a:spcAft>
            </a:pPr>
            <a:r>
              <a:rPr sz="1500" b="1">
                <a:solidFill>
                  <a:srgbClr val="4F9CF9"/>
                </a:solidFill>
                <a:latin typeface="Segoe UI"/>
              </a:rPr>
              <a:t>Selection criterion</a:t>
            </a:r>
          </a:p>
          <a:p>
            <a:pPr>
              <a:spcAft>
                <a:spcPts val="0"/>
              </a:spcAft>
            </a:pPr>
            <a:r>
              <a:rPr sz="1300" b="0">
                <a:solidFill>
                  <a:srgbClr val="9AA4B0"/>
                </a:solidFill>
                <a:latin typeface="Segoe UI"/>
              </a:rPr>
              <a:t>Each paper must implement a model, release a product, and report quantitative validation. Reviews and papers that merely consume these products were excluded.</a:t>
            </a:r>
          </a:p>
        </p:txBody>
      </p:sp>
      <p:sp>
        <p:nvSpPr>
          <p:cNvPr id="7" name="Rectangle 6"/>
          <p:cNvSpPr/>
          <p:nvPr/>
        </p:nvSpPr>
        <p:spPr>
          <a:xfrm>
            <a:off x="6309360" y="1600200"/>
            <a:ext cx="5212080" cy="4480560"/>
          </a:xfrm>
          <a:prstGeom prst="rect">
            <a:avLst/>
          </a:prstGeom>
          <a:solidFill>
            <a:srgbClr val="161A20"/>
          </a:solidFill>
          <a:ln w="9525">
            <a:solidFill>
              <a:srgbClr val="262C3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0" y="1783080"/>
            <a:ext cx="4663440" cy="4114800"/>
          </a:xfrm>
          <a:prstGeom prst="rect">
            <a:avLst/>
          </a:prstGeom>
          <a:noFill/>
        </p:spPr>
        <p:txBody>
          <a:bodyPr wrap="square">
            <a:spAutoFit/>
          </a:bodyPr>
          <a:lstStyle/>
          <a:p>
            <a:pPr algn="l">
              <a:spcAft>
                <a:spcPts val="1000"/>
              </a:spcAft>
            </a:pPr>
            <a:r>
              <a:rPr sz="1700" b="1">
                <a:solidFill>
                  <a:srgbClr val="4F9CF9"/>
                </a:solidFill>
                <a:latin typeface="Segoe UI"/>
              </a:rPr>
              <a:t>Key implementations compared</a:t>
            </a:r>
            <a:r>
              <a:rPr sz="1350" b="1">
                <a:solidFill>
                  <a:srgbClr val="E6EDF3"/>
                </a:solidFill>
                <a:latin typeface="Segoe UI"/>
              </a:rPr>
              <a:t>Chen et al. 2024  </a:t>
            </a:r>
            <a:r>
              <a:rPr sz="1350">
                <a:solidFill>
                  <a:srgbClr val="9AA4B0"/>
                </a:solidFill>
                <a:latin typeface="Segoe UI"/>
              </a:rPr>
              <a:t>U-Net super-resolution · R² 0.617 pixel → 0.964 country</a:t>
            </a:r>
          </a:p>
          <a:p>
            <a:pPr>
              <a:spcAft>
                <a:spcPts val="1000"/>
              </a:spcAft>
            </a:pPr>
            <a:r>
              <a:rPr sz="1350" b="1">
                <a:solidFill>
                  <a:srgbClr val="E6EDF3"/>
                </a:solidFill>
                <a:latin typeface="Segoe UI"/>
              </a:rPr>
              <a:t>Chen Z. et al. 2021  </a:t>
            </a:r>
            <a:r>
              <a:rPr sz="1350">
                <a:solidFill>
                  <a:srgbClr val="9AA4B0"/>
                </a:solidFill>
                <a:latin typeface="Segoe UI"/>
              </a:rPr>
              <a:t>Auto-encoder + vegetation index · R² 0.87 / 0.95</a:t>
            </a:r>
          </a:p>
          <a:p>
            <a:pPr>
              <a:spcAft>
                <a:spcPts val="1000"/>
              </a:spcAft>
            </a:pPr>
            <a:r>
              <a:rPr sz="1350" b="1">
                <a:solidFill>
                  <a:srgbClr val="E6EDF3"/>
                </a:solidFill>
                <a:latin typeface="Segoe UI"/>
              </a:rPr>
              <a:t>Nechaev et al. 2021  </a:t>
            </a:r>
            <a:r>
              <a:rPr sz="1350">
                <a:solidFill>
                  <a:srgbClr val="9AA4B0"/>
                </a:solidFill>
                <a:latin typeface="Segoe UI"/>
              </a:rPr>
              <a:t>Residual U-Net · R² 0.94–0.99</a:t>
            </a:r>
          </a:p>
          <a:p>
            <a:pPr>
              <a:spcAft>
                <a:spcPts val="1000"/>
              </a:spcAft>
            </a:pPr>
            <a:r>
              <a:rPr sz="1350" b="1">
                <a:solidFill>
                  <a:srgbClr val="E6EDF3"/>
                </a:solidFill>
                <a:latin typeface="Segoe UI"/>
              </a:rPr>
              <a:t>Liang et al. 2021  </a:t>
            </a:r>
            <a:r>
              <a:rPr sz="1350">
                <a:solidFill>
                  <a:srgbClr val="9AA4B0"/>
                </a:solidFill>
                <a:latin typeface="Segoe UI"/>
              </a:rPr>
              <a:t>PLUS model · Figure of Merit 0.2642</a:t>
            </a:r>
          </a:p>
          <a:p>
            <a:pPr>
              <a:spcAft>
                <a:spcPts val="1000"/>
              </a:spcAft>
            </a:pPr>
            <a:r>
              <a:rPr sz="1350" b="1">
                <a:solidFill>
                  <a:srgbClr val="E6EDF3"/>
                </a:solidFill>
                <a:latin typeface="Segoe UI"/>
              </a:rPr>
              <a:t>Shojaei et al. 2022  </a:t>
            </a:r>
            <a:r>
              <a:rPr sz="1350">
                <a:solidFill>
                  <a:srgbClr val="9AA4B0"/>
                </a:solidFill>
                <a:latin typeface="Segoe UI"/>
              </a:rPr>
              <a:t>Modified U-Net · AUC 0.87 vs random forest 0.82</a:t>
            </a:r>
          </a:p>
          <a:p>
            <a:pPr>
              <a:spcAft>
                <a:spcPts val="1000"/>
              </a:spcAft>
            </a:pPr>
            <a:r>
              <a:rPr sz="1350" b="1">
                <a:solidFill>
                  <a:srgbClr val="E6EDF3"/>
                </a:solidFill>
                <a:latin typeface="Segoe UI"/>
              </a:rPr>
              <a:t>Zhang, Tu &amp; Long 2024  </a:t>
            </a:r>
            <a:r>
              <a:rPr sz="1350">
                <a:solidFill>
                  <a:srgbClr val="9AA4B0"/>
                </a:solidFill>
                <a:latin typeface="Segoe UI"/>
              </a:rPr>
              <a:t>Ghost cities globally · new areas 7.69% of old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1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822960"/>
          </a:xfrm>
          <a:prstGeom prst="rect">
            <a:avLst/>
          </a:prstGeom>
          <a:noFill/>
        </p:spPr>
        <p:txBody>
          <a:bodyPr wrap="square">
            <a:spAutoFit/>
          </a:bodyPr>
          <a:lstStyle/>
          <a:p>
            <a:pPr algn="l">
              <a:spcAft>
                <a:spcPts val="200"/>
              </a:spcAft>
            </a:pPr>
            <a:r>
              <a:rPr sz="3000" b="1">
                <a:solidFill>
                  <a:srgbClr val="E6EDF3"/>
                </a:solidFill>
                <a:latin typeface="Segoe UI"/>
              </a:rPr>
              <a:t>What the Literature Shows</a:t>
            </a:r>
          </a:p>
          <a:p>
            <a:pPr>
              <a:spcAft>
                <a:spcPts val="0"/>
              </a:spcAft>
            </a:pPr>
            <a:r>
              <a:rPr sz="1350" b="0">
                <a:solidFill>
                  <a:srgbClr val="4F9CF9"/>
                </a:solidFill>
                <a:latin typeface="Segoe UI"/>
              </a:rPr>
              <a:t>Three findings that changed our design</a:t>
            </a:r>
          </a:p>
        </p:txBody>
      </p:sp>
      <p:sp>
        <p:nvSpPr>
          <p:cNvPr id="4" name="Rectangle 3"/>
          <p:cNvSpPr/>
          <p:nvPr/>
        </p:nvSpPr>
        <p:spPr>
          <a:xfrm>
            <a:off x="640080" y="1298448"/>
            <a:ext cx="1371600" cy="38100"/>
          </a:xfrm>
          <a:prstGeom prst="rect">
            <a:avLst/>
          </a:prstGeom>
          <a:solidFill>
            <a:srgbClr val="4F9C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00200"/>
            <a:ext cx="3429000" cy="4480560"/>
          </a:xfrm>
          <a:prstGeom prst="rect">
            <a:avLst/>
          </a:prstGeom>
          <a:solidFill>
            <a:srgbClr val="161A20"/>
          </a:solidFill>
          <a:ln w="9525">
            <a:solidFill>
              <a:srgbClr val="262C3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783080"/>
            <a:ext cx="2971800" cy="4114800"/>
          </a:xfrm>
          <a:prstGeom prst="rect">
            <a:avLst/>
          </a:prstGeom>
          <a:noFill/>
        </p:spPr>
        <p:txBody>
          <a:bodyPr wrap="square">
            <a:spAutoFit/>
          </a:bodyPr>
          <a:lstStyle/>
          <a:p>
            <a:pPr algn="l">
              <a:spcAft>
                <a:spcPts val="1200"/>
              </a:spcAft>
            </a:pPr>
            <a:r>
              <a:rPr sz="1550" b="1">
                <a:solidFill>
                  <a:srgbClr val="4F9CF9"/>
                </a:solidFill>
                <a:latin typeface="Segoe UI"/>
              </a:rPr>
              <a:t>Accuracy depends on scale,</a:t>
            </a:r>
            <a:br/>
            <a:r>
              <a:rPr sz="1550" b="1">
                <a:solidFill>
                  <a:srgbClr val="4F9CF9"/>
                </a:solidFill>
                <a:latin typeface="Segoe UI"/>
              </a:rPr>
              <a:t>not on the model</a:t>
            </a:r>
          </a:p>
          <a:p>
            <a:pPr>
              <a:spcAft>
                <a:spcPts val="0"/>
              </a:spcAft>
            </a:pPr>
            <a:r>
              <a:rPr sz="1250" b="0">
                <a:solidFill>
                  <a:srgbClr val="9AA4B0"/>
                </a:solidFill>
                <a:latin typeface="Segoe UI"/>
              </a:rPr>
              <a:t>Chen et al. report R² rising 0.617 → 0.747 → 0.874 → 0.964 from pixel to country. Five different model families land in the same band.</a:t>
            </a:r>
            <a:br/>
            <a:br/>
            <a:r>
              <a:rPr sz="1250" b="0">
                <a:solidFill>
                  <a:srgbClr val="9AA4B0"/>
                </a:solidFill>
                <a:latin typeface="Segoe UI"/>
              </a:rPr>
              <a:t>→ We report on a 500 m grid and make no pixel-level claims.</a:t>
            </a:r>
          </a:p>
        </p:txBody>
      </p:sp>
      <p:sp>
        <p:nvSpPr>
          <p:cNvPr id="7" name="Rectangle 6"/>
          <p:cNvSpPr/>
          <p:nvPr/>
        </p:nvSpPr>
        <p:spPr>
          <a:xfrm>
            <a:off x="4251960" y="1600200"/>
            <a:ext cx="3429000" cy="4480560"/>
          </a:xfrm>
          <a:prstGeom prst="rect">
            <a:avLst/>
          </a:prstGeom>
          <a:solidFill>
            <a:srgbClr val="161A20"/>
          </a:solidFill>
          <a:ln w="9525">
            <a:solidFill>
              <a:srgbClr val="262C3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80560" y="1783080"/>
            <a:ext cx="2971800" cy="4114800"/>
          </a:xfrm>
          <a:prstGeom prst="rect">
            <a:avLst/>
          </a:prstGeom>
          <a:noFill/>
        </p:spPr>
        <p:txBody>
          <a:bodyPr wrap="square">
            <a:spAutoFit/>
          </a:bodyPr>
          <a:lstStyle/>
          <a:p>
            <a:pPr algn="l">
              <a:spcAft>
                <a:spcPts val="1200"/>
              </a:spcAft>
            </a:pPr>
            <a:r>
              <a:rPr sz="1550" b="1">
                <a:solidFill>
                  <a:srgbClr val="4F9CF9"/>
                </a:solidFill>
                <a:latin typeface="Segoe UI"/>
              </a:rPr>
              <a:t>Error concentrates at</a:t>
            </a:r>
            <a:br/>
            <a:r>
              <a:rPr sz="1550" b="1">
                <a:solidFill>
                  <a:srgbClr val="4F9CF9"/>
                </a:solidFill>
                <a:latin typeface="Segoe UI"/>
              </a:rPr>
              <a:t>the urban fringe</a:t>
            </a:r>
          </a:p>
          <a:p>
            <a:pPr>
              <a:spcAft>
                <a:spcPts val="0"/>
              </a:spcAft>
            </a:pPr>
            <a:r>
              <a:rPr sz="1250" b="0">
                <a:solidFill>
                  <a:srgbClr val="9AA4B0"/>
                </a:solidFill>
                <a:latin typeface="Segoe UI"/>
              </a:rPr>
              <a:t>Simulated nighttime-light products underestimate the city edge; a competing product overestimates cores instead. Two networks, two bias signs, both worst at the fringe.</a:t>
            </a:r>
            <a:br/>
            <a:br/>
            <a:r>
              <a:rPr sz="1250" b="0">
                <a:solidFill>
                  <a:srgbClr val="9AA4B0"/>
                </a:solidFill>
                <a:latin typeface="Segoe UI"/>
              </a:rPr>
              <a:t>→ Every ghost zone we find is peripheral, so we use only observed VIIRS data.</a:t>
            </a:r>
          </a:p>
        </p:txBody>
      </p:sp>
      <p:sp>
        <p:nvSpPr>
          <p:cNvPr id="9" name="Rectangle 8"/>
          <p:cNvSpPr/>
          <p:nvPr/>
        </p:nvSpPr>
        <p:spPr>
          <a:xfrm>
            <a:off x="7863840" y="1600200"/>
            <a:ext cx="3429000" cy="4480560"/>
          </a:xfrm>
          <a:prstGeom prst="rect">
            <a:avLst/>
          </a:prstGeom>
          <a:solidFill>
            <a:srgbClr val="161A20"/>
          </a:solidFill>
          <a:ln w="9525">
            <a:solidFill>
              <a:srgbClr val="262C3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92440" y="1783080"/>
            <a:ext cx="2971800" cy="4114800"/>
          </a:xfrm>
          <a:prstGeom prst="rect">
            <a:avLst/>
          </a:prstGeom>
          <a:noFill/>
        </p:spPr>
        <p:txBody>
          <a:bodyPr wrap="square">
            <a:spAutoFit/>
          </a:bodyPr>
          <a:lstStyle/>
          <a:p>
            <a:pPr algn="l">
              <a:spcAft>
                <a:spcPts val="1200"/>
              </a:spcAft>
            </a:pPr>
            <a:r>
              <a:rPr sz="1550" b="1">
                <a:solidFill>
                  <a:srgbClr val="4F9CF9"/>
                </a:solidFill>
                <a:latin typeface="Segoe UI"/>
              </a:rPr>
              <a:t>Deep learning buys automation,</a:t>
            </a:r>
            <a:br/>
            <a:r>
              <a:rPr sz="1550" b="1">
                <a:solidFill>
                  <a:srgbClr val="4F9CF9"/>
                </a:solidFill>
                <a:latin typeface="Segoe UI"/>
              </a:rPr>
              <a:t>not accuracy</a:t>
            </a:r>
          </a:p>
          <a:p>
            <a:pPr>
              <a:spcAft>
                <a:spcPts val="0"/>
              </a:spcAft>
            </a:pPr>
            <a:r>
              <a:rPr sz="1250" b="0">
                <a:solidFill>
                  <a:srgbClr val="9AA4B0"/>
                </a:solidFill>
                <a:latin typeface="Segoe UI"/>
              </a:rPr>
              <a:t>Wang et al. report U-Net at parity with cellular-automaton models. Sirko et al. found deeper encoders gave no gain.</a:t>
            </a:r>
            <a:br/>
            <a:br/>
            <a:r>
              <a:rPr sz="1250" b="0">
                <a:solidFill>
                  <a:srgbClr val="9AA4B0"/>
                </a:solidFill>
                <a:latin typeface="Segoe UI"/>
              </a:rPr>
              <a:t>→ We use Logistic Regression with a cellular automaton: no GPU, no labels, readable coefficients.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1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822960"/>
          </a:xfrm>
          <a:prstGeom prst="rect">
            <a:avLst/>
          </a:prstGeom>
          <a:noFill/>
        </p:spPr>
        <p:txBody>
          <a:bodyPr wrap="square">
            <a:spAutoFit/>
          </a:bodyPr>
          <a:lstStyle/>
          <a:p>
            <a:pPr algn="l">
              <a:spcAft>
                <a:spcPts val="200"/>
              </a:spcAft>
            </a:pPr>
            <a:r>
              <a:rPr sz="3000" b="1">
                <a:solidFill>
                  <a:srgbClr val="E6EDF3"/>
                </a:solidFill>
                <a:latin typeface="Segoe UI"/>
              </a:rPr>
              <a:t>The Research Gap</a:t>
            </a:r>
          </a:p>
          <a:p>
            <a:pPr>
              <a:spcAft>
                <a:spcPts val="0"/>
              </a:spcAft>
            </a:pPr>
            <a:r>
              <a:rPr sz="1350" b="0">
                <a:solidFill>
                  <a:srgbClr val="4F9CF9"/>
                </a:solidFill>
                <a:latin typeface="Segoe UI"/>
              </a:rPr>
              <a:t>What no existing study does</a:t>
            </a:r>
          </a:p>
        </p:txBody>
      </p:sp>
      <p:sp>
        <p:nvSpPr>
          <p:cNvPr id="4" name="Rectangle 3"/>
          <p:cNvSpPr/>
          <p:nvPr/>
        </p:nvSpPr>
        <p:spPr>
          <a:xfrm>
            <a:off x="640080" y="1298448"/>
            <a:ext cx="1371600" cy="38100"/>
          </a:xfrm>
          <a:prstGeom prst="rect">
            <a:avLst/>
          </a:prstGeom>
          <a:solidFill>
            <a:srgbClr val="4F9C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00200"/>
            <a:ext cx="10881360" cy="1371600"/>
          </a:xfrm>
          <a:prstGeom prst="rect">
            <a:avLst/>
          </a:prstGeom>
          <a:solidFill>
            <a:srgbClr val="161A20"/>
          </a:solidFill>
          <a:ln w="9525">
            <a:solidFill>
              <a:srgbClr val="262C3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83080"/>
            <a:ext cx="10332720" cy="1097280"/>
          </a:xfrm>
          <a:prstGeom prst="rect">
            <a:avLst/>
          </a:prstGeom>
          <a:noFill/>
        </p:spPr>
        <p:txBody>
          <a:bodyPr wrap="square">
            <a:spAutoFit/>
          </a:bodyPr>
          <a:lstStyle/>
          <a:p>
            <a:pPr algn="l">
              <a:spcAft>
                <a:spcPts val="0"/>
              </a:spcAft>
            </a:pPr>
            <a:r>
              <a:rPr sz="1700" b="1">
                <a:solidFill>
                  <a:srgbClr val="E6EDF3"/>
                </a:solidFill>
                <a:latin typeface="Segoe UI"/>
              </a:rPr>
              <a:t>No study learns the activity level normal for a given level of development within a city, then uses it to separate development that has stalled from development still being occupied.</a:t>
            </a:r>
          </a:p>
        </p:txBody>
      </p:sp>
      <p:sp>
        <p:nvSpPr>
          <p:cNvPr id="7" name="Rectangle 6"/>
          <p:cNvSpPr/>
          <p:nvPr/>
        </p:nvSpPr>
        <p:spPr>
          <a:xfrm>
            <a:off x="640080" y="3200400"/>
            <a:ext cx="5394960" cy="2880360"/>
          </a:xfrm>
          <a:prstGeom prst="rect">
            <a:avLst/>
          </a:prstGeom>
          <a:solidFill>
            <a:srgbClr val="161A20"/>
          </a:solidFill>
          <a:ln w="9525">
            <a:solidFill>
              <a:srgbClr val="262C3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3383280"/>
            <a:ext cx="4846320" cy="2560320"/>
          </a:xfrm>
          <a:prstGeom prst="rect">
            <a:avLst/>
          </a:prstGeom>
          <a:noFill/>
        </p:spPr>
        <p:txBody>
          <a:bodyPr wrap="square">
            <a:spAutoFit/>
          </a:bodyPr>
          <a:lstStyle/>
          <a:p>
            <a:pPr algn="l">
              <a:spcAft>
                <a:spcPts val="900"/>
              </a:spcAft>
            </a:pPr>
            <a:r>
              <a:rPr sz="1600" b="1">
                <a:solidFill>
                  <a:srgbClr val="4F9CF9"/>
                </a:solidFill>
                <a:latin typeface="Segoe UI"/>
              </a:rPr>
              <a:t>What exists</a:t>
            </a:r>
            <a:r>
              <a:rPr sz="1300" b="1">
                <a:solidFill>
                  <a:srgbClr val="E6EDF3"/>
                </a:solidFill>
                <a:latin typeface="Segoe UI"/>
              </a:rPr>
              <a:t>Nighttime-light series  </a:t>
            </a:r>
            <a:r>
              <a:rPr sz="1300">
                <a:solidFill>
                  <a:srgbClr val="9AA4B0"/>
                </a:solidFill>
                <a:latin typeface="Segoe UI"/>
              </a:rPr>
              <a:t>long records, but say nothing about occupancy</a:t>
            </a:r>
          </a:p>
          <a:p>
            <a:pPr>
              <a:spcAft>
                <a:spcPts val="900"/>
              </a:spcAft>
            </a:pPr>
            <a:r>
              <a:rPr sz="1300" b="1">
                <a:solidFill>
                  <a:srgbClr val="E6EDF3"/>
                </a:solidFill>
                <a:latin typeface="Segoe UI"/>
              </a:rPr>
              <a:t>Built-up mapping  </a:t>
            </a:r>
            <a:r>
              <a:rPr sz="1300">
                <a:solidFill>
                  <a:srgbClr val="9AA4B0"/>
                </a:solidFill>
                <a:latin typeface="Segoe UI"/>
              </a:rPr>
              <a:t>shows where buildings are, not whether used</a:t>
            </a:r>
          </a:p>
          <a:p>
            <a:pPr>
              <a:spcAft>
                <a:spcPts val="900"/>
              </a:spcAft>
            </a:pPr>
            <a:r>
              <a:rPr sz="1300" b="1">
                <a:solidFill>
                  <a:srgbClr val="E6EDF3"/>
                </a:solidFill>
                <a:latin typeface="Segoe UI"/>
              </a:rPr>
              <a:t>Ghost-city studies  </a:t>
            </a:r>
            <a:r>
              <a:rPr sz="1300">
                <a:solidFill>
                  <a:srgbClr val="9AA4B0"/>
                </a:solidFill>
                <a:latin typeface="Segoe UI"/>
              </a:rPr>
              <a:t>fixed cut-offs, no per-city norm</a:t>
            </a:r>
          </a:p>
          <a:p>
            <a:pPr>
              <a:spcAft>
                <a:spcPts val="900"/>
              </a:spcAft>
            </a:pPr>
            <a:r>
              <a:rPr sz="1300" b="1">
                <a:solidFill>
                  <a:srgbClr val="E6EDF3"/>
                </a:solidFill>
                <a:latin typeface="Segoe UI"/>
              </a:rPr>
              <a:t>Expansion models  </a:t>
            </a:r>
            <a:r>
              <a:rPr sz="1300">
                <a:solidFill>
                  <a:srgbClr val="9AA4B0"/>
                </a:solidFill>
                <a:latin typeface="Segoe UI"/>
              </a:rPr>
              <a:t>predict where, not whether it will be used</a:t>
            </a:r>
          </a:p>
        </p:txBody>
      </p:sp>
      <p:sp>
        <p:nvSpPr>
          <p:cNvPr id="9" name="Rectangle 8"/>
          <p:cNvSpPr/>
          <p:nvPr/>
        </p:nvSpPr>
        <p:spPr>
          <a:xfrm>
            <a:off x="6309360" y="3200400"/>
            <a:ext cx="5212080" cy="2880360"/>
          </a:xfrm>
          <a:prstGeom prst="rect">
            <a:avLst/>
          </a:prstGeom>
          <a:solidFill>
            <a:srgbClr val="161A20"/>
          </a:solidFill>
          <a:ln w="9525">
            <a:solidFill>
              <a:srgbClr val="262C3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3383280"/>
            <a:ext cx="4663440" cy="2560320"/>
          </a:xfrm>
          <a:prstGeom prst="rect">
            <a:avLst/>
          </a:prstGeom>
          <a:noFill/>
        </p:spPr>
        <p:txBody>
          <a:bodyPr wrap="square">
            <a:spAutoFit/>
          </a:bodyPr>
          <a:lstStyle/>
          <a:p>
            <a:pPr algn="l">
              <a:spcAft>
                <a:spcPts val="1000"/>
              </a:spcAft>
            </a:pPr>
            <a:r>
              <a:rPr sz="1600" b="1">
                <a:solidFill>
                  <a:srgbClr val="EDA100"/>
                </a:solidFill>
                <a:latin typeface="Segoe UI"/>
              </a:rPr>
              <a:t>Why it matters — measured on our own data</a:t>
            </a:r>
          </a:p>
          <a:p>
            <a:pPr>
              <a:spcAft>
                <a:spcPts val="800"/>
              </a:spcAft>
            </a:pPr>
            <a:r>
              <a:rPr sz="1350" b="0">
                <a:solidFill>
                  <a:srgbClr val="9AA4B0"/>
                </a:solidFill>
                <a:latin typeface="Segoe UI"/>
              </a:rPr>
              <a:t>Without a nighttime-light trend our system flagged 7.24 km² as underused.</a:t>
            </a:r>
          </a:p>
          <a:p>
            <a:pPr>
              <a:spcAft>
                <a:spcPts val="800"/>
              </a:spcAft>
            </a:pPr>
            <a:r>
              <a:rPr sz="1350" b="0">
                <a:solidFill>
                  <a:srgbClr val="9AA4B0"/>
                </a:solidFill>
                <a:latin typeface="Segoe UI"/>
              </a:rPr>
              <a:t>Adding the 2013–2024 series split it almost exactly:</a:t>
            </a:r>
          </a:p>
          <a:p>
            <a:pPr>
              <a:spcAft>
                <a:spcPts val="400"/>
              </a:spcAft>
            </a:pPr>
            <a:r>
              <a:rPr sz="1500" b="1">
                <a:solidFill>
                  <a:srgbClr val="E6EDF3"/>
                </a:solidFill>
                <a:latin typeface="Segoe UI"/>
              </a:rPr>
              <a:t>0.35 km²  genuinely stalled</a:t>
            </a:r>
          </a:p>
          <a:p>
            <a:pPr>
              <a:spcAft>
                <a:spcPts val="800"/>
              </a:spcAft>
            </a:pPr>
            <a:r>
              <a:rPr sz="1500" b="1">
                <a:solidFill>
                  <a:srgbClr val="E6EDF3"/>
                </a:solidFill>
                <a:latin typeface="Segoe UI"/>
              </a:rPr>
              <a:t>6.88 km²  dim but brightening — filling up</a:t>
            </a:r>
          </a:p>
          <a:p>
            <a:pPr>
              <a:spcAft>
                <a:spcPts val="0"/>
              </a:spcAft>
            </a:pPr>
            <a:r>
              <a:rPr sz="1350" b="0">
                <a:solidFill>
                  <a:srgbClr val="EDA100"/>
                </a:solidFill>
                <a:latin typeface="Segoe UI"/>
              </a:rPr>
              <a:t>A method without this distinction overstates the problem twentyfold.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1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822960"/>
          </a:xfrm>
          <a:prstGeom prst="rect">
            <a:avLst/>
          </a:prstGeom>
          <a:noFill/>
        </p:spPr>
        <p:txBody>
          <a:bodyPr wrap="square">
            <a:spAutoFit/>
          </a:bodyPr>
          <a:lstStyle/>
          <a:p>
            <a:pPr algn="l">
              <a:spcAft>
                <a:spcPts val="200"/>
              </a:spcAft>
            </a:pPr>
            <a:r>
              <a:rPr sz="3000" b="1">
                <a:solidFill>
                  <a:srgbClr val="E6EDF3"/>
                </a:solidFill>
                <a:latin typeface="Segoe UI"/>
              </a:rPr>
              <a:t>Methodology</a:t>
            </a:r>
          </a:p>
          <a:p>
            <a:pPr>
              <a:spcAft>
                <a:spcPts val="0"/>
              </a:spcAft>
            </a:pPr>
            <a:r>
              <a:rPr sz="1350" b="0">
                <a:solidFill>
                  <a:srgbClr val="4F9CF9"/>
                </a:solidFill>
                <a:latin typeface="Segoe UI"/>
              </a:rPr>
              <a:t>Six steps, each a separate testable module</a:t>
            </a:r>
          </a:p>
        </p:txBody>
      </p:sp>
      <p:sp>
        <p:nvSpPr>
          <p:cNvPr id="4" name="Rectangle 3"/>
          <p:cNvSpPr/>
          <p:nvPr/>
        </p:nvSpPr>
        <p:spPr>
          <a:xfrm>
            <a:off x="640080" y="1298448"/>
            <a:ext cx="1371600" cy="38100"/>
          </a:xfrm>
          <a:prstGeom prst="rect">
            <a:avLst/>
          </a:prstGeom>
          <a:solidFill>
            <a:srgbClr val="4F9C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45920"/>
            <a:ext cx="10881360" cy="658368"/>
          </a:xfrm>
          <a:prstGeom prst="rect">
            <a:avLst/>
          </a:prstGeom>
          <a:solidFill>
            <a:srgbClr val="161A20"/>
          </a:solidFill>
          <a:ln w="9525">
            <a:solidFill>
              <a:srgbClr val="262C3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737360"/>
            <a:ext cx="457200" cy="457200"/>
          </a:xfrm>
          <a:prstGeom prst="rect">
            <a:avLst/>
          </a:prstGeom>
          <a:noFill/>
        </p:spPr>
        <p:txBody>
          <a:bodyPr wrap="square">
            <a:spAutoFit/>
          </a:bodyPr>
          <a:lstStyle/>
          <a:p>
            <a:pPr algn="l">
              <a:spcAft>
                <a:spcPts val="0"/>
              </a:spcAft>
            </a:pPr>
            <a:r>
              <a:rPr sz="1900" b="1">
                <a:solidFill>
                  <a:srgbClr val="4F9CF9"/>
                </a:solidFill>
                <a:latin typeface="Segoe UI"/>
              </a:rPr>
              <a:t>1</a:t>
            </a:r>
          </a:p>
        </p:txBody>
      </p:sp>
      <p:sp>
        <p:nvSpPr>
          <p:cNvPr id="7" name="TextBox 6"/>
          <p:cNvSpPr txBox="1"/>
          <p:nvPr/>
        </p:nvSpPr>
        <p:spPr>
          <a:xfrm>
            <a:off x="1463040" y="1764792"/>
            <a:ext cx="2834640" cy="457200"/>
          </a:xfrm>
          <a:prstGeom prst="rect">
            <a:avLst/>
          </a:prstGeom>
          <a:noFill/>
        </p:spPr>
        <p:txBody>
          <a:bodyPr wrap="square">
            <a:spAutoFit/>
          </a:bodyPr>
          <a:lstStyle/>
          <a:p>
            <a:pPr algn="l">
              <a:spcAft>
                <a:spcPts val="0"/>
              </a:spcAft>
            </a:pPr>
            <a:r>
              <a:rPr sz="1500" b="1">
                <a:solidFill>
                  <a:srgbClr val="E6EDF3"/>
                </a:solidFill>
                <a:latin typeface="Segoe UI"/>
              </a:rPr>
              <a:t>Find the city</a:t>
            </a:r>
          </a:p>
        </p:txBody>
      </p:sp>
      <p:sp>
        <p:nvSpPr>
          <p:cNvPr id="8" name="TextBox 7"/>
          <p:cNvSpPr txBox="1"/>
          <p:nvPr/>
        </p:nvSpPr>
        <p:spPr>
          <a:xfrm>
            <a:off x="4480560" y="1783080"/>
            <a:ext cx="6766560" cy="457200"/>
          </a:xfrm>
          <a:prstGeom prst="rect">
            <a:avLst/>
          </a:prstGeom>
          <a:noFill/>
        </p:spPr>
        <p:txBody>
          <a:bodyPr wrap="square">
            <a:spAutoFit/>
          </a:bodyPr>
          <a:lstStyle/>
          <a:p>
            <a:pPr algn="l">
              <a:spcAft>
                <a:spcPts val="0"/>
              </a:spcAft>
            </a:pPr>
            <a:r>
              <a:rPr sz="1300" b="0">
                <a:solidFill>
                  <a:srgbClr val="9AA4B0"/>
                </a:solidFill>
                <a:latin typeface="Segoe UI"/>
              </a:rPr>
              <a:t>Name → coordinates, then a circle defining the study area</a:t>
            </a:r>
          </a:p>
        </p:txBody>
      </p:sp>
      <p:sp>
        <p:nvSpPr>
          <p:cNvPr id="9" name="Rectangle 8"/>
          <p:cNvSpPr/>
          <p:nvPr/>
        </p:nvSpPr>
        <p:spPr>
          <a:xfrm>
            <a:off x="640080" y="2377440"/>
            <a:ext cx="10881360" cy="658368"/>
          </a:xfrm>
          <a:prstGeom prst="rect">
            <a:avLst/>
          </a:prstGeom>
          <a:solidFill>
            <a:srgbClr val="161A20"/>
          </a:solidFill>
          <a:ln w="9525">
            <a:solidFill>
              <a:srgbClr val="262C3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2468880"/>
            <a:ext cx="457200" cy="457200"/>
          </a:xfrm>
          <a:prstGeom prst="rect">
            <a:avLst/>
          </a:prstGeom>
          <a:noFill/>
        </p:spPr>
        <p:txBody>
          <a:bodyPr wrap="square">
            <a:spAutoFit/>
          </a:bodyPr>
          <a:lstStyle/>
          <a:p>
            <a:pPr algn="l">
              <a:spcAft>
                <a:spcPts val="0"/>
              </a:spcAft>
            </a:pPr>
            <a:r>
              <a:rPr sz="1900" b="1">
                <a:solidFill>
                  <a:srgbClr val="4F9CF9"/>
                </a:solidFill>
                <a:latin typeface="Segoe UI"/>
              </a:rPr>
              <a:t>2</a:t>
            </a:r>
          </a:p>
        </p:txBody>
      </p:sp>
      <p:sp>
        <p:nvSpPr>
          <p:cNvPr id="11" name="TextBox 10"/>
          <p:cNvSpPr txBox="1"/>
          <p:nvPr/>
        </p:nvSpPr>
        <p:spPr>
          <a:xfrm>
            <a:off x="1463040" y="2496312"/>
            <a:ext cx="2834640" cy="457200"/>
          </a:xfrm>
          <a:prstGeom prst="rect">
            <a:avLst/>
          </a:prstGeom>
          <a:noFill/>
        </p:spPr>
        <p:txBody>
          <a:bodyPr wrap="square">
            <a:spAutoFit/>
          </a:bodyPr>
          <a:lstStyle/>
          <a:p>
            <a:pPr algn="l">
              <a:spcAft>
                <a:spcPts val="0"/>
              </a:spcAft>
            </a:pPr>
            <a:r>
              <a:rPr sz="1500" b="1">
                <a:solidFill>
                  <a:srgbClr val="E6EDF3"/>
                </a:solidFill>
                <a:latin typeface="Segoe UI"/>
              </a:rPr>
              <a:t>Download the data</a:t>
            </a:r>
          </a:p>
        </p:txBody>
      </p:sp>
      <p:sp>
        <p:nvSpPr>
          <p:cNvPr id="12" name="TextBox 11"/>
          <p:cNvSpPr txBox="1"/>
          <p:nvPr/>
        </p:nvSpPr>
        <p:spPr>
          <a:xfrm>
            <a:off x="4480560" y="2514600"/>
            <a:ext cx="6766560" cy="457200"/>
          </a:xfrm>
          <a:prstGeom prst="rect">
            <a:avLst/>
          </a:prstGeom>
          <a:noFill/>
        </p:spPr>
        <p:txBody>
          <a:bodyPr wrap="square">
            <a:spAutoFit/>
          </a:bodyPr>
          <a:lstStyle/>
          <a:p>
            <a:pPr algn="l">
              <a:spcAft>
                <a:spcPts val="0"/>
              </a:spcAft>
            </a:pPr>
            <a:r>
              <a:rPr sz="1300" b="0">
                <a:solidFill>
                  <a:srgbClr val="9AA4B0"/>
                </a:solidFill>
                <a:latin typeface="Segoe UI"/>
              </a:rPr>
              <a:t>GHSL and OpenStreetMap directly; satellite layers via Google Earth Engine</a:t>
            </a:r>
          </a:p>
        </p:txBody>
      </p:sp>
      <p:sp>
        <p:nvSpPr>
          <p:cNvPr id="13" name="Rectangle 12"/>
          <p:cNvSpPr/>
          <p:nvPr/>
        </p:nvSpPr>
        <p:spPr>
          <a:xfrm>
            <a:off x="640080" y="3108960"/>
            <a:ext cx="10881360" cy="658368"/>
          </a:xfrm>
          <a:prstGeom prst="rect">
            <a:avLst/>
          </a:prstGeom>
          <a:solidFill>
            <a:srgbClr val="161A20"/>
          </a:solidFill>
          <a:ln w="9525">
            <a:solidFill>
              <a:srgbClr val="262C3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3200400"/>
            <a:ext cx="457200" cy="457200"/>
          </a:xfrm>
          <a:prstGeom prst="rect">
            <a:avLst/>
          </a:prstGeom>
          <a:noFill/>
        </p:spPr>
        <p:txBody>
          <a:bodyPr wrap="square">
            <a:spAutoFit/>
          </a:bodyPr>
          <a:lstStyle/>
          <a:p>
            <a:pPr algn="l">
              <a:spcAft>
                <a:spcPts val="0"/>
              </a:spcAft>
            </a:pPr>
            <a:r>
              <a:rPr sz="1900" b="1">
                <a:solidFill>
                  <a:srgbClr val="4F9CF9"/>
                </a:solidFill>
                <a:latin typeface="Segoe UI"/>
              </a:rPr>
              <a:t>3</a:t>
            </a:r>
          </a:p>
        </p:txBody>
      </p:sp>
      <p:sp>
        <p:nvSpPr>
          <p:cNvPr id="15" name="TextBox 14"/>
          <p:cNvSpPr txBox="1"/>
          <p:nvPr/>
        </p:nvSpPr>
        <p:spPr>
          <a:xfrm>
            <a:off x="1463040" y="3227832"/>
            <a:ext cx="2834640" cy="457200"/>
          </a:xfrm>
          <a:prstGeom prst="rect">
            <a:avLst/>
          </a:prstGeom>
          <a:noFill/>
        </p:spPr>
        <p:txBody>
          <a:bodyPr wrap="square">
            <a:spAutoFit/>
          </a:bodyPr>
          <a:lstStyle/>
          <a:p>
            <a:pPr algn="l">
              <a:spcAft>
                <a:spcPts val="0"/>
              </a:spcAft>
            </a:pPr>
            <a:r>
              <a:rPr sz="1500" b="1">
                <a:solidFill>
                  <a:srgbClr val="E6EDF3"/>
                </a:solidFill>
                <a:latin typeface="Segoe UI"/>
              </a:rPr>
              <a:t>Put it on one grid</a:t>
            </a:r>
          </a:p>
        </p:txBody>
      </p:sp>
      <p:sp>
        <p:nvSpPr>
          <p:cNvPr id="16" name="TextBox 15"/>
          <p:cNvSpPr txBox="1"/>
          <p:nvPr/>
        </p:nvSpPr>
        <p:spPr>
          <a:xfrm>
            <a:off x="4480560" y="3246120"/>
            <a:ext cx="6766560" cy="457200"/>
          </a:xfrm>
          <a:prstGeom prst="rect">
            <a:avLst/>
          </a:prstGeom>
          <a:noFill/>
        </p:spPr>
        <p:txBody>
          <a:bodyPr wrap="square">
            <a:spAutoFit/>
          </a:bodyPr>
          <a:lstStyle/>
          <a:p>
            <a:pPr algn="l">
              <a:spcAft>
                <a:spcPts val="0"/>
              </a:spcAft>
            </a:pPr>
            <a:r>
              <a:rPr sz="1300" b="0">
                <a:solidFill>
                  <a:srgbClr val="9AA4B0"/>
                </a:solidFill>
                <a:latin typeface="Segoe UI"/>
              </a:rPr>
              <a:t>Everything reprojected to a single 100 m grid, UTM zone 44N</a:t>
            </a:r>
          </a:p>
        </p:txBody>
      </p:sp>
      <p:sp>
        <p:nvSpPr>
          <p:cNvPr id="17" name="Rectangle 16"/>
          <p:cNvSpPr/>
          <p:nvPr/>
        </p:nvSpPr>
        <p:spPr>
          <a:xfrm>
            <a:off x="640080" y="3840480"/>
            <a:ext cx="10881360" cy="658368"/>
          </a:xfrm>
          <a:prstGeom prst="rect">
            <a:avLst/>
          </a:prstGeom>
          <a:solidFill>
            <a:srgbClr val="161A20"/>
          </a:solidFill>
          <a:ln w="9525">
            <a:solidFill>
              <a:srgbClr val="262C3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3931920"/>
            <a:ext cx="457200" cy="457200"/>
          </a:xfrm>
          <a:prstGeom prst="rect">
            <a:avLst/>
          </a:prstGeom>
          <a:noFill/>
        </p:spPr>
        <p:txBody>
          <a:bodyPr wrap="square">
            <a:spAutoFit/>
          </a:bodyPr>
          <a:lstStyle/>
          <a:p>
            <a:pPr algn="l">
              <a:spcAft>
                <a:spcPts val="0"/>
              </a:spcAft>
            </a:pPr>
            <a:r>
              <a:rPr sz="1900" b="1">
                <a:solidFill>
                  <a:srgbClr val="4F9CF9"/>
                </a:solidFill>
                <a:latin typeface="Segoe UI"/>
              </a:rPr>
              <a:t>4</a:t>
            </a:r>
          </a:p>
        </p:txBody>
      </p:sp>
      <p:sp>
        <p:nvSpPr>
          <p:cNvPr id="19" name="TextBox 18"/>
          <p:cNvSpPr txBox="1"/>
          <p:nvPr/>
        </p:nvSpPr>
        <p:spPr>
          <a:xfrm>
            <a:off x="1463040" y="3959352"/>
            <a:ext cx="2834640" cy="457200"/>
          </a:xfrm>
          <a:prstGeom prst="rect">
            <a:avLst/>
          </a:prstGeom>
          <a:noFill/>
        </p:spPr>
        <p:txBody>
          <a:bodyPr wrap="square">
            <a:spAutoFit/>
          </a:bodyPr>
          <a:lstStyle/>
          <a:p>
            <a:pPr algn="l">
              <a:spcAft>
                <a:spcPts val="0"/>
              </a:spcAft>
            </a:pPr>
            <a:r>
              <a:rPr sz="1500" b="1">
                <a:solidFill>
                  <a:srgbClr val="E6EDF3"/>
                </a:solidFill>
                <a:latin typeface="Segoe UI"/>
              </a:rPr>
              <a:t>Compute indicators</a:t>
            </a:r>
          </a:p>
        </p:txBody>
      </p:sp>
      <p:sp>
        <p:nvSpPr>
          <p:cNvPr id="20" name="TextBox 19"/>
          <p:cNvSpPr txBox="1"/>
          <p:nvPr/>
        </p:nvSpPr>
        <p:spPr>
          <a:xfrm>
            <a:off x="4480560" y="3977640"/>
            <a:ext cx="6766560" cy="457200"/>
          </a:xfrm>
          <a:prstGeom prst="rect">
            <a:avLst/>
          </a:prstGeom>
          <a:noFill/>
        </p:spPr>
        <p:txBody>
          <a:bodyPr wrap="square">
            <a:spAutoFit/>
          </a:bodyPr>
          <a:lstStyle/>
          <a:p>
            <a:pPr algn="l">
              <a:spcAft>
                <a:spcPts val="0"/>
              </a:spcAft>
            </a:pPr>
            <a:r>
              <a:rPr sz="1300" b="0">
                <a:solidFill>
                  <a:srgbClr val="9AA4B0"/>
                </a:solidFill>
                <a:latin typeface="Segoe UI"/>
              </a:rPr>
              <a:t>Built-up change, vegetation, temperature, night light, activity</a:t>
            </a:r>
          </a:p>
        </p:txBody>
      </p:sp>
      <p:sp>
        <p:nvSpPr>
          <p:cNvPr id="21" name="Rectangle 20"/>
          <p:cNvSpPr/>
          <p:nvPr/>
        </p:nvSpPr>
        <p:spPr>
          <a:xfrm>
            <a:off x="640080" y="4572000"/>
            <a:ext cx="10881360" cy="658368"/>
          </a:xfrm>
          <a:prstGeom prst="rect">
            <a:avLst/>
          </a:prstGeom>
          <a:solidFill>
            <a:srgbClr val="161A20"/>
          </a:solidFill>
          <a:ln w="9525">
            <a:solidFill>
              <a:srgbClr val="262C3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8680" y="4663440"/>
            <a:ext cx="457200" cy="457200"/>
          </a:xfrm>
          <a:prstGeom prst="rect">
            <a:avLst/>
          </a:prstGeom>
          <a:noFill/>
        </p:spPr>
        <p:txBody>
          <a:bodyPr wrap="square">
            <a:spAutoFit/>
          </a:bodyPr>
          <a:lstStyle/>
          <a:p>
            <a:pPr algn="l">
              <a:spcAft>
                <a:spcPts val="0"/>
              </a:spcAft>
            </a:pPr>
            <a:r>
              <a:rPr sz="1900" b="1">
                <a:solidFill>
                  <a:srgbClr val="4F9CF9"/>
                </a:solidFill>
                <a:latin typeface="Segoe UI"/>
              </a:rPr>
              <a:t>5</a:t>
            </a:r>
          </a:p>
        </p:txBody>
      </p:sp>
      <p:sp>
        <p:nvSpPr>
          <p:cNvPr id="23" name="TextBox 22"/>
          <p:cNvSpPr txBox="1"/>
          <p:nvPr/>
        </p:nvSpPr>
        <p:spPr>
          <a:xfrm>
            <a:off x="1463040" y="4690872"/>
            <a:ext cx="2834640" cy="457200"/>
          </a:xfrm>
          <a:prstGeom prst="rect">
            <a:avLst/>
          </a:prstGeom>
          <a:noFill/>
        </p:spPr>
        <p:txBody>
          <a:bodyPr wrap="square">
            <a:spAutoFit/>
          </a:bodyPr>
          <a:lstStyle/>
          <a:p>
            <a:pPr algn="l">
              <a:spcAft>
                <a:spcPts val="0"/>
              </a:spcAft>
            </a:pPr>
            <a:r>
              <a:rPr sz="1500" b="1">
                <a:solidFill>
                  <a:srgbClr val="E6EDF3"/>
                </a:solidFill>
                <a:latin typeface="Segoe UI"/>
              </a:rPr>
              <a:t>Train the model</a:t>
            </a:r>
          </a:p>
        </p:txBody>
      </p:sp>
      <p:sp>
        <p:nvSpPr>
          <p:cNvPr id="24" name="TextBox 23"/>
          <p:cNvSpPr txBox="1"/>
          <p:nvPr/>
        </p:nvSpPr>
        <p:spPr>
          <a:xfrm>
            <a:off x="4480560" y="4709160"/>
            <a:ext cx="6766560" cy="457200"/>
          </a:xfrm>
          <a:prstGeom prst="rect">
            <a:avLst/>
          </a:prstGeom>
          <a:noFill/>
        </p:spPr>
        <p:txBody>
          <a:bodyPr wrap="square">
            <a:spAutoFit/>
          </a:bodyPr>
          <a:lstStyle/>
          <a:p>
            <a:pPr algn="l">
              <a:spcAft>
                <a:spcPts val="0"/>
              </a:spcAft>
            </a:pPr>
            <a:r>
              <a:rPr sz="1300" b="0">
                <a:solidFill>
                  <a:srgbClr val="9AA4B0"/>
                </a:solidFill>
                <a:latin typeface="Segoe UI"/>
              </a:rPr>
              <a:t>Logistic Regression on seven drivers + a cellular automaton</a:t>
            </a:r>
          </a:p>
        </p:txBody>
      </p:sp>
      <p:sp>
        <p:nvSpPr>
          <p:cNvPr id="25" name="Rectangle 24"/>
          <p:cNvSpPr/>
          <p:nvPr/>
        </p:nvSpPr>
        <p:spPr>
          <a:xfrm>
            <a:off x="640080" y="5303520"/>
            <a:ext cx="10881360" cy="658368"/>
          </a:xfrm>
          <a:prstGeom prst="rect">
            <a:avLst/>
          </a:prstGeom>
          <a:solidFill>
            <a:srgbClr val="161A20"/>
          </a:solidFill>
          <a:ln w="9525">
            <a:solidFill>
              <a:srgbClr val="262C3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8680" y="5394960"/>
            <a:ext cx="457200" cy="457200"/>
          </a:xfrm>
          <a:prstGeom prst="rect">
            <a:avLst/>
          </a:prstGeom>
          <a:noFill/>
        </p:spPr>
        <p:txBody>
          <a:bodyPr wrap="square">
            <a:spAutoFit/>
          </a:bodyPr>
          <a:lstStyle/>
          <a:p>
            <a:pPr algn="l">
              <a:spcAft>
                <a:spcPts val="0"/>
              </a:spcAft>
            </a:pPr>
            <a:r>
              <a:rPr sz="1900" b="1">
                <a:solidFill>
                  <a:srgbClr val="4F9CF9"/>
                </a:solidFill>
                <a:latin typeface="Segoe UI"/>
              </a:rPr>
              <a:t>6</a:t>
            </a:r>
          </a:p>
        </p:txBody>
      </p:sp>
      <p:sp>
        <p:nvSpPr>
          <p:cNvPr id="27" name="TextBox 26"/>
          <p:cNvSpPr txBox="1"/>
          <p:nvPr/>
        </p:nvSpPr>
        <p:spPr>
          <a:xfrm>
            <a:off x="1463040" y="5422392"/>
            <a:ext cx="2834640" cy="457200"/>
          </a:xfrm>
          <a:prstGeom prst="rect">
            <a:avLst/>
          </a:prstGeom>
          <a:noFill/>
        </p:spPr>
        <p:txBody>
          <a:bodyPr wrap="square">
            <a:spAutoFit/>
          </a:bodyPr>
          <a:lstStyle/>
          <a:p>
            <a:pPr algn="l">
              <a:spcAft>
                <a:spcPts val="0"/>
              </a:spcAft>
            </a:pPr>
            <a:r>
              <a:rPr sz="1500" b="1">
                <a:solidFill>
                  <a:srgbClr val="E6EDF3"/>
                </a:solidFill>
                <a:latin typeface="Segoe UI"/>
              </a:rPr>
              <a:t>Predict and display</a:t>
            </a:r>
          </a:p>
        </p:txBody>
      </p:sp>
      <p:sp>
        <p:nvSpPr>
          <p:cNvPr id="28" name="TextBox 27"/>
          <p:cNvSpPr txBox="1"/>
          <p:nvPr/>
        </p:nvSpPr>
        <p:spPr>
          <a:xfrm>
            <a:off x="4480560" y="5440680"/>
            <a:ext cx="6766560" cy="457200"/>
          </a:xfrm>
          <a:prstGeom prst="rect">
            <a:avLst/>
          </a:prstGeom>
          <a:noFill/>
        </p:spPr>
        <p:txBody>
          <a:bodyPr wrap="square">
            <a:spAutoFit/>
          </a:bodyPr>
          <a:lstStyle/>
          <a:p>
            <a:pPr algn="l">
              <a:spcAft>
                <a:spcPts val="0"/>
              </a:spcAft>
            </a:pPr>
            <a:r>
              <a:rPr sz="1300" b="0">
                <a:solidFill>
                  <a:srgbClr val="9AA4B0"/>
                </a:solidFill>
                <a:latin typeface="Segoe UI"/>
              </a:rPr>
              <a:t>Growth for +5 and +10 years, shown on a dashboard</a:t>
            </a:r>
          </a:p>
        </p:txBody>
      </p:sp>
      <p:sp>
        <p:nvSpPr>
          <p:cNvPr id="29" name="TextBox 28"/>
          <p:cNvSpPr txBox="1"/>
          <p:nvPr/>
        </p:nvSpPr>
        <p:spPr>
          <a:xfrm>
            <a:off x="640080" y="6080760"/>
            <a:ext cx="10881360" cy="548640"/>
          </a:xfrm>
          <a:prstGeom prst="rect">
            <a:avLst/>
          </a:prstGeom>
          <a:noFill/>
        </p:spPr>
        <p:txBody>
          <a:bodyPr wrap="square">
            <a:spAutoFit/>
          </a:bodyPr>
          <a:lstStyle/>
          <a:p>
            <a:pPr algn="l">
              <a:spcAft>
                <a:spcPts val="0"/>
              </a:spcAft>
            </a:pPr>
            <a:r>
              <a:rPr sz="1300" b="0">
                <a:solidFill>
                  <a:srgbClr val="EDA100"/>
                </a:solidFill>
                <a:latin typeface="Segoe UI"/>
              </a:rPr>
              <a:t>Validation:  train on 2010→2015, test on the unseen 2015→2020, and compare against random allocation. Figure of Merit 0.0679 versus a random baseline of 0.0055 — 12.3× better than chance.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1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822960"/>
          </a:xfrm>
          <a:prstGeom prst="rect">
            <a:avLst/>
          </a:prstGeom>
          <a:noFill/>
        </p:spPr>
        <p:txBody>
          <a:bodyPr wrap="square">
            <a:spAutoFit/>
          </a:bodyPr>
          <a:lstStyle/>
          <a:p>
            <a:pPr algn="l">
              <a:spcAft>
                <a:spcPts val="200"/>
              </a:spcAft>
            </a:pPr>
            <a:r>
              <a:rPr sz="3000" b="1">
                <a:solidFill>
                  <a:srgbClr val="E6EDF3"/>
                </a:solidFill>
                <a:latin typeface="Segoe UI"/>
              </a:rPr>
              <a:t>Workflow</a:t>
            </a:r>
          </a:p>
          <a:p>
            <a:pPr>
              <a:spcAft>
                <a:spcPts val="0"/>
              </a:spcAft>
            </a:pPr>
            <a:r>
              <a:rPr sz="1350" b="0">
                <a:solidFill>
                  <a:srgbClr val="4F9CF9"/>
                </a:solidFill>
                <a:latin typeface="Segoe UI"/>
              </a:rPr>
              <a:t>Seven pipeline stages, run in order</a:t>
            </a:r>
          </a:p>
        </p:txBody>
      </p:sp>
      <p:sp>
        <p:nvSpPr>
          <p:cNvPr id="4" name="Rectangle 3"/>
          <p:cNvSpPr/>
          <p:nvPr/>
        </p:nvSpPr>
        <p:spPr>
          <a:xfrm>
            <a:off x="640080" y="1298448"/>
            <a:ext cx="1371600" cy="38100"/>
          </a:xfrm>
          <a:prstGeom prst="rect">
            <a:avLst/>
          </a:prstGeom>
          <a:solidFill>
            <a:srgbClr val="4F9C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920240"/>
            <a:ext cx="1417320" cy="1737360"/>
          </a:xfrm>
          <a:prstGeom prst="rect">
            <a:avLst/>
          </a:prstGeom>
          <a:solidFill>
            <a:srgbClr val="161A20"/>
          </a:solidFill>
          <a:ln w="9525">
            <a:solidFill>
              <a:srgbClr val="262C3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057400"/>
            <a:ext cx="1234440" cy="365760"/>
          </a:xfrm>
          <a:prstGeom prst="rect">
            <a:avLst/>
          </a:prstGeom>
          <a:noFill/>
        </p:spPr>
        <p:txBody>
          <a:bodyPr wrap="square">
            <a:spAutoFit/>
          </a:bodyPr>
          <a:lstStyle/>
          <a:p>
            <a:pPr algn="ctr">
              <a:spcAft>
                <a:spcPts val="600"/>
              </a:spcAft>
            </a:pPr>
            <a:r>
              <a:rPr sz="1250" b="1">
                <a:solidFill>
                  <a:srgbClr val="4F9CF9"/>
                </a:solidFill>
                <a:latin typeface="Segoe UI"/>
              </a:rPr>
              <a:t>1. builtup</a:t>
            </a:r>
          </a:p>
          <a:p>
            <a:pPr algn="ctr">
              <a:spcAft>
                <a:spcPts val="0"/>
              </a:spcAft>
            </a:pPr>
            <a:r>
              <a:rPr sz="1100" b="0">
                <a:solidFill>
                  <a:srgbClr val="9AA4B0"/>
                </a:solidFill>
                <a:latin typeface="Segoe UI"/>
              </a:rPr>
              <a:t>GHS-BUILT-S</a:t>
            </a:r>
            <a:br/>
            <a:r>
              <a:rPr sz="1100" b="0">
                <a:solidFill>
                  <a:srgbClr val="9AA4B0"/>
                </a:solidFill>
                <a:latin typeface="Segoe UI"/>
              </a:rPr>
              <a:t>GHS-POP</a:t>
            </a:r>
          </a:p>
        </p:txBody>
      </p:sp>
      <p:sp>
        <p:nvSpPr>
          <p:cNvPr id="7" name="Rectangle 6"/>
          <p:cNvSpPr/>
          <p:nvPr/>
        </p:nvSpPr>
        <p:spPr>
          <a:xfrm>
            <a:off x="2212848" y="1920240"/>
            <a:ext cx="1417320" cy="1737360"/>
          </a:xfrm>
          <a:prstGeom prst="rect">
            <a:avLst/>
          </a:prstGeom>
          <a:solidFill>
            <a:srgbClr val="161A20"/>
          </a:solidFill>
          <a:ln w="9525">
            <a:solidFill>
              <a:srgbClr val="262C3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04288" y="2057400"/>
            <a:ext cx="1234440" cy="365760"/>
          </a:xfrm>
          <a:prstGeom prst="rect">
            <a:avLst/>
          </a:prstGeom>
          <a:noFill/>
        </p:spPr>
        <p:txBody>
          <a:bodyPr wrap="square">
            <a:spAutoFit/>
          </a:bodyPr>
          <a:lstStyle/>
          <a:p>
            <a:pPr algn="ctr">
              <a:spcAft>
                <a:spcPts val="600"/>
              </a:spcAft>
            </a:pPr>
            <a:r>
              <a:rPr sz="1250" b="1">
                <a:solidFill>
                  <a:srgbClr val="4F9CF9"/>
                </a:solidFill>
                <a:latin typeface="Segoe UI"/>
              </a:rPr>
              <a:t>2. osm</a:t>
            </a:r>
          </a:p>
          <a:p>
            <a:pPr algn="ctr">
              <a:spcAft>
                <a:spcPts val="0"/>
              </a:spcAft>
            </a:pPr>
            <a:r>
              <a:rPr sz="1100" b="0">
                <a:solidFill>
                  <a:srgbClr val="9AA4B0"/>
                </a:solidFill>
                <a:latin typeface="Segoe UI"/>
              </a:rPr>
              <a:t>OpenStreetMap</a:t>
            </a:r>
            <a:br/>
            <a:r>
              <a:rPr sz="1100" b="0">
                <a:solidFill>
                  <a:srgbClr val="9AA4B0"/>
                </a:solidFill>
                <a:latin typeface="Segoe UI"/>
              </a:rPr>
              <a:t>Overpass API</a:t>
            </a:r>
          </a:p>
        </p:txBody>
      </p:sp>
      <p:sp>
        <p:nvSpPr>
          <p:cNvPr id="9" name="Rectangle 8"/>
          <p:cNvSpPr/>
          <p:nvPr/>
        </p:nvSpPr>
        <p:spPr>
          <a:xfrm>
            <a:off x="3785616" y="1920240"/>
            <a:ext cx="1417320" cy="1737360"/>
          </a:xfrm>
          <a:prstGeom prst="rect">
            <a:avLst/>
          </a:prstGeom>
          <a:solidFill>
            <a:srgbClr val="161A20"/>
          </a:solidFill>
          <a:ln w="9525">
            <a:solidFill>
              <a:srgbClr val="4F9C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877056" y="2057400"/>
            <a:ext cx="1234440" cy="365760"/>
          </a:xfrm>
          <a:prstGeom prst="rect">
            <a:avLst/>
          </a:prstGeom>
          <a:noFill/>
        </p:spPr>
        <p:txBody>
          <a:bodyPr wrap="square">
            <a:spAutoFit/>
          </a:bodyPr>
          <a:lstStyle/>
          <a:p>
            <a:pPr algn="ctr">
              <a:spcAft>
                <a:spcPts val="600"/>
              </a:spcAft>
            </a:pPr>
            <a:r>
              <a:rPr sz="1250" b="1">
                <a:solidFill>
                  <a:srgbClr val="4F9CF9"/>
                </a:solidFill>
                <a:latin typeface="Segoe UI"/>
              </a:rPr>
              <a:t>3. gee</a:t>
            </a:r>
          </a:p>
          <a:p>
            <a:pPr algn="ctr">
              <a:spcAft>
                <a:spcPts val="0"/>
              </a:spcAft>
            </a:pPr>
            <a:r>
              <a:rPr sz="1100" b="0">
                <a:solidFill>
                  <a:srgbClr val="9AA4B0"/>
                </a:solidFill>
                <a:latin typeface="Segoe UI"/>
              </a:rPr>
              <a:t>VIIRS · Sentinel-2</a:t>
            </a:r>
            <a:br/>
            <a:r>
              <a:rPr sz="1100" b="0">
                <a:solidFill>
                  <a:srgbClr val="9AA4B0"/>
                </a:solidFill>
                <a:latin typeface="Segoe UI"/>
              </a:rPr>
              <a:t>Landsat · Dynamic World</a:t>
            </a:r>
          </a:p>
        </p:txBody>
      </p:sp>
      <p:sp>
        <p:nvSpPr>
          <p:cNvPr id="11" name="Rectangle 10"/>
          <p:cNvSpPr/>
          <p:nvPr/>
        </p:nvSpPr>
        <p:spPr>
          <a:xfrm>
            <a:off x="5358384" y="1920240"/>
            <a:ext cx="1417320" cy="1737360"/>
          </a:xfrm>
          <a:prstGeom prst="rect">
            <a:avLst/>
          </a:prstGeom>
          <a:solidFill>
            <a:srgbClr val="161A20"/>
          </a:solidFill>
          <a:ln w="9525">
            <a:solidFill>
              <a:srgbClr val="262C3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49824" y="2057400"/>
            <a:ext cx="1234440" cy="365760"/>
          </a:xfrm>
          <a:prstGeom prst="rect">
            <a:avLst/>
          </a:prstGeom>
          <a:noFill/>
        </p:spPr>
        <p:txBody>
          <a:bodyPr wrap="square">
            <a:spAutoFit/>
          </a:bodyPr>
          <a:lstStyle/>
          <a:p>
            <a:pPr algn="ctr">
              <a:spcAft>
                <a:spcPts val="600"/>
              </a:spcAft>
            </a:pPr>
            <a:r>
              <a:rPr sz="1250" b="1">
                <a:solidFill>
                  <a:srgbClr val="4F9CF9"/>
                </a:solidFill>
                <a:latin typeface="Segoe UI"/>
              </a:rPr>
              <a:t>4. vegetation</a:t>
            </a:r>
          </a:p>
          <a:p>
            <a:pPr algn="ctr">
              <a:spcAft>
                <a:spcPts val="0"/>
              </a:spcAft>
            </a:pPr>
            <a:r>
              <a:rPr sz="1100" b="0">
                <a:solidFill>
                  <a:srgbClr val="9AA4B0"/>
                </a:solidFill>
                <a:latin typeface="Segoe UI"/>
              </a:rPr>
              <a:t>Green cover</a:t>
            </a:r>
            <a:br/>
            <a:r>
              <a:rPr sz="1100" b="0">
                <a:solidFill>
                  <a:srgbClr val="9AA4B0"/>
                </a:solidFill>
                <a:latin typeface="Segoe UI"/>
              </a:rPr>
              <a:t>change</a:t>
            </a:r>
          </a:p>
        </p:txBody>
      </p:sp>
      <p:sp>
        <p:nvSpPr>
          <p:cNvPr id="13" name="Rectangle 12"/>
          <p:cNvSpPr/>
          <p:nvPr/>
        </p:nvSpPr>
        <p:spPr>
          <a:xfrm>
            <a:off x="6931152" y="1920240"/>
            <a:ext cx="1417320" cy="1737360"/>
          </a:xfrm>
          <a:prstGeom prst="rect">
            <a:avLst/>
          </a:prstGeom>
          <a:solidFill>
            <a:srgbClr val="161A20"/>
          </a:solidFill>
          <a:ln w="9525">
            <a:solidFill>
              <a:srgbClr val="262C3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22592" y="2057400"/>
            <a:ext cx="1234440" cy="365760"/>
          </a:xfrm>
          <a:prstGeom prst="rect">
            <a:avLst/>
          </a:prstGeom>
          <a:noFill/>
        </p:spPr>
        <p:txBody>
          <a:bodyPr wrap="square">
            <a:spAutoFit/>
          </a:bodyPr>
          <a:lstStyle/>
          <a:p>
            <a:pPr algn="ctr">
              <a:spcAft>
                <a:spcPts val="600"/>
              </a:spcAft>
            </a:pPr>
            <a:r>
              <a:rPr sz="1250" b="1">
                <a:solidFill>
                  <a:srgbClr val="4F9CF9"/>
                </a:solidFill>
                <a:latin typeface="Segoe UI"/>
              </a:rPr>
              <a:t>5. thermal</a:t>
            </a:r>
          </a:p>
          <a:p>
            <a:pPr algn="ctr">
              <a:spcAft>
                <a:spcPts val="0"/>
              </a:spcAft>
            </a:pPr>
            <a:r>
              <a:rPr sz="1100" b="0">
                <a:solidFill>
                  <a:srgbClr val="9AA4B0"/>
                </a:solidFill>
                <a:latin typeface="Segoe UI"/>
              </a:rPr>
              <a:t>Heat island</a:t>
            </a:r>
            <a:br/>
            <a:r>
              <a:rPr sz="1100" b="0">
                <a:solidFill>
                  <a:srgbClr val="9AA4B0"/>
                </a:solidFill>
                <a:latin typeface="Segoe UI"/>
              </a:rPr>
              <a:t>intensity</a:t>
            </a:r>
          </a:p>
        </p:txBody>
      </p:sp>
      <p:sp>
        <p:nvSpPr>
          <p:cNvPr id="15" name="Rectangle 14"/>
          <p:cNvSpPr/>
          <p:nvPr/>
        </p:nvSpPr>
        <p:spPr>
          <a:xfrm>
            <a:off x="8503920" y="1920240"/>
            <a:ext cx="1417320" cy="1737360"/>
          </a:xfrm>
          <a:prstGeom prst="rect">
            <a:avLst/>
          </a:prstGeom>
          <a:solidFill>
            <a:srgbClr val="161A20"/>
          </a:solidFill>
          <a:ln w="9525">
            <a:solidFill>
              <a:srgbClr val="4F9C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95360" y="2057400"/>
            <a:ext cx="1234440" cy="365760"/>
          </a:xfrm>
          <a:prstGeom prst="rect">
            <a:avLst/>
          </a:prstGeom>
          <a:noFill/>
        </p:spPr>
        <p:txBody>
          <a:bodyPr wrap="square">
            <a:spAutoFit/>
          </a:bodyPr>
          <a:lstStyle/>
          <a:p>
            <a:pPr algn="ctr">
              <a:spcAft>
                <a:spcPts val="600"/>
              </a:spcAft>
            </a:pPr>
            <a:r>
              <a:rPr sz="1250" b="1">
                <a:solidFill>
                  <a:srgbClr val="4F9CF9"/>
                </a:solidFill>
                <a:latin typeface="Segoe UI"/>
              </a:rPr>
              <a:t>6. ghost</a:t>
            </a:r>
          </a:p>
          <a:p>
            <a:pPr algn="ctr">
              <a:spcAft>
                <a:spcPts val="0"/>
              </a:spcAft>
            </a:pPr>
            <a:r>
              <a:rPr sz="1100" b="0">
                <a:solidFill>
                  <a:srgbClr val="9AA4B0"/>
                </a:solidFill>
                <a:latin typeface="Segoe UI"/>
              </a:rPr>
              <a:t>Activity index</a:t>
            </a:r>
            <a:br/>
            <a:r>
              <a:rPr sz="1100" b="0">
                <a:solidFill>
                  <a:srgbClr val="9AA4B0"/>
                </a:solidFill>
                <a:latin typeface="Segoe UI"/>
              </a:rPr>
              <a:t>+ typology</a:t>
            </a:r>
          </a:p>
        </p:txBody>
      </p:sp>
      <p:sp>
        <p:nvSpPr>
          <p:cNvPr id="17" name="Rectangle 16"/>
          <p:cNvSpPr/>
          <p:nvPr/>
        </p:nvSpPr>
        <p:spPr>
          <a:xfrm>
            <a:off x="10076688" y="1920240"/>
            <a:ext cx="1417320" cy="1737360"/>
          </a:xfrm>
          <a:prstGeom prst="rect">
            <a:avLst/>
          </a:prstGeom>
          <a:solidFill>
            <a:srgbClr val="161A20"/>
          </a:solidFill>
          <a:ln w="9525">
            <a:solidFill>
              <a:srgbClr val="262C3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168128" y="2057400"/>
            <a:ext cx="1234440" cy="365760"/>
          </a:xfrm>
          <a:prstGeom prst="rect">
            <a:avLst/>
          </a:prstGeom>
          <a:noFill/>
        </p:spPr>
        <p:txBody>
          <a:bodyPr wrap="square">
            <a:spAutoFit/>
          </a:bodyPr>
          <a:lstStyle/>
          <a:p>
            <a:pPr algn="ctr">
              <a:spcAft>
                <a:spcPts val="600"/>
              </a:spcAft>
            </a:pPr>
            <a:r>
              <a:rPr sz="1250" b="1">
                <a:solidFill>
                  <a:srgbClr val="4F9CF9"/>
                </a:solidFill>
                <a:latin typeface="Segoe UI"/>
              </a:rPr>
              <a:t>7. export</a:t>
            </a:r>
          </a:p>
          <a:p>
            <a:pPr algn="ctr">
              <a:spcAft>
                <a:spcPts val="0"/>
              </a:spcAft>
            </a:pPr>
            <a:r>
              <a:rPr sz="1100" b="0">
                <a:solidFill>
                  <a:srgbClr val="9AA4B0"/>
                </a:solidFill>
                <a:latin typeface="Segoe UI"/>
              </a:rPr>
              <a:t>500 m grid</a:t>
            </a:r>
            <a:br/>
            <a:r>
              <a:rPr sz="1100" b="0">
                <a:solidFill>
                  <a:srgbClr val="9AA4B0"/>
                </a:solidFill>
                <a:latin typeface="Segoe UI"/>
              </a:rPr>
              <a:t>+ summary</a:t>
            </a:r>
          </a:p>
        </p:txBody>
      </p:sp>
      <p:sp>
        <p:nvSpPr>
          <p:cNvPr id="19" name="Rectangle 18"/>
          <p:cNvSpPr/>
          <p:nvPr/>
        </p:nvSpPr>
        <p:spPr>
          <a:xfrm>
            <a:off x="640080" y="3977639"/>
            <a:ext cx="5394960" cy="2103120"/>
          </a:xfrm>
          <a:prstGeom prst="rect">
            <a:avLst/>
          </a:prstGeom>
          <a:solidFill>
            <a:srgbClr val="161A20"/>
          </a:solidFill>
          <a:ln w="9525">
            <a:solidFill>
              <a:srgbClr val="262C3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4160520"/>
            <a:ext cx="4846320" cy="1828800"/>
          </a:xfrm>
          <a:prstGeom prst="rect">
            <a:avLst/>
          </a:prstGeom>
          <a:noFill/>
        </p:spPr>
        <p:txBody>
          <a:bodyPr wrap="square">
            <a:spAutoFit/>
          </a:bodyPr>
          <a:lstStyle/>
          <a:p>
            <a:pPr algn="l">
              <a:spcAft>
                <a:spcPts val="1000"/>
              </a:spcAft>
            </a:pPr>
            <a:r>
              <a:rPr sz="1600" b="1">
                <a:solidFill>
                  <a:srgbClr val="4F9CF9"/>
                </a:solidFill>
                <a:latin typeface="Segoe UI"/>
              </a:rPr>
              <a:t>A failed stage does not stop the run</a:t>
            </a:r>
          </a:p>
          <a:p>
            <a:pPr>
              <a:spcAft>
                <a:spcPts val="0"/>
              </a:spcAft>
            </a:pPr>
            <a:r>
              <a:rPr sz="1300" b="0">
                <a:solidFill>
                  <a:srgbClr val="9AA4B0"/>
                </a:solidFill>
                <a:latin typeface="Segoe UI"/>
              </a:rPr>
              <a:t>Public data sources rate-limit and time out, and Earth Engine needs an account. Any stage that cannot run records why, and the pipeline continues. The reason appears in the output and on the dashboard, so a missing layer is always visible rather than silently read as zero.</a:t>
            </a:r>
          </a:p>
        </p:txBody>
      </p:sp>
      <p:sp>
        <p:nvSpPr>
          <p:cNvPr id="21" name="Rectangle 20"/>
          <p:cNvSpPr/>
          <p:nvPr/>
        </p:nvSpPr>
        <p:spPr>
          <a:xfrm>
            <a:off x="6309360" y="3977639"/>
            <a:ext cx="5212080" cy="2103120"/>
          </a:xfrm>
          <a:prstGeom prst="rect">
            <a:avLst/>
          </a:prstGeom>
          <a:solidFill>
            <a:srgbClr val="161A20"/>
          </a:solidFill>
          <a:ln w="9525">
            <a:solidFill>
              <a:srgbClr val="262C3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0" y="4160520"/>
            <a:ext cx="4663440" cy="1828800"/>
          </a:xfrm>
          <a:prstGeom prst="rect">
            <a:avLst/>
          </a:prstGeom>
          <a:noFill/>
        </p:spPr>
        <p:txBody>
          <a:bodyPr wrap="square">
            <a:spAutoFit/>
          </a:bodyPr>
          <a:lstStyle/>
          <a:p>
            <a:pPr algn="l">
              <a:spcAft>
                <a:spcPts val="1000"/>
              </a:spcAft>
            </a:pPr>
            <a:r>
              <a:rPr sz="1600" b="1">
                <a:solidFill>
                  <a:srgbClr val="4F9CF9"/>
                </a:solidFill>
                <a:latin typeface="Segoe UI"/>
              </a:rPr>
              <a:t>Prediction runs separately</a:t>
            </a:r>
          </a:p>
          <a:p>
            <a:pPr>
              <a:spcAft>
                <a:spcPts val="0"/>
              </a:spcAft>
            </a:pPr>
            <a:r>
              <a:rPr sz="1300" b="0">
                <a:solidFill>
                  <a:srgbClr val="9AA4B0"/>
                </a:solidFill>
                <a:latin typeface="Segoe UI"/>
              </a:rPr>
              <a:t>Build seven drivers  →  train on an early period  →  test on a later unseen period  →  compare against random  →  project +5 and +10 years  →  allocate with a cellular automaton so growth appears in connected patches.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1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822960"/>
          </a:xfrm>
          <a:prstGeom prst="rect">
            <a:avLst/>
          </a:prstGeom>
          <a:noFill/>
        </p:spPr>
        <p:txBody>
          <a:bodyPr wrap="square">
            <a:spAutoFit/>
          </a:bodyPr>
          <a:lstStyle/>
          <a:p>
            <a:pPr algn="l">
              <a:spcAft>
                <a:spcPts val="200"/>
              </a:spcAft>
            </a:pPr>
            <a:r>
              <a:rPr sz="3000" b="1">
                <a:solidFill>
                  <a:srgbClr val="E6EDF3"/>
                </a:solidFill>
                <a:latin typeface="Segoe UI"/>
              </a:rPr>
              <a:t>System Architecture</a:t>
            </a:r>
          </a:p>
          <a:p>
            <a:pPr>
              <a:spcAft>
                <a:spcPts val="0"/>
              </a:spcAft>
            </a:pPr>
            <a:r>
              <a:rPr sz="1350" b="0">
                <a:solidFill>
                  <a:srgbClr val="4F9CF9"/>
                </a:solidFill>
                <a:latin typeface="Segoe UI"/>
              </a:rPr>
              <a:t>Four layers · data flows upward</a:t>
            </a:r>
          </a:p>
        </p:txBody>
      </p:sp>
      <p:sp>
        <p:nvSpPr>
          <p:cNvPr id="4" name="Rectangle 3"/>
          <p:cNvSpPr/>
          <p:nvPr/>
        </p:nvSpPr>
        <p:spPr>
          <a:xfrm>
            <a:off x="640080" y="1298448"/>
            <a:ext cx="1371600" cy="38100"/>
          </a:xfrm>
          <a:prstGeom prst="rect">
            <a:avLst/>
          </a:prstGeom>
          <a:solidFill>
            <a:srgbClr val="4F9C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91640"/>
            <a:ext cx="10881360" cy="932688"/>
          </a:xfrm>
          <a:prstGeom prst="rect">
            <a:avLst/>
          </a:prstGeom>
          <a:solidFill>
            <a:srgbClr val="161A20"/>
          </a:solidFill>
          <a:ln w="9525">
            <a:solidFill>
              <a:srgbClr val="262C3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847088"/>
            <a:ext cx="2377440" cy="640080"/>
          </a:xfrm>
          <a:prstGeom prst="rect">
            <a:avLst/>
          </a:prstGeom>
          <a:noFill/>
        </p:spPr>
        <p:txBody>
          <a:bodyPr wrap="square">
            <a:spAutoFit/>
          </a:bodyPr>
          <a:lstStyle/>
          <a:p>
            <a:pPr algn="l">
              <a:spcAft>
                <a:spcPts val="0"/>
              </a:spcAft>
            </a:pPr>
            <a:r>
              <a:rPr sz="1450" b="1">
                <a:solidFill>
                  <a:srgbClr val="4F9CF9"/>
                </a:solidFill>
                <a:latin typeface="Segoe UI"/>
              </a:rPr>
              <a:t>PRESENTATION</a:t>
            </a:r>
          </a:p>
        </p:txBody>
      </p:sp>
      <p:sp>
        <p:nvSpPr>
          <p:cNvPr id="7" name="TextBox 6"/>
          <p:cNvSpPr txBox="1"/>
          <p:nvPr/>
        </p:nvSpPr>
        <p:spPr>
          <a:xfrm>
            <a:off x="3200400" y="1874520"/>
            <a:ext cx="8138160" cy="640080"/>
          </a:xfrm>
          <a:prstGeom prst="rect">
            <a:avLst/>
          </a:prstGeom>
          <a:noFill/>
        </p:spPr>
        <p:txBody>
          <a:bodyPr wrap="square">
            <a:spAutoFit/>
          </a:bodyPr>
          <a:lstStyle/>
          <a:p>
            <a:pPr algn="l">
              <a:spcAft>
                <a:spcPts val="0"/>
              </a:spcAft>
            </a:pPr>
            <a:r>
              <a:rPr sz="1250" b="0">
                <a:solidFill>
                  <a:srgbClr val="9AA4B0"/>
                </a:solidFill>
                <a:latin typeface="Segoe UI"/>
              </a:rPr>
              <a:t>Dashboard — maps, numbers, downloadable files</a:t>
            </a:r>
          </a:p>
        </p:txBody>
      </p:sp>
      <p:sp>
        <p:nvSpPr>
          <p:cNvPr id="8" name="Rectangle 7"/>
          <p:cNvSpPr/>
          <p:nvPr/>
        </p:nvSpPr>
        <p:spPr>
          <a:xfrm>
            <a:off x="640080" y="2770632"/>
            <a:ext cx="10881360" cy="932688"/>
          </a:xfrm>
          <a:prstGeom prst="rect">
            <a:avLst/>
          </a:prstGeom>
          <a:solidFill>
            <a:srgbClr val="161A20"/>
          </a:solidFill>
          <a:ln w="9525">
            <a:solidFill>
              <a:srgbClr val="262C3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926080"/>
            <a:ext cx="2377440" cy="640080"/>
          </a:xfrm>
          <a:prstGeom prst="rect">
            <a:avLst/>
          </a:prstGeom>
          <a:noFill/>
        </p:spPr>
        <p:txBody>
          <a:bodyPr wrap="square">
            <a:spAutoFit/>
          </a:bodyPr>
          <a:lstStyle/>
          <a:p>
            <a:pPr algn="l">
              <a:spcAft>
                <a:spcPts val="0"/>
              </a:spcAft>
            </a:pPr>
            <a:r>
              <a:rPr sz="1450" b="1">
                <a:solidFill>
                  <a:srgbClr val="E6EDF3"/>
                </a:solidFill>
                <a:latin typeface="Segoe UI"/>
              </a:rPr>
              <a:t>ANALYSIS</a:t>
            </a:r>
          </a:p>
        </p:txBody>
      </p:sp>
      <p:sp>
        <p:nvSpPr>
          <p:cNvPr id="10" name="TextBox 9"/>
          <p:cNvSpPr txBox="1"/>
          <p:nvPr/>
        </p:nvSpPr>
        <p:spPr>
          <a:xfrm>
            <a:off x="3200400" y="2953512"/>
            <a:ext cx="8138160" cy="640080"/>
          </a:xfrm>
          <a:prstGeom prst="rect">
            <a:avLst/>
          </a:prstGeom>
          <a:noFill/>
        </p:spPr>
        <p:txBody>
          <a:bodyPr wrap="square">
            <a:spAutoFit/>
          </a:bodyPr>
          <a:lstStyle/>
          <a:p>
            <a:pPr algn="l">
              <a:spcAft>
                <a:spcPts val="0"/>
              </a:spcAft>
            </a:pPr>
            <a:r>
              <a:rPr sz="1250" b="0">
                <a:solidFill>
                  <a:srgbClr val="9AA4B0"/>
                </a:solidFill>
                <a:latin typeface="Segoe UI"/>
              </a:rPr>
              <a:t>Built-up change · activity · vegetation · heat · ghost growth · prediction</a:t>
            </a:r>
          </a:p>
        </p:txBody>
      </p:sp>
      <p:sp>
        <p:nvSpPr>
          <p:cNvPr id="11" name="Rectangle 10"/>
          <p:cNvSpPr/>
          <p:nvPr/>
        </p:nvSpPr>
        <p:spPr>
          <a:xfrm>
            <a:off x="640080" y="3849624"/>
            <a:ext cx="10881360" cy="932688"/>
          </a:xfrm>
          <a:prstGeom prst="rect">
            <a:avLst/>
          </a:prstGeom>
          <a:solidFill>
            <a:srgbClr val="161A20"/>
          </a:solidFill>
          <a:ln w="9525">
            <a:solidFill>
              <a:srgbClr val="262C3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4005072"/>
            <a:ext cx="2377440" cy="640080"/>
          </a:xfrm>
          <a:prstGeom prst="rect">
            <a:avLst/>
          </a:prstGeom>
          <a:noFill/>
        </p:spPr>
        <p:txBody>
          <a:bodyPr wrap="square">
            <a:spAutoFit/>
          </a:bodyPr>
          <a:lstStyle/>
          <a:p>
            <a:pPr algn="l">
              <a:spcAft>
                <a:spcPts val="0"/>
              </a:spcAft>
            </a:pPr>
            <a:r>
              <a:rPr sz="1450" b="1">
                <a:solidFill>
                  <a:srgbClr val="E6EDF3"/>
                </a:solidFill>
                <a:latin typeface="Segoe UI"/>
              </a:rPr>
              <a:t>ACQUISITION</a:t>
            </a:r>
          </a:p>
        </p:txBody>
      </p:sp>
      <p:sp>
        <p:nvSpPr>
          <p:cNvPr id="13" name="TextBox 12"/>
          <p:cNvSpPr txBox="1"/>
          <p:nvPr/>
        </p:nvSpPr>
        <p:spPr>
          <a:xfrm>
            <a:off x="3200400" y="4032504"/>
            <a:ext cx="8138160" cy="640080"/>
          </a:xfrm>
          <a:prstGeom prst="rect">
            <a:avLst/>
          </a:prstGeom>
          <a:noFill/>
        </p:spPr>
        <p:txBody>
          <a:bodyPr wrap="square">
            <a:spAutoFit/>
          </a:bodyPr>
          <a:lstStyle/>
          <a:p>
            <a:pPr algn="l">
              <a:spcAft>
                <a:spcPts val="0"/>
              </a:spcAft>
            </a:pPr>
            <a:r>
              <a:rPr sz="1250" b="0">
                <a:solidFill>
                  <a:srgbClr val="9AA4B0"/>
                </a:solidFill>
                <a:latin typeface="Segoe UI"/>
              </a:rPr>
              <a:t>Open path (no account): GHSL, OpenStreetMap    |    Earth Engine path: VIIRS, Sentinel-2, Landsat, Dynamic World, Open Buildings</a:t>
            </a:r>
          </a:p>
        </p:txBody>
      </p:sp>
      <p:sp>
        <p:nvSpPr>
          <p:cNvPr id="14" name="Rectangle 13"/>
          <p:cNvSpPr/>
          <p:nvPr/>
        </p:nvSpPr>
        <p:spPr>
          <a:xfrm>
            <a:off x="640080" y="4928616"/>
            <a:ext cx="10881360" cy="932688"/>
          </a:xfrm>
          <a:prstGeom prst="rect">
            <a:avLst/>
          </a:prstGeom>
          <a:solidFill>
            <a:srgbClr val="161A20"/>
          </a:solidFill>
          <a:ln w="9525">
            <a:solidFill>
              <a:srgbClr val="262C3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5084064"/>
            <a:ext cx="2377440" cy="640080"/>
          </a:xfrm>
          <a:prstGeom prst="rect">
            <a:avLst/>
          </a:prstGeom>
          <a:noFill/>
        </p:spPr>
        <p:txBody>
          <a:bodyPr wrap="square">
            <a:spAutoFit/>
          </a:bodyPr>
          <a:lstStyle/>
          <a:p>
            <a:pPr algn="l">
              <a:spcAft>
                <a:spcPts val="0"/>
              </a:spcAft>
            </a:pPr>
            <a:r>
              <a:rPr sz="1450" b="1">
                <a:solidFill>
                  <a:srgbClr val="9AA4B0"/>
                </a:solidFill>
                <a:latin typeface="Segoe UI"/>
              </a:rPr>
              <a:t>CONFIGURATION</a:t>
            </a:r>
          </a:p>
        </p:txBody>
      </p:sp>
      <p:sp>
        <p:nvSpPr>
          <p:cNvPr id="16" name="TextBox 15"/>
          <p:cNvSpPr txBox="1"/>
          <p:nvPr/>
        </p:nvSpPr>
        <p:spPr>
          <a:xfrm>
            <a:off x="3200400" y="5111496"/>
            <a:ext cx="8138160" cy="640080"/>
          </a:xfrm>
          <a:prstGeom prst="rect">
            <a:avLst/>
          </a:prstGeom>
          <a:noFill/>
        </p:spPr>
        <p:txBody>
          <a:bodyPr wrap="square">
            <a:spAutoFit/>
          </a:bodyPr>
          <a:lstStyle/>
          <a:p>
            <a:pPr algn="l">
              <a:spcAft>
                <a:spcPts val="0"/>
              </a:spcAft>
            </a:pPr>
            <a:r>
              <a:rPr sz="1250" b="0">
                <a:solidFill>
                  <a:srgbClr val="9AA4B0"/>
                </a:solidFill>
                <a:latin typeface="Segoe UI"/>
              </a:rPr>
              <a:t>City, area, grid size, years, thresholds, data sources — nothing below is hard-coded</a:t>
            </a:r>
          </a:p>
        </p:txBody>
      </p:sp>
      <p:sp>
        <p:nvSpPr>
          <p:cNvPr id="17" name="TextBox 16"/>
          <p:cNvSpPr txBox="1"/>
          <p:nvPr/>
        </p:nvSpPr>
        <p:spPr>
          <a:xfrm>
            <a:off x="640080" y="5943600"/>
            <a:ext cx="10881360" cy="640080"/>
          </a:xfrm>
          <a:prstGeom prst="rect">
            <a:avLst/>
          </a:prstGeom>
          <a:noFill/>
        </p:spPr>
        <p:txBody>
          <a:bodyPr wrap="square">
            <a:spAutoFit/>
          </a:bodyPr>
          <a:lstStyle/>
          <a:p>
            <a:pPr algn="l">
              <a:spcAft>
                <a:spcPts val="0"/>
              </a:spcAft>
            </a:pPr>
            <a:r>
              <a:rPr sz="1300" b="0">
                <a:solidFill>
                  <a:srgbClr val="EDA100"/>
                </a:solidFill>
                <a:latin typeface="Segoe UI"/>
              </a:rPr>
              <a:t>Two rules keep it clean:  acquisition modules never analyse, and analysis modules never download. That is why the analysis can be tested on synthetic data with no network access — the test suite runs in seconds.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1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822960"/>
          </a:xfrm>
          <a:prstGeom prst="rect">
            <a:avLst/>
          </a:prstGeom>
          <a:noFill/>
        </p:spPr>
        <p:txBody>
          <a:bodyPr wrap="square">
            <a:spAutoFit/>
          </a:bodyPr>
          <a:lstStyle/>
          <a:p>
            <a:pPr algn="l">
              <a:spcAft>
                <a:spcPts val="200"/>
              </a:spcAft>
            </a:pPr>
            <a:r>
              <a:rPr sz="3000" b="1">
                <a:solidFill>
                  <a:srgbClr val="E6EDF3"/>
                </a:solidFill>
                <a:latin typeface="Segoe UI"/>
              </a:rPr>
              <a:t>Datasets Acquired</a:t>
            </a:r>
          </a:p>
          <a:p>
            <a:pPr>
              <a:spcAft>
                <a:spcPts val="0"/>
              </a:spcAft>
            </a:pPr>
            <a:r>
              <a:rPr sz="1350" b="0">
                <a:solidFill>
                  <a:srgbClr val="4F9CF9"/>
                </a:solidFill>
                <a:latin typeface="Segoe UI"/>
              </a:rPr>
              <a:t>Official identifiers, exactly as published</a:t>
            </a:r>
          </a:p>
        </p:txBody>
      </p:sp>
      <p:sp>
        <p:nvSpPr>
          <p:cNvPr id="4" name="Rectangle 3"/>
          <p:cNvSpPr/>
          <p:nvPr/>
        </p:nvSpPr>
        <p:spPr>
          <a:xfrm>
            <a:off x="640080" y="1298448"/>
            <a:ext cx="1371600" cy="38100"/>
          </a:xfrm>
          <a:prstGeom prst="rect">
            <a:avLst/>
          </a:prstGeom>
          <a:solidFill>
            <a:srgbClr val="4F9C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00200"/>
            <a:ext cx="10881360" cy="4114800"/>
          </a:xfrm>
          <a:prstGeom prst="rect">
            <a:avLst/>
          </a:prstGeom>
          <a:solidFill>
            <a:srgbClr val="161A20"/>
          </a:solidFill>
          <a:ln w="9525">
            <a:solidFill>
              <a:srgbClr val="262C3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691640"/>
            <a:ext cx="10698480" cy="320040"/>
          </a:xfrm>
          <a:prstGeom prst="rect">
            <a:avLst/>
          </a:prstGeom>
          <a:noFill/>
        </p:spPr>
        <p:txBody>
          <a:bodyPr wrap="square">
            <a:spAutoFit/>
          </a:bodyPr>
          <a:lstStyle/>
          <a:p>
            <a:pPr algn="l">
              <a:spcAft>
                <a:spcPts val="0"/>
              </a:spcAft>
            </a:pPr>
          </a:p>
        </p:txBody>
      </p:sp>
      <p:sp>
        <p:nvSpPr>
          <p:cNvPr id="7" name="TextBox 6"/>
          <p:cNvSpPr txBox="1"/>
          <p:nvPr/>
        </p:nvSpPr>
        <p:spPr>
          <a:xfrm>
            <a:off x="731520" y="1737360"/>
            <a:ext cx="3749039" cy="320040"/>
          </a:xfrm>
          <a:prstGeom prst="rect">
            <a:avLst/>
          </a:prstGeom>
          <a:noFill/>
        </p:spPr>
        <p:txBody>
          <a:bodyPr wrap="square">
            <a:spAutoFit/>
          </a:bodyPr>
          <a:lstStyle/>
          <a:p>
            <a:pPr algn="l">
              <a:spcAft>
                <a:spcPts val="0"/>
              </a:spcAft>
            </a:pPr>
            <a:r>
              <a:rPr sz="1150" b="1">
                <a:solidFill>
                  <a:srgbClr val="4F9CF9"/>
                </a:solidFill>
                <a:latin typeface="Segoe UI"/>
              </a:rPr>
              <a:t>Official dataset</a:t>
            </a:r>
          </a:p>
        </p:txBody>
      </p:sp>
      <p:sp>
        <p:nvSpPr>
          <p:cNvPr id="8" name="TextBox 7"/>
          <p:cNvSpPr txBox="1"/>
          <p:nvPr/>
        </p:nvSpPr>
        <p:spPr>
          <a:xfrm>
            <a:off x="4572000" y="1737360"/>
            <a:ext cx="2011680" cy="320040"/>
          </a:xfrm>
          <a:prstGeom prst="rect">
            <a:avLst/>
          </a:prstGeom>
          <a:noFill/>
        </p:spPr>
        <p:txBody>
          <a:bodyPr wrap="square">
            <a:spAutoFit/>
          </a:bodyPr>
          <a:lstStyle/>
          <a:p>
            <a:pPr algn="l">
              <a:spcAft>
                <a:spcPts val="0"/>
              </a:spcAft>
            </a:pPr>
            <a:r>
              <a:rPr sz="1150" b="1">
                <a:solidFill>
                  <a:srgbClr val="4F9CF9"/>
                </a:solidFill>
                <a:latin typeface="Segoe UI"/>
              </a:rPr>
              <a:t>Provider</a:t>
            </a:r>
          </a:p>
        </p:txBody>
      </p:sp>
      <p:sp>
        <p:nvSpPr>
          <p:cNvPr id="9" name="TextBox 8"/>
          <p:cNvSpPr txBox="1"/>
          <p:nvPr/>
        </p:nvSpPr>
        <p:spPr>
          <a:xfrm>
            <a:off x="6675120" y="1737360"/>
            <a:ext cx="1005840" cy="320040"/>
          </a:xfrm>
          <a:prstGeom prst="rect">
            <a:avLst/>
          </a:prstGeom>
          <a:noFill/>
        </p:spPr>
        <p:txBody>
          <a:bodyPr wrap="square">
            <a:spAutoFit/>
          </a:bodyPr>
          <a:lstStyle/>
          <a:p>
            <a:pPr algn="l">
              <a:spcAft>
                <a:spcPts val="0"/>
              </a:spcAft>
            </a:pPr>
            <a:r>
              <a:rPr sz="1150" b="1">
                <a:solidFill>
                  <a:srgbClr val="4F9CF9"/>
                </a:solidFill>
                <a:latin typeface="Segoe UI"/>
              </a:rPr>
              <a:t>Res.</a:t>
            </a:r>
          </a:p>
        </p:txBody>
      </p:sp>
      <p:sp>
        <p:nvSpPr>
          <p:cNvPr id="10" name="TextBox 9"/>
          <p:cNvSpPr txBox="1"/>
          <p:nvPr/>
        </p:nvSpPr>
        <p:spPr>
          <a:xfrm>
            <a:off x="7772400" y="1737360"/>
            <a:ext cx="1828800" cy="320040"/>
          </a:xfrm>
          <a:prstGeom prst="rect">
            <a:avLst/>
          </a:prstGeom>
          <a:noFill/>
        </p:spPr>
        <p:txBody>
          <a:bodyPr wrap="square">
            <a:spAutoFit/>
          </a:bodyPr>
          <a:lstStyle/>
          <a:p>
            <a:pPr algn="l">
              <a:spcAft>
                <a:spcPts val="0"/>
              </a:spcAft>
            </a:pPr>
            <a:r>
              <a:rPr sz="1150" b="1">
                <a:solidFill>
                  <a:srgbClr val="4F9CF9"/>
                </a:solidFill>
                <a:latin typeface="Segoe UI"/>
              </a:rPr>
              <a:t>Imagery dates</a:t>
            </a:r>
          </a:p>
        </p:txBody>
      </p:sp>
      <p:sp>
        <p:nvSpPr>
          <p:cNvPr id="11" name="TextBox 10"/>
          <p:cNvSpPr txBox="1"/>
          <p:nvPr/>
        </p:nvSpPr>
        <p:spPr>
          <a:xfrm>
            <a:off x="9692640" y="1737360"/>
            <a:ext cx="1920240" cy="320040"/>
          </a:xfrm>
          <a:prstGeom prst="rect">
            <a:avLst/>
          </a:prstGeom>
          <a:noFill/>
        </p:spPr>
        <p:txBody>
          <a:bodyPr wrap="square">
            <a:spAutoFit/>
          </a:bodyPr>
          <a:lstStyle/>
          <a:p>
            <a:pPr algn="l">
              <a:spcAft>
                <a:spcPts val="0"/>
              </a:spcAft>
            </a:pPr>
            <a:r>
              <a:rPr sz="1150" b="1">
                <a:solidFill>
                  <a:srgbClr val="4F9CF9"/>
                </a:solidFill>
                <a:latin typeface="Segoe UI"/>
              </a:rPr>
              <a:t>Gives us</a:t>
            </a:r>
          </a:p>
        </p:txBody>
      </p:sp>
      <p:sp>
        <p:nvSpPr>
          <p:cNvPr id="12" name="TextBox 11"/>
          <p:cNvSpPr txBox="1"/>
          <p:nvPr/>
        </p:nvSpPr>
        <p:spPr>
          <a:xfrm>
            <a:off x="731520" y="2121408"/>
            <a:ext cx="3749039" cy="384048"/>
          </a:xfrm>
          <a:prstGeom prst="rect">
            <a:avLst/>
          </a:prstGeom>
          <a:noFill/>
        </p:spPr>
        <p:txBody>
          <a:bodyPr wrap="square">
            <a:spAutoFit/>
          </a:bodyPr>
          <a:lstStyle/>
          <a:p>
            <a:pPr algn="l">
              <a:spcAft>
                <a:spcPts val="0"/>
              </a:spcAft>
            </a:pPr>
            <a:r>
              <a:rPr sz="1050" b="1">
                <a:solidFill>
                  <a:srgbClr val="E6EDF3"/>
                </a:solidFill>
                <a:latin typeface="Segoe UI"/>
              </a:rPr>
              <a:t>GHS-BUILT-S R2023A</a:t>
            </a:r>
          </a:p>
        </p:txBody>
      </p:sp>
      <p:sp>
        <p:nvSpPr>
          <p:cNvPr id="13" name="TextBox 12"/>
          <p:cNvSpPr txBox="1"/>
          <p:nvPr/>
        </p:nvSpPr>
        <p:spPr>
          <a:xfrm>
            <a:off x="4572000" y="2121408"/>
            <a:ext cx="2011680" cy="384048"/>
          </a:xfrm>
          <a:prstGeom prst="rect">
            <a:avLst/>
          </a:prstGeom>
          <a:noFill/>
        </p:spPr>
        <p:txBody>
          <a:bodyPr wrap="square">
            <a:spAutoFit/>
          </a:bodyPr>
          <a:lstStyle/>
          <a:p>
            <a:pPr algn="l">
              <a:spcAft>
                <a:spcPts val="0"/>
              </a:spcAft>
            </a:pPr>
            <a:r>
              <a:rPr sz="1050" b="0">
                <a:solidFill>
                  <a:srgbClr val="9AA4B0"/>
                </a:solidFill>
                <a:latin typeface="Segoe UI"/>
              </a:rPr>
              <a:t>EC Joint Research Centre</a:t>
            </a:r>
          </a:p>
        </p:txBody>
      </p:sp>
      <p:sp>
        <p:nvSpPr>
          <p:cNvPr id="14" name="TextBox 13"/>
          <p:cNvSpPr txBox="1"/>
          <p:nvPr/>
        </p:nvSpPr>
        <p:spPr>
          <a:xfrm>
            <a:off x="6675120" y="2121408"/>
            <a:ext cx="1005840" cy="384048"/>
          </a:xfrm>
          <a:prstGeom prst="rect">
            <a:avLst/>
          </a:prstGeom>
          <a:noFill/>
        </p:spPr>
        <p:txBody>
          <a:bodyPr wrap="square">
            <a:spAutoFit/>
          </a:bodyPr>
          <a:lstStyle/>
          <a:p>
            <a:pPr algn="l">
              <a:spcAft>
                <a:spcPts val="0"/>
              </a:spcAft>
            </a:pPr>
            <a:r>
              <a:rPr sz="1050" b="0">
                <a:solidFill>
                  <a:srgbClr val="9AA4B0"/>
                </a:solidFill>
                <a:latin typeface="Segoe UI"/>
              </a:rPr>
              <a:t>100 m</a:t>
            </a:r>
          </a:p>
        </p:txBody>
      </p:sp>
      <p:sp>
        <p:nvSpPr>
          <p:cNvPr id="15" name="TextBox 14"/>
          <p:cNvSpPr txBox="1"/>
          <p:nvPr/>
        </p:nvSpPr>
        <p:spPr>
          <a:xfrm>
            <a:off x="7772400" y="2121408"/>
            <a:ext cx="1828800" cy="384048"/>
          </a:xfrm>
          <a:prstGeom prst="rect">
            <a:avLst/>
          </a:prstGeom>
          <a:noFill/>
        </p:spPr>
        <p:txBody>
          <a:bodyPr wrap="square">
            <a:spAutoFit/>
          </a:bodyPr>
          <a:lstStyle/>
          <a:p>
            <a:pPr algn="l">
              <a:spcAft>
                <a:spcPts val="0"/>
              </a:spcAft>
            </a:pPr>
            <a:r>
              <a:rPr sz="1050" b="0">
                <a:solidFill>
                  <a:srgbClr val="9AA4B0"/>
                </a:solidFill>
                <a:latin typeface="Segoe UI"/>
              </a:rPr>
              <a:t>2020 epoch</a:t>
            </a:r>
          </a:p>
        </p:txBody>
      </p:sp>
      <p:sp>
        <p:nvSpPr>
          <p:cNvPr id="16" name="TextBox 15"/>
          <p:cNvSpPr txBox="1"/>
          <p:nvPr/>
        </p:nvSpPr>
        <p:spPr>
          <a:xfrm>
            <a:off x="9692640" y="2121408"/>
            <a:ext cx="1920240" cy="384048"/>
          </a:xfrm>
          <a:prstGeom prst="rect">
            <a:avLst/>
          </a:prstGeom>
          <a:noFill/>
        </p:spPr>
        <p:txBody>
          <a:bodyPr wrap="square">
            <a:spAutoFit/>
          </a:bodyPr>
          <a:lstStyle/>
          <a:p>
            <a:pPr algn="l">
              <a:spcAft>
                <a:spcPts val="0"/>
              </a:spcAft>
            </a:pPr>
            <a:r>
              <a:rPr sz="1050" b="0">
                <a:solidFill>
                  <a:srgbClr val="9AA4B0"/>
                </a:solidFill>
                <a:latin typeface="Segoe UI"/>
              </a:rPr>
              <a:t>Built-up surface</a:t>
            </a:r>
          </a:p>
        </p:txBody>
      </p:sp>
      <p:sp>
        <p:nvSpPr>
          <p:cNvPr id="17" name="TextBox 16"/>
          <p:cNvSpPr txBox="1"/>
          <p:nvPr/>
        </p:nvSpPr>
        <p:spPr>
          <a:xfrm>
            <a:off x="731520" y="2578608"/>
            <a:ext cx="3749039" cy="384048"/>
          </a:xfrm>
          <a:prstGeom prst="rect">
            <a:avLst/>
          </a:prstGeom>
          <a:noFill/>
        </p:spPr>
        <p:txBody>
          <a:bodyPr wrap="square">
            <a:spAutoFit/>
          </a:bodyPr>
          <a:lstStyle/>
          <a:p>
            <a:pPr algn="l">
              <a:spcAft>
                <a:spcPts val="0"/>
              </a:spcAft>
            </a:pPr>
            <a:r>
              <a:rPr sz="1050" b="1">
                <a:solidFill>
                  <a:srgbClr val="E6EDF3"/>
                </a:solidFill>
                <a:latin typeface="Segoe UI"/>
              </a:rPr>
              <a:t>GHS-POP R2023A</a:t>
            </a:r>
          </a:p>
        </p:txBody>
      </p:sp>
      <p:sp>
        <p:nvSpPr>
          <p:cNvPr id="18" name="TextBox 17"/>
          <p:cNvSpPr txBox="1"/>
          <p:nvPr/>
        </p:nvSpPr>
        <p:spPr>
          <a:xfrm>
            <a:off x="4572000" y="2578608"/>
            <a:ext cx="2011680" cy="384048"/>
          </a:xfrm>
          <a:prstGeom prst="rect">
            <a:avLst/>
          </a:prstGeom>
          <a:noFill/>
        </p:spPr>
        <p:txBody>
          <a:bodyPr wrap="square">
            <a:spAutoFit/>
          </a:bodyPr>
          <a:lstStyle/>
          <a:p>
            <a:pPr algn="l">
              <a:spcAft>
                <a:spcPts val="0"/>
              </a:spcAft>
            </a:pPr>
            <a:r>
              <a:rPr sz="1050" b="0">
                <a:solidFill>
                  <a:srgbClr val="9AA4B0"/>
                </a:solidFill>
                <a:latin typeface="Segoe UI"/>
              </a:rPr>
              <a:t>EC Joint Research Centre</a:t>
            </a:r>
          </a:p>
        </p:txBody>
      </p:sp>
      <p:sp>
        <p:nvSpPr>
          <p:cNvPr id="19" name="TextBox 18"/>
          <p:cNvSpPr txBox="1"/>
          <p:nvPr/>
        </p:nvSpPr>
        <p:spPr>
          <a:xfrm>
            <a:off x="6675120" y="2578608"/>
            <a:ext cx="1005840" cy="384048"/>
          </a:xfrm>
          <a:prstGeom prst="rect">
            <a:avLst/>
          </a:prstGeom>
          <a:noFill/>
        </p:spPr>
        <p:txBody>
          <a:bodyPr wrap="square">
            <a:spAutoFit/>
          </a:bodyPr>
          <a:lstStyle/>
          <a:p>
            <a:pPr algn="l">
              <a:spcAft>
                <a:spcPts val="0"/>
              </a:spcAft>
            </a:pPr>
            <a:r>
              <a:rPr sz="1050" b="0">
                <a:solidFill>
                  <a:srgbClr val="9AA4B0"/>
                </a:solidFill>
                <a:latin typeface="Segoe UI"/>
              </a:rPr>
              <a:t>100 m</a:t>
            </a:r>
          </a:p>
        </p:txBody>
      </p:sp>
      <p:sp>
        <p:nvSpPr>
          <p:cNvPr id="20" name="TextBox 19"/>
          <p:cNvSpPr txBox="1"/>
          <p:nvPr/>
        </p:nvSpPr>
        <p:spPr>
          <a:xfrm>
            <a:off x="7772400" y="2578608"/>
            <a:ext cx="1828800" cy="384048"/>
          </a:xfrm>
          <a:prstGeom prst="rect">
            <a:avLst/>
          </a:prstGeom>
          <a:noFill/>
        </p:spPr>
        <p:txBody>
          <a:bodyPr wrap="square">
            <a:spAutoFit/>
          </a:bodyPr>
          <a:lstStyle/>
          <a:p>
            <a:pPr algn="l">
              <a:spcAft>
                <a:spcPts val="0"/>
              </a:spcAft>
            </a:pPr>
            <a:r>
              <a:rPr sz="1050" b="0">
                <a:solidFill>
                  <a:srgbClr val="9AA4B0"/>
                </a:solidFill>
                <a:latin typeface="Segoe UI"/>
              </a:rPr>
              <a:t>2020 epoch</a:t>
            </a:r>
          </a:p>
        </p:txBody>
      </p:sp>
      <p:sp>
        <p:nvSpPr>
          <p:cNvPr id="21" name="TextBox 20"/>
          <p:cNvSpPr txBox="1"/>
          <p:nvPr/>
        </p:nvSpPr>
        <p:spPr>
          <a:xfrm>
            <a:off x="9692640" y="2578608"/>
            <a:ext cx="1920240" cy="384048"/>
          </a:xfrm>
          <a:prstGeom prst="rect">
            <a:avLst/>
          </a:prstGeom>
          <a:noFill/>
        </p:spPr>
        <p:txBody>
          <a:bodyPr wrap="square">
            <a:spAutoFit/>
          </a:bodyPr>
          <a:lstStyle/>
          <a:p>
            <a:pPr algn="l">
              <a:spcAft>
                <a:spcPts val="0"/>
              </a:spcAft>
            </a:pPr>
            <a:r>
              <a:rPr sz="1050" b="0">
                <a:solidFill>
                  <a:srgbClr val="9AA4B0"/>
                </a:solidFill>
                <a:latin typeface="Segoe UI"/>
              </a:rPr>
              <a:t>Population</a:t>
            </a:r>
          </a:p>
        </p:txBody>
      </p:sp>
      <p:sp>
        <p:nvSpPr>
          <p:cNvPr id="22" name="TextBox 21"/>
          <p:cNvSpPr txBox="1"/>
          <p:nvPr/>
        </p:nvSpPr>
        <p:spPr>
          <a:xfrm>
            <a:off x="731520" y="3035808"/>
            <a:ext cx="3749039" cy="384048"/>
          </a:xfrm>
          <a:prstGeom prst="rect">
            <a:avLst/>
          </a:prstGeom>
          <a:noFill/>
        </p:spPr>
        <p:txBody>
          <a:bodyPr wrap="square">
            <a:spAutoFit/>
          </a:bodyPr>
          <a:lstStyle/>
          <a:p>
            <a:pPr algn="l">
              <a:spcAft>
                <a:spcPts val="0"/>
              </a:spcAft>
            </a:pPr>
            <a:r>
              <a:rPr sz="1050" b="1">
                <a:solidFill>
                  <a:srgbClr val="E6EDF3"/>
                </a:solidFill>
                <a:latin typeface="Segoe UI"/>
              </a:rPr>
              <a:t>NOAA/VIIRS/DNB/ANNUAL_V21 / _V22</a:t>
            </a:r>
          </a:p>
        </p:txBody>
      </p:sp>
      <p:sp>
        <p:nvSpPr>
          <p:cNvPr id="23" name="TextBox 22"/>
          <p:cNvSpPr txBox="1"/>
          <p:nvPr/>
        </p:nvSpPr>
        <p:spPr>
          <a:xfrm>
            <a:off x="4572000" y="3035808"/>
            <a:ext cx="2011680" cy="384048"/>
          </a:xfrm>
          <a:prstGeom prst="rect">
            <a:avLst/>
          </a:prstGeom>
          <a:noFill/>
        </p:spPr>
        <p:txBody>
          <a:bodyPr wrap="square">
            <a:spAutoFit/>
          </a:bodyPr>
          <a:lstStyle/>
          <a:p>
            <a:pPr algn="l">
              <a:spcAft>
                <a:spcPts val="0"/>
              </a:spcAft>
            </a:pPr>
            <a:r>
              <a:rPr sz="1050" b="0">
                <a:solidFill>
                  <a:srgbClr val="9AA4B0"/>
                </a:solidFill>
                <a:latin typeface="Segoe UI"/>
              </a:rPr>
              <a:t>NOAA</a:t>
            </a:r>
          </a:p>
        </p:txBody>
      </p:sp>
      <p:sp>
        <p:nvSpPr>
          <p:cNvPr id="24" name="TextBox 23"/>
          <p:cNvSpPr txBox="1"/>
          <p:nvPr/>
        </p:nvSpPr>
        <p:spPr>
          <a:xfrm>
            <a:off x="6675120" y="3035808"/>
            <a:ext cx="1005840" cy="384048"/>
          </a:xfrm>
          <a:prstGeom prst="rect">
            <a:avLst/>
          </a:prstGeom>
          <a:noFill/>
        </p:spPr>
        <p:txBody>
          <a:bodyPr wrap="square">
            <a:spAutoFit/>
          </a:bodyPr>
          <a:lstStyle/>
          <a:p>
            <a:pPr algn="l">
              <a:spcAft>
                <a:spcPts val="0"/>
              </a:spcAft>
            </a:pPr>
            <a:r>
              <a:rPr sz="1050" b="0">
                <a:solidFill>
                  <a:srgbClr val="9AA4B0"/>
                </a:solidFill>
                <a:latin typeface="Segoe UI"/>
              </a:rPr>
              <a:t>463 m</a:t>
            </a:r>
          </a:p>
        </p:txBody>
      </p:sp>
      <p:sp>
        <p:nvSpPr>
          <p:cNvPr id="25" name="TextBox 24"/>
          <p:cNvSpPr txBox="1"/>
          <p:nvPr/>
        </p:nvSpPr>
        <p:spPr>
          <a:xfrm>
            <a:off x="7772400" y="3035808"/>
            <a:ext cx="1828800" cy="384048"/>
          </a:xfrm>
          <a:prstGeom prst="rect">
            <a:avLst/>
          </a:prstGeom>
          <a:noFill/>
        </p:spPr>
        <p:txBody>
          <a:bodyPr wrap="square">
            <a:spAutoFit/>
          </a:bodyPr>
          <a:lstStyle/>
          <a:p>
            <a:pPr algn="l">
              <a:spcAft>
                <a:spcPts val="0"/>
              </a:spcAft>
            </a:pPr>
            <a:r>
              <a:rPr sz="1050" b="0">
                <a:solidFill>
                  <a:srgbClr val="9AA4B0"/>
                </a:solidFill>
                <a:latin typeface="Segoe UI"/>
              </a:rPr>
              <a:t>2013–2024</a:t>
            </a:r>
          </a:p>
        </p:txBody>
      </p:sp>
      <p:sp>
        <p:nvSpPr>
          <p:cNvPr id="26" name="TextBox 25"/>
          <p:cNvSpPr txBox="1"/>
          <p:nvPr/>
        </p:nvSpPr>
        <p:spPr>
          <a:xfrm>
            <a:off x="9692640" y="3035808"/>
            <a:ext cx="1920240" cy="384048"/>
          </a:xfrm>
          <a:prstGeom prst="rect">
            <a:avLst/>
          </a:prstGeom>
          <a:noFill/>
        </p:spPr>
        <p:txBody>
          <a:bodyPr wrap="square">
            <a:spAutoFit/>
          </a:bodyPr>
          <a:lstStyle/>
          <a:p>
            <a:pPr algn="l">
              <a:spcAft>
                <a:spcPts val="0"/>
              </a:spcAft>
            </a:pPr>
            <a:r>
              <a:rPr sz="1050" b="0">
                <a:solidFill>
                  <a:srgbClr val="9AA4B0"/>
                </a:solidFill>
                <a:latin typeface="Segoe UI"/>
              </a:rPr>
              <a:t>Nighttime lights</a:t>
            </a:r>
          </a:p>
        </p:txBody>
      </p:sp>
      <p:sp>
        <p:nvSpPr>
          <p:cNvPr id="27" name="TextBox 26"/>
          <p:cNvSpPr txBox="1"/>
          <p:nvPr/>
        </p:nvSpPr>
        <p:spPr>
          <a:xfrm>
            <a:off x="731520" y="3493008"/>
            <a:ext cx="3749039" cy="384048"/>
          </a:xfrm>
          <a:prstGeom prst="rect">
            <a:avLst/>
          </a:prstGeom>
          <a:noFill/>
        </p:spPr>
        <p:txBody>
          <a:bodyPr wrap="square">
            <a:spAutoFit/>
          </a:bodyPr>
          <a:lstStyle/>
          <a:p>
            <a:pPr algn="l">
              <a:spcAft>
                <a:spcPts val="0"/>
              </a:spcAft>
            </a:pPr>
            <a:r>
              <a:rPr sz="1050" b="1">
                <a:solidFill>
                  <a:srgbClr val="E6EDF3"/>
                </a:solidFill>
                <a:latin typeface="Segoe UI"/>
              </a:rPr>
              <a:t>COPERNICUS/S2_SR_HARMONIZED</a:t>
            </a:r>
          </a:p>
        </p:txBody>
      </p:sp>
      <p:sp>
        <p:nvSpPr>
          <p:cNvPr id="28" name="TextBox 27"/>
          <p:cNvSpPr txBox="1"/>
          <p:nvPr/>
        </p:nvSpPr>
        <p:spPr>
          <a:xfrm>
            <a:off x="4572000" y="3493008"/>
            <a:ext cx="2011680" cy="384048"/>
          </a:xfrm>
          <a:prstGeom prst="rect">
            <a:avLst/>
          </a:prstGeom>
          <a:noFill/>
        </p:spPr>
        <p:txBody>
          <a:bodyPr wrap="square">
            <a:spAutoFit/>
          </a:bodyPr>
          <a:lstStyle/>
          <a:p>
            <a:pPr algn="l">
              <a:spcAft>
                <a:spcPts val="0"/>
              </a:spcAft>
            </a:pPr>
            <a:r>
              <a:rPr sz="1050" b="0">
                <a:solidFill>
                  <a:srgbClr val="9AA4B0"/>
                </a:solidFill>
                <a:latin typeface="Segoe UI"/>
              </a:rPr>
              <a:t>ESA / Copernicus</a:t>
            </a:r>
          </a:p>
        </p:txBody>
      </p:sp>
      <p:sp>
        <p:nvSpPr>
          <p:cNvPr id="29" name="TextBox 28"/>
          <p:cNvSpPr txBox="1"/>
          <p:nvPr/>
        </p:nvSpPr>
        <p:spPr>
          <a:xfrm>
            <a:off x="6675120" y="3493008"/>
            <a:ext cx="1005840" cy="384048"/>
          </a:xfrm>
          <a:prstGeom prst="rect">
            <a:avLst/>
          </a:prstGeom>
          <a:noFill/>
        </p:spPr>
        <p:txBody>
          <a:bodyPr wrap="square">
            <a:spAutoFit/>
          </a:bodyPr>
          <a:lstStyle/>
          <a:p>
            <a:pPr algn="l">
              <a:spcAft>
                <a:spcPts val="0"/>
              </a:spcAft>
            </a:pPr>
            <a:r>
              <a:rPr sz="1050" b="0">
                <a:solidFill>
                  <a:srgbClr val="9AA4B0"/>
                </a:solidFill>
                <a:latin typeface="Segoe UI"/>
              </a:rPr>
              <a:t>10 m</a:t>
            </a:r>
          </a:p>
        </p:txBody>
      </p:sp>
      <p:sp>
        <p:nvSpPr>
          <p:cNvPr id="30" name="TextBox 29"/>
          <p:cNvSpPr txBox="1"/>
          <p:nvPr/>
        </p:nvSpPr>
        <p:spPr>
          <a:xfrm>
            <a:off x="7772400" y="3493008"/>
            <a:ext cx="1828800" cy="384048"/>
          </a:xfrm>
          <a:prstGeom prst="rect">
            <a:avLst/>
          </a:prstGeom>
          <a:noFill/>
        </p:spPr>
        <p:txBody>
          <a:bodyPr wrap="square">
            <a:spAutoFit/>
          </a:bodyPr>
          <a:lstStyle/>
          <a:p>
            <a:pPr algn="l">
              <a:spcAft>
                <a:spcPts val="0"/>
              </a:spcAft>
            </a:pPr>
            <a:r>
              <a:rPr sz="1050" b="0">
                <a:solidFill>
                  <a:srgbClr val="9AA4B0"/>
                </a:solidFill>
                <a:latin typeface="Segoe UI"/>
              </a:rPr>
              <a:t>Oct 2024 – Mar 2025</a:t>
            </a:r>
          </a:p>
        </p:txBody>
      </p:sp>
      <p:sp>
        <p:nvSpPr>
          <p:cNvPr id="31" name="TextBox 30"/>
          <p:cNvSpPr txBox="1"/>
          <p:nvPr/>
        </p:nvSpPr>
        <p:spPr>
          <a:xfrm>
            <a:off x="9692640" y="3493008"/>
            <a:ext cx="1920240" cy="384048"/>
          </a:xfrm>
          <a:prstGeom prst="rect">
            <a:avLst/>
          </a:prstGeom>
          <a:noFill/>
        </p:spPr>
        <p:txBody>
          <a:bodyPr wrap="square">
            <a:spAutoFit/>
          </a:bodyPr>
          <a:lstStyle/>
          <a:p>
            <a:pPr algn="l">
              <a:spcAft>
                <a:spcPts val="0"/>
              </a:spcAft>
            </a:pPr>
            <a:r>
              <a:rPr sz="1050" b="0">
                <a:solidFill>
                  <a:srgbClr val="9AA4B0"/>
                </a:solidFill>
                <a:latin typeface="Segoe UI"/>
              </a:rPr>
              <a:t>True colour, NDVI, NDBI</a:t>
            </a:r>
          </a:p>
        </p:txBody>
      </p:sp>
      <p:sp>
        <p:nvSpPr>
          <p:cNvPr id="32" name="TextBox 31"/>
          <p:cNvSpPr txBox="1"/>
          <p:nvPr/>
        </p:nvSpPr>
        <p:spPr>
          <a:xfrm>
            <a:off x="731520" y="3950208"/>
            <a:ext cx="3749039" cy="384048"/>
          </a:xfrm>
          <a:prstGeom prst="rect">
            <a:avLst/>
          </a:prstGeom>
          <a:noFill/>
        </p:spPr>
        <p:txBody>
          <a:bodyPr wrap="square">
            <a:spAutoFit/>
          </a:bodyPr>
          <a:lstStyle/>
          <a:p>
            <a:pPr algn="l">
              <a:spcAft>
                <a:spcPts val="0"/>
              </a:spcAft>
            </a:pPr>
            <a:r>
              <a:rPr sz="1050" b="1">
                <a:solidFill>
                  <a:srgbClr val="E6EDF3"/>
                </a:solidFill>
                <a:latin typeface="Segoe UI"/>
              </a:rPr>
              <a:t>LANDSAT/LC08 &amp; LC09/C02/T1_L2</a:t>
            </a:r>
          </a:p>
        </p:txBody>
      </p:sp>
      <p:sp>
        <p:nvSpPr>
          <p:cNvPr id="33" name="TextBox 32"/>
          <p:cNvSpPr txBox="1"/>
          <p:nvPr/>
        </p:nvSpPr>
        <p:spPr>
          <a:xfrm>
            <a:off x="4572000" y="3950208"/>
            <a:ext cx="2011680" cy="384048"/>
          </a:xfrm>
          <a:prstGeom prst="rect">
            <a:avLst/>
          </a:prstGeom>
          <a:noFill/>
        </p:spPr>
        <p:txBody>
          <a:bodyPr wrap="square">
            <a:spAutoFit/>
          </a:bodyPr>
          <a:lstStyle/>
          <a:p>
            <a:pPr algn="l">
              <a:spcAft>
                <a:spcPts val="0"/>
              </a:spcAft>
            </a:pPr>
            <a:r>
              <a:rPr sz="1050" b="0">
                <a:solidFill>
                  <a:srgbClr val="9AA4B0"/>
                </a:solidFill>
                <a:latin typeface="Segoe UI"/>
              </a:rPr>
              <a:t>USGS</a:t>
            </a:r>
          </a:p>
        </p:txBody>
      </p:sp>
      <p:sp>
        <p:nvSpPr>
          <p:cNvPr id="34" name="TextBox 33"/>
          <p:cNvSpPr txBox="1"/>
          <p:nvPr/>
        </p:nvSpPr>
        <p:spPr>
          <a:xfrm>
            <a:off x="6675120" y="3950208"/>
            <a:ext cx="1005840" cy="384048"/>
          </a:xfrm>
          <a:prstGeom prst="rect">
            <a:avLst/>
          </a:prstGeom>
          <a:noFill/>
        </p:spPr>
        <p:txBody>
          <a:bodyPr wrap="square">
            <a:spAutoFit/>
          </a:bodyPr>
          <a:lstStyle/>
          <a:p>
            <a:pPr algn="l">
              <a:spcAft>
                <a:spcPts val="0"/>
              </a:spcAft>
            </a:pPr>
            <a:r>
              <a:rPr sz="1050" b="0">
                <a:solidFill>
                  <a:srgbClr val="9AA4B0"/>
                </a:solidFill>
                <a:latin typeface="Segoe UI"/>
              </a:rPr>
              <a:t>30 m</a:t>
            </a:r>
          </a:p>
        </p:txBody>
      </p:sp>
      <p:sp>
        <p:nvSpPr>
          <p:cNvPr id="35" name="TextBox 34"/>
          <p:cNvSpPr txBox="1"/>
          <p:nvPr/>
        </p:nvSpPr>
        <p:spPr>
          <a:xfrm>
            <a:off x="7772400" y="3950208"/>
            <a:ext cx="1828800" cy="384048"/>
          </a:xfrm>
          <a:prstGeom prst="rect">
            <a:avLst/>
          </a:prstGeom>
          <a:noFill/>
        </p:spPr>
        <p:txBody>
          <a:bodyPr wrap="square">
            <a:spAutoFit/>
          </a:bodyPr>
          <a:lstStyle/>
          <a:p>
            <a:pPr algn="l">
              <a:spcAft>
                <a:spcPts val="0"/>
              </a:spcAft>
            </a:pPr>
            <a:r>
              <a:rPr sz="1050" b="0">
                <a:solidFill>
                  <a:srgbClr val="9AA4B0"/>
                </a:solidFill>
                <a:latin typeface="Segoe UI"/>
              </a:rPr>
              <a:t>Mar – May 2024</a:t>
            </a:r>
          </a:p>
        </p:txBody>
      </p:sp>
      <p:sp>
        <p:nvSpPr>
          <p:cNvPr id="36" name="TextBox 35"/>
          <p:cNvSpPr txBox="1"/>
          <p:nvPr/>
        </p:nvSpPr>
        <p:spPr>
          <a:xfrm>
            <a:off x="9692640" y="3950208"/>
            <a:ext cx="1920240" cy="384048"/>
          </a:xfrm>
          <a:prstGeom prst="rect">
            <a:avLst/>
          </a:prstGeom>
          <a:noFill/>
        </p:spPr>
        <p:txBody>
          <a:bodyPr wrap="square">
            <a:spAutoFit/>
          </a:bodyPr>
          <a:lstStyle/>
          <a:p>
            <a:pPr algn="l">
              <a:spcAft>
                <a:spcPts val="0"/>
              </a:spcAft>
            </a:pPr>
            <a:r>
              <a:rPr sz="1050" b="0">
                <a:solidFill>
                  <a:srgbClr val="9AA4B0"/>
                </a:solidFill>
                <a:latin typeface="Segoe UI"/>
              </a:rPr>
              <a:t>Land surface temperature</a:t>
            </a:r>
          </a:p>
        </p:txBody>
      </p:sp>
      <p:sp>
        <p:nvSpPr>
          <p:cNvPr id="37" name="TextBox 36"/>
          <p:cNvSpPr txBox="1"/>
          <p:nvPr/>
        </p:nvSpPr>
        <p:spPr>
          <a:xfrm>
            <a:off x="731520" y="4407408"/>
            <a:ext cx="3749039" cy="384048"/>
          </a:xfrm>
          <a:prstGeom prst="rect">
            <a:avLst/>
          </a:prstGeom>
          <a:noFill/>
        </p:spPr>
        <p:txBody>
          <a:bodyPr wrap="square">
            <a:spAutoFit/>
          </a:bodyPr>
          <a:lstStyle/>
          <a:p>
            <a:pPr algn="l">
              <a:spcAft>
                <a:spcPts val="0"/>
              </a:spcAft>
            </a:pPr>
            <a:r>
              <a:rPr sz="1050" b="1">
                <a:solidFill>
                  <a:srgbClr val="E6EDF3"/>
                </a:solidFill>
                <a:latin typeface="Segoe UI"/>
              </a:rPr>
              <a:t>GOOGLE/DYNAMICWORLD/V1</a:t>
            </a:r>
          </a:p>
        </p:txBody>
      </p:sp>
      <p:sp>
        <p:nvSpPr>
          <p:cNvPr id="38" name="TextBox 37"/>
          <p:cNvSpPr txBox="1"/>
          <p:nvPr/>
        </p:nvSpPr>
        <p:spPr>
          <a:xfrm>
            <a:off x="4572000" y="4407408"/>
            <a:ext cx="2011680" cy="384048"/>
          </a:xfrm>
          <a:prstGeom prst="rect">
            <a:avLst/>
          </a:prstGeom>
          <a:noFill/>
        </p:spPr>
        <p:txBody>
          <a:bodyPr wrap="square">
            <a:spAutoFit/>
          </a:bodyPr>
          <a:lstStyle/>
          <a:p>
            <a:pPr algn="l">
              <a:spcAft>
                <a:spcPts val="0"/>
              </a:spcAft>
            </a:pPr>
            <a:r>
              <a:rPr sz="1050" b="0">
                <a:solidFill>
                  <a:srgbClr val="9AA4B0"/>
                </a:solidFill>
                <a:latin typeface="Segoe UI"/>
              </a:rPr>
              <a:t>Google</a:t>
            </a:r>
          </a:p>
        </p:txBody>
      </p:sp>
      <p:sp>
        <p:nvSpPr>
          <p:cNvPr id="39" name="TextBox 38"/>
          <p:cNvSpPr txBox="1"/>
          <p:nvPr/>
        </p:nvSpPr>
        <p:spPr>
          <a:xfrm>
            <a:off x="6675120" y="4407408"/>
            <a:ext cx="1005840" cy="384048"/>
          </a:xfrm>
          <a:prstGeom prst="rect">
            <a:avLst/>
          </a:prstGeom>
          <a:noFill/>
        </p:spPr>
        <p:txBody>
          <a:bodyPr wrap="square">
            <a:spAutoFit/>
          </a:bodyPr>
          <a:lstStyle/>
          <a:p>
            <a:pPr algn="l">
              <a:spcAft>
                <a:spcPts val="0"/>
              </a:spcAft>
            </a:pPr>
            <a:r>
              <a:rPr sz="1050" b="0">
                <a:solidFill>
                  <a:srgbClr val="9AA4B0"/>
                </a:solidFill>
                <a:latin typeface="Segoe UI"/>
              </a:rPr>
              <a:t>10 m</a:t>
            </a:r>
          </a:p>
        </p:txBody>
      </p:sp>
      <p:sp>
        <p:nvSpPr>
          <p:cNvPr id="40" name="TextBox 39"/>
          <p:cNvSpPr txBox="1"/>
          <p:nvPr/>
        </p:nvSpPr>
        <p:spPr>
          <a:xfrm>
            <a:off x="7772400" y="4407408"/>
            <a:ext cx="1828800" cy="384048"/>
          </a:xfrm>
          <a:prstGeom prst="rect">
            <a:avLst/>
          </a:prstGeom>
          <a:noFill/>
        </p:spPr>
        <p:txBody>
          <a:bodyPr wrap="square">
            <a:spAutoFit/>
          </a:bodyPr>
          <a:lstStyle/>
          <a:p>
            <a:pPr algn="l">
              <a:spcAft>
                <a:spcPts val="0"/>
              </a:spcAft>
            </a:pPr>
            <a:r>
              <a:rPr sz="1050" b="0">
                <a:solidFill>
                  <a:srgbClr val="9AA4B0"/>
                </a:solidFill>
                <a:latin typeface="Segoe UI"/>
              </a:rPr>
              <a:t>Oct 2024 – Mar 2025</a:t>
            </a:r>
          </a:p>
        </p:txBody>
      </p:sp>
      <p:sp>
        <p:nvSpPr>
          <p:cNvPr id="41" name="TextBox 40"/>
          <p:cNvSpPr txBox="1"/>
          <p:nvPr/>
        </p:nvSpPr>
        <p:spPr>
          <a:xfrm>
            <a:off x="9692640" y="4407408"/>
            <a:ext cx="1920240" cy="384048"/>
          </a:xfrm>
          <a:prstGeom prst="rect">
            <a:avLst/>
          </a:prstGeom>
          <a:noFill/>
        </p:spPr>
        <p:txBody>
          <a:bodyPr wrap="square">
            <a:spAutoFit/>
          </a:bodyPr>
          <a:lstStyle/>
          <a:p>
            <a:pPr algn="l">
              <a:spcAft>
                <a:spcPts val="0"/>
              </a:spcAft>
            </a:pPr>
            <a:r>
              <a:rPr sz="1050" b="0">
                <a:solidFill>
                  <a:srgbClr val="9AA4B0"/>
                </a:solidFill>
                <a:latin typeface="Segoe UI"/>
              </a:rPr>
              <a:t>Land cover</a:t>
            </a:r>
          </a:p>
        </p:txBody>
      </p:sp>
      <p:sp>
        <p:nvSpPr>
          <p:cNvPr id="42" name="TextBox 41"/>
          <p:cNvSpPr txBox="1"/>
          <p:nvPr/>
        </p:nvSpPr>
        <p:spPr>
          <a:xfrm>
            <a:off x="731520" y="4864608"/>
            <a:ext cx="3749039" cy="384048"/>
          </a:xfrm>
          <a:prstGeom prst="rect">
            <a:avLst/>
          </a:prstGeom>
          <a:noFill/>
        </p:spPr>
        <p:txBody>
          <a:bodyPr wrap="square">
            <a:spAutoFit/>
          </a:bodyPr>
          <a:lstStyle/>
          <a:p>
            <a:pPr algn="l">
              <a:spcAft>
                <a:spcPts val="0"/>
              </a:spcAft>
            </a:pPr>
            <a:r>
              <a:rPr sz="1050" b="1">
                <a:solidFill>
                  <a:srgbClr val="E6EDF3"/>
                </a:solidFill>
                <a:latin typeface="Segoe UI"/>
              </a:rPr>
              <a:t>GOOGLE/Research/open-buildings-temporal/v1</a:t>
            </a:r>
          </a:p>
        </p:txBody>
      </p:sp>
      <p:sp>
        <p:nvSpPr>
          <p:cNvPr id="43" name="TextBox 42"/>
          <p:cNvSpPr txBox="1"/>
          <p:nvPr/>
        </p:nvSpPr>
        <p:spPr>
          <a:xfrm>
            <a:off x="4572000" y="4864608"/>
            <a:ext cx="2011680" cy="384048"/>
          </a:xfrm>
          <a:prstGeom prst="rect">
            <a:avLst/>
          </a:prstGeom>
          <a:noFill/>
        </p:spPr>
        <p:txBody>
          <a:bodyPr wrap="square">
            <a:spAutoFit/>
          </a:bodyPr>
          <a:lstStyle/>
          <a:p>
            <a:pPr algn="l">
              <a:spcAft>
                <a:spcPts val="0"/>
              </a:spcAft>
            </a:pPr>
            <a:r>
              <a:rPr sz="1050" b="0">
                <a:solidFill>
                  <a:srgbClr val="9AA4B0"/>
                </a:solidFill>
                <a:latin typeface="Segoe UI"/>
              </a:rPr>
              <a:t>Google</a:t>
            </a:r>
          </a:p>
        </p:txBody>
      </p:sp>
      <p:sp>
        <p:nvSpPr>
          <p:cNvPr id="44" name="TextBox 43"/>
          <p:cNvSpPr txBox="1"/>
          <p:nvPr/>
        </p:nvSpPr>
        <p:spPr>
          <a:xfrm>
            <a:off x="6675120" y="4864608"/>
            <a:ext cx="1005840" cy="384048"/>
          </a:xfrm>
          <a:prstGeom prst="rect">
            <a:avLst/>
          </a:prstGeom>
          <a:noFill/>
        </p:spPr>
        <p:txBody>
          <a:bodyPr wrap="square">
            <a:spAutoFit/>
          </a:bodyPr>
          <a:lstStyle/>
          <a:p>
            <a:pPr algn="l">
              <a:spcAft>
                <a:spcPts val="0"/>
              </a:spcAft>
            </a:pPr>
            <a:r>
              <a:rPr sz="1050" b="0">
                <a:solidFill>
                  <a:srgbClr val="9AA4B0"/>
                </a:solidFill>
                <a:latin typeface="Segoe UI"/>
              </a:rPr>
              <a:t>4 m</a:t>
            </a:r>
          </a:p>
        </p:txBody>
      </p:sp>
      <p:sp>
        <p:nvSpPr>
          <p:cNvPr id="45" name="TextBox 44"/>
          <p:cNvSpPr txBox="1"/>
          <p:nvPr/>
        </p:nvSpPr>
        <p:spPr>
          <a:xfrm>
            <a:off x="7772400" y="4864608"/>
            <a:ext cx="1828800" cy="384048"/>
          </a:xfrm>
          <a:prstGeom prst="rect">
            <a:avLst/>
          </a:prstGeom>
          <a:noFill/>
        </p:spPr>
        <p:txBody>
          <a:bodyPr wrap="square">
            <a:spAutoFit/>
          </a:bodyPr>
          <a:lstStyle/>
          <a:p>
            <a:pPr algn="l">
              <a:spcAft>
                <a:spcPts val="0"/>
              </a:spcAft>
            </a:pPr>
            <a:r>
              <a:rPr sz="1050" b="0">
                <a:solidFill>
                  <a:srgbClr val="9AA4B0"/>
                </a:solidFill>
                <a:latin typeface="Segoe UI"/>
              </a:rPr>
              <a:t>2023</a:t>
            </a:r>
          </a:p>
        </p:txBody>
      </p:sp>
      <p:sp>
        <p:nvSpPr>
          <p:cNvPr id="46" name="TextBox 45"/>
          <p:cNvSpPr txBox="1"/>
          <p:nvPr/>
        </p:nvSpPr>
        <p:spPr>
          <a:xfrm>
            <a:off x="9692640" y="4864608"/>
            <a:ext cx="1920240" cy="384048"/>
          </a:xfrm>
          <a:prstGeom prst="rect">
            <a:avLst/>
          </a:prstGeom>
          <a:noFill/>
        </p:spPr>
        <p:txBody>
          <a:bodyPr wrap="square">
            <a:spAutoFit/>
          </a:bodyPr>
          <a:lstStyle/>
          <a:p>
            <a:pPr algn="l">
              <a:spcAft>
                <a:spcPts val="0"/>
              </a:spcAft>
            </a:pPr>
            <a:r>
              <a:rPr sz="1050" b="0">
                <a:solidFill>
                  <a:srgbClr val="9AA4B0"/>
                </a:solidFill>
                <a:latin typeface="Segoe UI"/>
              </a:rPr>
              <a:t>Building height</a:t>
            </a:r>
          </a:p>
        </p:txBody>
      </p:sp>
      <p:sp>
        <p:nvSpPr>
          <p:cNvPr id="47" name="TextBox 46"/>
          <p:cNvSpPr txBox="1"/>
          <p:nvPr/>
        </p:nvSpPr>
        <p:spPr>
          <a:xfrm>
            <a:off x="731520" y="5321808"/>
            <a:ext cx="3749039" cy="384048"/>
          </a:xfrm>
          <a:prstGeom prst="rect">
            <a:avLst/>
          </a:prstGeom>
          <a:noFill/>
        </p:spPr>
        <p:txBody>
          <a:bodyPr wrap="square">
            <a:spAutoFit/>
          </a:bodyPr>
          <a:lstStyle/>
          <a:p>
            <a:pPr algn="l">
              <a:spcAft>
                <a:spcPts val="0"/>
              </a:spcAft>
            </a:pPr>
            <a:r>
              <a:rPr sz="1050" b="1">
                <a:solidFill>
                  <a:srgbClr val="E6EDF3"/>
                </a:solidFill>
                <a:latin typeface="Segoe UI"/>
              </a:rPr>
              <a:t>OpenStreetMap · Overpass API</a:t>
            </a:r>
          </a:p>
        </p:txBody>
      </p:sp>
      <p:sp>
        <p:nvSpPr>
          <p:cNvPr id="48" name="TextBox 47"/>
          <p:cNvSpPr txBox="1"/>
          <p:nvPr/>
        </p:nvSpPr>
        <p:spPr>
          <a:xfrm>
            <a:off x="4572000" y="5321808"/>
            <a:ext cx="2011680" cy="384048"/>
          </a:xfrm>
          <a:prstGeom prst="rect">
            <a:avLst/>
          </a:prstGeom>
          <a:noFill/>
        </p:spPr>
        <p:txBody>
          <a:bodyPr wrap="square">
            <a:spAutoFit/>
          </a:bodyPr>
          <a:lstStyle/>
          <a:p>
            <a:pPr algn="l">
              <a:spcAft>
                <a:spcPts val="0"/>
              </a:spcAft>
            </a:pPr>
            <a:r>
              <a:rPr sz="1050" b="0">
                <a:solidFill>
                  <a:srgbClr val="9AA4B0"/>
                </a:solidFill>
                <a:latin typeface="Segoe UI"/>
              </a:rPr>
              <a:t>OSM contributors</a:t>
            </a:r>
          </a:p>
        </p:txBody>
      </p:sp>
      <p:sp>
        <p:nvSpPr>
          <p:cNvPr id="49" name="TextBox 48"/>
          <p:cNvSpPr txBox="1"/>
          <p:nvPr/>
        </p:nvSpPr>
        <p:spPr>
          <a:xfrm>
            <a:off x="6675120" y="5321808"/>
            <a:ext cx="1005840" cy="384048"/>
          </a:xfrm>
          <a:prstGeom prst="rect">
            <a:avLst/>
          </a:prstGeom>
          <a:noFill/>
        </p:spPr>
        <p:txBody>
          <a:bodyPr wrap="square">
            <a:spAutoFit/>
          </a:bodyPr>
          <a:lstStyle/>
          <a:p>
            <a:pPr algn="l">
              <a:spcAft>
                <a:spcPts val="0"/>
              </a:spcAft>
            </a:pPr>
            <a:r>
              <a:rPr sz="1050" b="0">
                <a:solidFill>
                  <a:srgbClr val="9AA4B0"/>
                </a:solidFill>
                <a:latin typeface="Segoe UI"/>
              </a:rPr>
              <a:t>vector</a:t>
            </a:r>
          </a:p>
        </p:txBody>
      </p:sp>
      <p:sp>
        <p:nvSpPr>
          <p:cNvPr id="50" name="TextBox 49"/>
          <p:cNvSpPr txBox="1"/>
          <p:nvPr/>
        </p:nvSpPr>
        <p:spPr>
          <a:xfrm>
            <a:off x="7772400" y="5321808"/>
            <a:ext cx="1828800" cy="384048"/>
          </a:xfrm>
          <a:prstGeom prst="rect">
            <a:avLst/>
          </a:prstGeom>
          <a:noFill/>
        </p:spPr>
        <p:txBody>
          <a:bodyPr wrap="square">
            <a:spAutoFit/>
          </a:bodyPr>
          <a:lstStyle/>
          <a:p>
            <a:pPr algn="l">
              <a:spcAft>
                <a:spcPts val="0"/>
              </a:spcAft>
            </a:pPr>
            <a:r>
              <a:rPr sz="1050" b="0">
                <a:solidFill>
                  <a:srgbClr val="9AA4B0"/>
                </a:solidFill>
                <a:latin typeface="Segoe UI"/>
              </a:rPr>
              <a:t>Current</a:t>
            </a:r>
          </a:p>
        </p:txBody>
      </p:sp>
      <p:sp>
        <p:nvSpPr>
          <p:cNvPr id="51" name="TextBox 50"/>
          <p:cNvSpPr txBox="1"/>
          <p:nvPr/>
        </p:nvSpPr>
        <p:spPr>
          <a:xfrm>
            <a:off x="9692640" y="5321808"/>
            <a:ext cx="1920240" cy="384048"/>
          </a:xfrm>
          <a:prstGeom prst="rect">
            <a:avLst/>
          </a:prstGeom>
          <a:noFill/>
        </p:spPr>
        <p:txBody>
          <a:bodyPr wrap="square">
            <a:spAutoFit/>
          </a:bodyPr>
          <a:lstStyle/>
          <a:p>
            <a:pPr algn="l">
              <a:spcAft>
                <a:spcPts val="0"/>
              </a:spcAft>
            </a:pPr>
            <a:r>
              <a:rPr sz="1050" b="0">
                <a:solidFill>
                  <a:srgbClr val="9AA4B0"/>
                </a:solidFill>
                <a:latin typeface="Segoe UI"/>
              </a:rPr>
              <a:t>Shops, offices, roads</a:t>
            </a:r>
          </a:p>
        </p:txBody>
      </p:sp>
      <p:sp>
        <p:nvSpPr>
          <p:cNvPr id="52" name="TextBox 51"/>
          <p:cNvSpPr txBox="1"/>
          <p:nvPr/>
        </p:nvSpPr>
        <p:spPr>
          <a:xfrm>
            <a:off x="640080" y="5897880"/>
            <a:ext cx="10881360" cy="640080"/>
          </a:xfrm>
          <a:prstGeom prst="rect">
            <a:avLst/>
          </a:prstGeom>
          <a:noFill/>
        </p:spPr>
        <p:txBody>
          <a:bodyPr wrap="square">
            <a:spAutoFit/>
          </a:bodyPr>
          <a:lstStyle/>
          <a:p>
            <a:pPr algn="l">
              <a:spcAft>
                <a:spcPts val="0"/>
              </a:spcAft>
            </a:pPr>
            <a:r>
              <a:rPr sz="1250" b="0">
                <a:solidFill>
                  <a:srgbClr val="EDA100"/>
                </a:solidFill>
                <a:latin typeface="Segoe UI"/>
              </a:rPr>
              <a:t>Acquisition dates are read back from the image collections themselves — the Sentinel-2 layers are a median of 116 scenes across 29 separate days — not assumed from a filename.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1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822960"/>
          </a:xfrm>
          <a:prstGeom prst="rect">
            <a:avLst/>
          </a:prstGeom>
          <a:noFill/>
        </p:spPr>
        <p:txBody>
          <a:bodyPr wrap="square">
            <a:spAutoFit/>
          </a:bodyPr>
          <a:lstStyle/>
          <a:p>
            <a:pPr algn="l">
              <a:spcAft>
                <a:spcPts val="200"/>
              </a:spcAft>
            </a:pPr>
            <a:r>
              <a:rPr sz="3000" b="1">
                <a:solidFill>
                  <a:srgbClr val="E6EDF3"/>
                </a:solidFill>
                <a:latin typeface="Segoe UI"/>
              </a:rPr>
              <a:t>The Complete Pipeline</a:t>
            </a:r>
          </a:p>
          <a:p>
            <a:pPr>
              <a:spcAft>
                <a:spcPts val="0"/>
              </a:spcAft>
            </a:pPr>
            <a:r>
              <a:rPr sz="1350" b="0">
                <a:solidFill>
                  <a:srgbClr val="4F9CF9"/>
                </a:solidFill>
                <a:latin typeface="Segoe UI"/>
              </a:rPr>
              <a:t>Real output at every stage — nothing here is a sample image</a:t>
            </a:r>
          </a:p>
        </p:txBody>
      </p:sp>
      <p:sp>
        <p:nvSpPr>
          <p:cNvPr id="4" name="Rectangle 3"/>
          <p:cNvSpPr/>
          <p:nvPr/>
        </p:nvSpPr>
        <p:spPr>
          <a:xfrm>
            <a:off x="640080" y="1298448"/>
            <a:ext cx="1371600" cy="38100"/>
          </a:xfrm>
          <a:prstGeom prst="rect">
            <a:avLst/>
          </a:prstGeom>
          <a:solidFill>
            <a:srgbClr val="4F9C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45920"/>
            <a:ext cx="2606040" cy="3200400"/>
          </a:xfrm>
          <a:prstGeom prst="rect">
            <a:avLst/>
          </a:prstGeom>
          <a:solidFill>
            <a:srgbClr val="161A20"/>
          </a:solidFill>
          <a:ln w="9525">
            <a:solidFill>
              <a:srgbClr val="262C3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ruecolour.png"/>
          <p:cNvPicPr>
            <a:picLocks noChangeAspect="1"/>
          </p:cNvPicPr>
          <p:nvPr/>
        </p:nvPicPr>
        <p:blipFill>
          <a:blip r:embed="rId2"/>
          <a:stretch>
            <a:fillRect/>
          </a:stretch>
        </p:blipFill>
        <p:spPr>
          <a:xfrm>
            <a:off x="777240" y="1783080"/>
            <a:ext cx="2331720" cy="2005476"/>
          </a:xfrm>
          <a:prstGeom prst="rect">
            <a:avLst/>
          </a:prstGeom>
        </p:spPr>
      </p:pic>
      <p:sp>
        <p:nvSpPr>
          <p:cNvPr id="7" name="TextBox 6"/>
          <p:cNvSpPr txBox="1"/>
          <p:nvPr/>
        </p:nvSpPr>
        <p:spPr>
          <a:xfrm>
            <a:off x="777240" y="4206240"/>
            <a:ext cx="2331720" cy="640080"/>
          </a:xfrm>
          <a:prstGeom prst="rect">
            <a:avLst/>
          </a:prstGeom>
          <a:noFill/>
        </p:spPr>
        <p:txBody>
          <a:bodyPr wrap="square">
            <a:spAutoFit/>
          </a:bodyPr>
          <a:lstStyle/>
          <a:p>
            <a:pPr algn="l">
              <a:spcAft>
                <a:spcPts val="300"/>
              </a:spcAft>
            </a:pPr>
            <a:r>
              <a:rPr sz="1300" b="1">
                <a:solidFill>
                  <a:srgbClr val="4F9CF9"/>
                </a:solidFill>
                <a:latin typeface="Segoe UI"/>
              </a:rPr>
              <a:t>1 · Satellite image</a:t>
            </a:r>
          </a:p>
          <a:p>
            <a:pPr>
              <a:spcAft>
                <a:spcPts val="0"/>
              </a:spcAft>
            </a:pPr>
            <a:r>
              <a:rPr sz="1100" b="0">
                <a:solidFill>
                  <a:srgbClr val="9AA4B0"/>
                </a:solidFill>
                <a:latin typeface="Segoe UI"/>
              </a:rPr>
              <a:t>Sentinel-2 true colour</a:t>
            </a:r>
          </a:p>
        </p:txBody>
      </p:sp>
      <p:sp>
        <p:nvSpPr>
          <p:cNvPr id="8" name="Rectangle 7"/>
          <p:cNvSpPr/>
          <p:nvPr/>
        </p:nvSpPr>
        <p:spPr>
          <a:xfrm>
            <a:off x="3383280" y="1645920"/>
            <a:ext cx="2606040" cy="3200400"/>
          </a:xfrm>
          <a:prstGeom prst="rect">
            <a:avLst/>
          </a:prstGeom>
          <a:solidFill>
            <a:srgbClr val="161A20"/>
          </a:solidFill>
          <a:ln w="9525">
            <a:solidFill>
              <a:srgbClr val="262C3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uiltup.png"/>
          <p:cNvPicPr>
            <a:picLocks noChangeAspect="1"/>
          </p:cNvPicPr>
          <p:nvPr/>
        </p:nvPicPr>
        <p:blipFill>
          <a:blip r:embed="rId3"/>
          <a:stretch>
            <a:fillRect/>
          </a:stretch>
        </p:blipFill>
        <p:spPr>
          <a:xfrm>
            <a:off x="3520440" y="1783080"/>
            <a:ext cx="2331720" cy="2006364"/>
          </a:xfrm>
          <a:prstGeom prst="rect">
            <a:avLst/>
          </a:prstGeom>
        </p:spPr>
      </p:pic>
      <p:sp>
        <p:nvSpPr>
          <p:cNvPr id="10" name="TextBox 9"/>
          <p:cNvSpPr txBox="1"/>
          <p:nvPr/>
        </p:nvSpPr>
        <p:spPr>
          <a:xfrm>
            <a:off x="3520440" y="4206240"/>
            <a:ext cx="2331720" cy="640080"/>
          </a:xfrm>
          <a:prstGeom prst="rect">
            <a:avLst/>
          </a:prstGeom>
          <a:noFill/>
        </p:spPr>
        <p:txBody>
          <a:bodyPr wrap="square">
            <a:spAutoFit/>
          </a:bodyPr>
          <a:lstStyle/>
          <a:p>
            <a:pPr algn="l">
              <a:spcAft>
                <a:spcPts val="300"/>
              </a:spcAft>
            </a:pPr>
            <a:r>
              <a:rPr sz="1300" b="1">
                <a:solidFill>
                  <a:srgbClr val="4F9CF9"/>
                </a:solidFill>
                <a:latin typeface="Segoe UI"/>
              </a:rPr>
              <a:t>2 · Built-up surface</a:t>
            </a:r>
          </a:p>
          <a:p>
            <a:pPr>
              <a:spcAft>
                <a:spcPts val="0"/>
              </a:spcAft>
            </a:pPr>
            <a:r>
              <a:rPr sz="1100" b="0">
                <a:solidFill>
                  <a:srgbClr val="9AA4B0"/>
                </a:solidFill>
                <a:latin typeface="Segoe UI"/>
              </a:rPr>
              <a:t>GHS-BUILT-S, 2020</a:t>
            </a:r>
          </a:p>
        </p:txBody>
      </p:sp>
      <p:sp>
        <p:nvSpPr>
          <p:cNvPr id="11" name="Rectangle 10"/>
          <p:cNvSpPr/>
          <p:nvPr/>
        </p:nvSpPr>
        <p:spPr>
          <a:xfrm>
            <a:off x="6126480" y="1645920"/>
            <a:ext cx="2606040" cy="3200400"/>
          </a:xfrm>
          <a:prstGeom prst="rect">
            <a:avLst/>
          </a:prstGeom>
          <a:solidFill>
            <a:srgbClr val="161A20"/>
          </a:solidFill>
          <a:ln w="9525">
            <a:solidFill>
              <a:srgbClr val="262C3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nightlights.png"/>
          <p:cNvPicPr>
            <a:picLocks noChangeAspect="1"/>
          </p:cNvPicPr>
          <p:nvPr/>
        </p:nvPicPr>
        <p:blipFill>
          <a:blip r:embed="rId4"/>
          <a:stretch>
            <a:fillRect/>
          </a:stretch>
        </p:blipFill>
        <p:spPr>
          <a:xfrm>
            <a:off x="6263640" y="1783080"/>
            <a:ext cx="2331720" cy="2006793"/>
          </a:xfrm>
          <a:prstGeom prst="rect">
            <a:avLst/>
          </a:prstGeom>
        </p:spPr>
      </p:pic>
      <p:sp>
        <p:nvSpPr>
          <p:cNvPr id="13" name="TextBox 12"/>
          <p:cNvSpPr txBox="1"/>
          <p:nvPr/>
        </p:nvSpPr>
        <p:spPr>
          <a:xfrm>
            <a:off x="6263640" y="4206240"/>
            <a:ext cx="2331720" cy="640080"/>
          </a:xfrm>
          <a:prstGeom prst="rect">
            <a:avLst/>
          </a:prstGeom>
          <a:noFill/>
        </p:spPr>
        <p:txBody>
          <a:bodyPr wrap="square">
            <a:spAutoFit/>
          </a:bodyPr>
          <a:lstStyle/>
          <a:p>
            <a:pPr algn="l">
              <a:spcAft>
                <a:spcPts val="300"/>
              </a:spcAft>
            </a:pPr>
            <a:r>
              <a:rPr sz="1300" b="1">
                <a:solidFill>
                  <a:srgbClr val="4F9CF9"/>
                </a:solidFill>
                <a:latin typeface="Segoe UI"/>
              </a:rPr>
              <a:t>3 · Activity</a:t>
            </a:r>
          </a:p>
          <a:p>
            <a:pPr>
              <a:spcAft>
                <a:spcPts val="0"/>
              </a:spcAft>
            </a:pPr>
            <a:r>
              <a:rPr sz="1100" b="0">
                <a:solidFill>
                  <a:srgbClr val="9AA4B0"/>
                </a:solidFill>
                <a:latin typeface="Segoe UI"/>
              </a:rPr>
              <a:t>VIIRS nighttime lights</a:t>
            </a:r>
          </a:p>
        </p:txBody>
      </p:sp>
      <p:sp>
        <p:nvSpPr>
          <p:cNvPr id="14" name="Rectangle 13"/>
          <p:cNvSpPr/>
          <p:nvPr/>
        </p:nvSpPr>
        <p:spPr>
          <a:xfrm>
            <a:off x="8869680" y="1645920"/>
            <a:ext cx="2606040" cy="3200400"/>
          </a:xfrm>
          <a:prstGeom prst="rect">
            <a:avLst/>
          </a:prstGeom>
          <a:solidFill>
            <a:srgbClr val="161A20"/>
          </a:solidFill>
          <a:ln w="9525">
            <a:solidFill>
              <a:srgbClr val="262C3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lst.png"/>
          <p:cNvPicPr>
            <a:picLocks noChangeAspect="1"/>
          </p:cNvPicPr>
          <p:nvPr/>
        </p:nvPicPr>
        <p:blipFill>
          <a:blip r:embed="rId5"/>
          <a:stretch>
            <a:fillRect/>
          </a:stretch>
        </p:blipFill>
        <p:spPr>
          <a:xfrm>
            <a:off x="9006840" y="1783080"/>
            <a:ext cx="2331720" cy="2006793"/>
          </a:xfrm>
          <a:prstGeom prst="rect">
            <a:avLst/>
          </a:prstGeom>
        </p:spPr>
      </p:pic>
      <p:sp>
        <p:nvSpPr>
          <p:cNvPr id="16" name="TextBox 15"/>
          <p:cNvSpPr txBox="1"/>
          <p:nvPr/>
        </p:nvSpPr>
        <p:spPr>
          <a:xfrm>
            <a:off x="9006840" y="4206240"/>
            <a:ext cx="2331720" cy="640080"/>
          </a:xfrm>
          <a:prstGeom prst="rect">
            <a:avLst/>
          </a:prstGeom>
          <a:noFill/>
        </p:spPr>
        <p:txBody>
          <a:bodyPr wrap="square">
            <a:spAutoFit/>
          </a:bodyPr>
          <a:lstStyle/>
          <a:p>
            <a:pPr algn="l">
              <a:spcAft>
                <a:spcPts val="300"/>
              </a:spcAft>
            </a:pPr>
            <a:r>
              <a:rPr sz="1300" b="1">
                <a:solidFill>
                  <a:srgbClr val="4F9CF9"/>
                </a:solidFill>
                <a:latin typeface="Segoe UI"/>
              </a:rPr>
              <a:t>4 · Heat island</a:t>
            </a:r>
          </a:p>
          <a:p>
            <a:pPr>
              <a:spcAft>
                <a:spcPts val="0"/>
              </a:spcAft>
            </a:pPr>
            <a:r>
              <a:rPr sz="1100" b="0">
                <a:solidFill>
                  <a:srgbClr val="9AA4B0"/>
                </a:solidFill>
                <a:latin typeface="Segoe UI"/>
              </a:rPr>
              <a:t>Landsat surface temperature</a:t>
            </a:r>
          </a:p>
        </p:txBody>
      </p:sp>
      <p:sp>
        <p:nvSpPr>
          <p:cNvPr id="17" name="Rectangle 16"/>
          <p:cNvSpPr/>
          <p:nvPr/>
        </p:nvSpPr>
        <p:spPr>
          <a:xfrm>
            <a:off x="640080" y="5029200"/>
            <a:ext cx="10881360" cy="1371600"/>
          </a:xfrm>
          <a:prstGeom prst="rect">
            <a:avLst/>
          </a:prstGeom>
          <a:solidFill>
            <a:srgbClr val="161A20"/>
          </a:solidFill>
          <a:ln w="9525">
            <a:solidFill>
              <a:srgbClr val="262C3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5193792"/>
            <a:ext cx="10332720" cy="1097280"/>
          </a:xfrm>
          <a:prstGeom prst="rect">
            <a:avLst/>
          </a:prstGeom>
          <a:noFill/>
        </p:spPr>
        <p:txBody>
          <a:bodyPr wrap="square">
            <a:spAutoFit/>
          </a:bodyPr>
          <a:lstStyle/>
          <a:p>
            <a:pPr algn="l">
              <a:spcAft>
                <a:spcPts val="800"/>
              </a:spcAft>
            </a:pPr>
            <a:r>
              <a:rPr sz="1400" b="1">
                <a:solidFill>
                  <a:srgbClr val="E6EDF3"/>
                </a:solidFill>
                <a:latin typeface="Segoe UI"/>
              </a:rPr>
              <a:t>→  combined into one activity index  →  compared against the level normal for that much development in this city  →  six-class growth typology</a:t>
            </a:r>
          </a:p>
          <a:p>
            <a:pPr>
              <a:spcAft>
                <a:spcPts val="0"/>
              </a:spcAft>
            </a:pPr>
            <a:r>
              <a:rPr sz="1300" b="0">
                <a:solidFill>
                  <a:srgbClr val="9AA4B0"/>
                </a:solidFill>
                <a:latin typeface="Segoe UI"/>
              </a:rPr>
              <a:t>Result:  0.35 km² of genuinely stalled development across 15 zones, all peripheral — consistent with the finding that 48.8% of new development is detached from the existing city.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1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822960"/>
          </a:xfrm>
          <a:prstGeom prst="rect">
            <a:avLst/>
          </a:prstGeom>
          <a:noFill/>
        </p:spPr>
        <p:txBody>
          <a:bodyPr wrap="square">
            <a:spAutoFit/>
          </a:bodyPr>
          <a:lstStyle/>
          <a:p>
            <a:pPr algn="l">
              <a:spcAft>
                <a:spcPts val="200"/>
              </a:spcAft>
            </a:pPr>
            <a:r>
              <a:rPr sz="3000" b="1">
                <a:solidFill>
                  <a:srgbClr val="E6EDF3"/>
                </a:solidFill>
                <a:latin typeface="Segoe UI"/>
              </a:rPr>
              <a:t>Conclusion</a:t>
            </a:r>
          </a:p>
          <a:p>
            <a:pPr>
              <a:spcAft>
                <a:spcPts val="0"/>
              </a:spcAft>
            </a:pPr>
            <a:r>
              <a:rPr sz="1350" b="0">
                <a:solidFill>
                  <a:srgbClr val="4F9CF9"/>
                </a:solidFill>
                <a:latin typeface="Segoe UI"/>
              </a:rPr>
              <a:t>What the system delivers, and what it does not claim</a:t>
            </a:r>
          </a:p>
        </p:txBody>
      </p:sp>
      <p:sp>
        <p:nvSpPr>
          <p:cNvPr id="4" name="Rectangle 3"/>
          <p:cNvSpPr/>
          <p:nvPr/>
        </p:nvSpPr>
        <p:spPr>
          <a:xfrm>
            <a:off x="640080" y="1298448"/>
            <a:ext cx="1371600" cy="38100"/>
          </a:xfrm>
          <a:prstGeom prst="rect">
            <a:avLst/>
          </a:prstGeom>
          <a:solidFill>
            <a:srgbClr val="4F9C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00200"/>
            <a:ext cx="5394960" cy="2377440"/>
          </a:xfrm>
          <a:prstGeom prst="rect">
            <a:avLst/>
          </a:prstGeom>
          <a:solidFill>
            <a:srgbClr val="161A20"/>
          </a:solidFill>
          <a:ln w="9525">
            <a:solidFill>
              <a:srgbClr val="262C3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83080"/>
            <a:ext cx="4846320" cy="2011680"/>
          </a:xfrm>
          <a:prstGeom prst="rect">
            <a:avLst/>
          </a:prstGeom>
          <a:noFill/>
        </p:spPr>
        <p:txBody>
          <a:bodyPr wrap="square">
            <a:spAutoFit/>
          </a:bodyPr>
          <a:lstStyle/>
          <a:p>
            <a:pPr algn="l">
              <a:spcAft>
                <a:spcPts val="800"/>
              </a:spcAft>
            </a:pPr>
            <a:r>
              <a:rPr sz="1600" b="1">
                <a:solidFill>
                  <a:srgbClr val="4F9CF9"/>
                </a:solidFill>
                <a:latin typeface="Segoe UI"/>
              </a:rPr>
              <a:t>Key findings for Varanasi</a:t>
            </a:r>
            <a:r>
              <a:rPr sz="1300" b="1">
                <a:solidFill>
                  <a:srgbClr val="E6EDF3"/>
                </a:solidFill>
                <a:latin typeface="Segoe UI"/>
              </a:rPr>
              <a:t>Built-up +23.8%  </a:t>
            </a:r>
            <a:r>
              <a:rPr sz="1300">
                <a:solidFill>
                  <a:srgbClr val="9AA4B0"/>
                </a:solidFill>
                <a:latin typeface="Segoe UI"/>
              </a:rPr>
              <a:t>against population +10.3%, 2010–2020</a:t>
            </a:r>
          </a:p>
          <a:p>
            <a:pPr>
              <a:spcAft>
                <a:spcPts val="800"/>
              </a:spcAft>
            </a:pPr>
            <a:r>
              <a:rPr sz="1300" b="1">
                <a:solidFill>
                  <a:srgbClr val="E6EDF3"/>
                </a:solidFill>
                <a:latin typeface="Segoe UI"/>
              </a:rPr>
              <a:t>2.3× more land  </a:t>
            </a:r>
            <a:r>
              <a:rPr sz="1300">
                <a:solidFill>
                  <a:srgbClr val="9AA4B0"/>
                </a:solidFill>
                <a:latin typeface="Segoe UI"/>
              </a:rPr>
              <a:t>consumed per resident</a:t>
            </a:r>
          </a:p>
          <a:p>
            <a:pPr>
              <a:spcAft>
                <a:spcPts val="800"/>
              </a:spcAft>
            </a:pPr>
            <a:r>
              <a:rPr sz="1300" b="1">
                <a:solidFill>
                  <a:srgbClr val="E6EDF3"/>
                </a:solidFill>
                <a:latin typeface="Segoe UI"/>
              </a:rPr>
              <a:t>48.8% leapfrog  </a:t>
            </a:r>
            <a:r>
              <a:rPr sz="1300">
                <a:solidFill>
                  <a:srgbClr val="9AA4B0"/>
                </a:solidFill>
                <a:latin typeface="Segoe UI"/>
              </a:rPr>
              <a:t>new development detached from the city</a:t>
            </a:r>
          </a:p>
          <a:p>
            <a:pPr>
              <a:spcAft>
                <a:spcPts val="800"/>
              </a:spcAft>
            </a:pPr>
            <a:r>
              <a:rPr sz="1300" b="1">
                <a:solidFill>
                  <a:srgbClr val="E6EDF3"/>
                </a:solidFill>
                <a:latin typeface="Segoe UI"/>
              </a:rPr>
              <a:t>0.35 km² stalled  </a:t>
            </a:r>
            <a:r>
              <a:rPr sz="1300">
                <a:solidFill>
                  <a:srgbClr val="9AA4B0"/>
                </a:solidFill>
                <a:latin typeface="Segoe UI"/>
              </a:rPr>
              <a:t>across 15 zones, all peripheral</a:t>
            </a:r>
          </a:p>
          <a:p>
            <a:pPr>
              <a:spcAft>
                <a:spcPts val="800"/>
              </a:spcAft>
            </a:pPr>
            <a:r>
              <a:rPr sz="1300" b="1">
                <a:solidFill>
                  <a:srgbClr val="E6EDF3"/>
                </a:solidFill>
                <a:latin typeface="Segoe UI"/>
              </a:rPr>
              <a:t>+31.21 km²  </a:t>
            </a:r>
            <a:r>
              <a:rPr sz="1300">
                <a:solidFill>
                  <a:srgbClr val="9AA4B0"/>
                </a:solidFill>
                <a:latin typeface="Segoe UI"/>
              </a:rPr>
              <a:t>projected urban extent by 2030</a:t>
            </a:r>
          </a:p>
        </p:txBody>
      </p:sp>
      <p:sp>
        <p:nvSpPr>
          <p:cNvPr id="7" name="Rectangle 6"/>
          <p:cNvSpPr/>
          <p:nvPr/>
        </p:nvSpPr>
        <p:spPr>
          <a:xfrm>
            <a:off x="6309360" y="1600200"/>
            <a:ext cx="5212080" cy="2377440"/>
          </a:xfrm>
          <a:prstGeom prst="rect">
            <a:avLst/>
          </a:prstGeom>
          <a:solidFill>
            <a:srgbClr val="161A20"/>
          </a:solidFill>
          <a:ln w="9525">
            <a:solidFill>
              <a:srgbClr val="262C3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0" y="1783080"/>
            <a:ext cx="4663440" cy="2011680"/>
          </a:xfrm>
          <a:prstGeom prst="rect">
            <a:avLst/>
          </a:prstGeom>
          <a:noFill/>
        </p:spPr>
        <p:txBody>
          <a:bodyPr wrap="square">
            <a:spAutoFit/>
          </a:bodyPr>
          <a:lstStyle/>
          <a:p>
            <a:pPr algn="l">
              <a:spcAft>
                <a:spcPts val="1000"/>
              </a:spcAft>
            </a:pPr>
            <a:r>
              <a:rPr sz="1600" b="1">
                <a:solidFill>
                  <a:srgbClr val="4F9CF9"/>
                </a:solidFill>
                <a:latin typeface="Segoe UI"/>
              </a:rPr>
              <a:t>Contribution</a:t>
            </a:r>
          </a:p>
          <a:p>
            <a:pPr>
              <a:spcAft>
                <a:spcPts val="0"/>
              </a:spcAft>
            </a:pPr>
            <a:r>
              <a:rPr sz="1300" b="0">
                <a:solidFill>
                  <a:srgbClr val="9AA4B0"/>
                </a:solidFill>
                <a:latin typeface="Segoe UI"/>
              </a:rPr>
              <a:t>The activity level expected of a place is learned from the city's own data rather than set as a fixed threshold, so the method transfers to any city unchanged. Development that has stalled is separated from development still filling up — a distinction that accounts for 95% of what would otherwise be reported as a problem.</a:t>
            </a:r>
          </a:p>
        </p:txBody>
      </p:sp>
      <p:sp>
        <p:nvSpPr>
          <p:cNvPr id="9" name="Rectangle 8"/>
          <p:cNvSpPr/>
          <p:nvPr/>
        </p:nvSpPr>
        <p:spPr>
          <a:xfrm>
            <a:off x="640080" y="4160520"/>
            <a:ext cx="5394960" cy="1920240"/>
          </a:xfrm>
          <a:prstGeom prst="rect">
            <a:avLst/>
          </a:prstGeom>
          <a:solidFill>
            <a:srgbClr val="161A20"/>
          </a:solidFill>
          <a:ln w="9525">
            <a:solidFill>
              <a:srgbClr val="262C3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315968"/>
            <a:ext cx="4846320" cy="1645920"/>
          </a:xfrm>
          <a:prstGeom prst="rect">
            <a:avLst/>
          </a:prstGeom>
          <a:noFill/>
        </p:spPr>
        <p:txBody>
          <a:bodyPr wrap="square">
            <a:spAutoFit/>
          </a:bodyPr>
          <a:lstStyle/>
          <a:p>
            <a:pPr algn="l">
              <a:spcAft>
                <a:spcPts val="700"/>
              </a:spcAft>
            </a:pPr>
            <a:r>
              <a:rPr sz="1250" b="0">
                <a:solidFill>
                  <a:srgbClr val="9AA4B0"/>
                </a:solidFill>
                <a:latin typeface="Segoe UI"/>
              </a:rPr>
              <a:t>Screening, not a census — the smallest reliable unit is a neighbourhood</a:t>
            </a:r>
          </a:p>
          <a:p>
            <a:pPr>
              <a:spcAft>
                <a:spcPts val="700"/>
              </a:spcAft>
            </a:pPr>
            <a:r>
              <a:rPr sz="1250" b="0">
                <a:solidFill>
                  <a:srgbClr val="9AA4B0"/>
                </a:solidFill>
                <a:latin typeface="Segoe UI"/>
              </a:rPr>
              <a:t>No ground validation yet; that is the first Phase 3 task</a:t>
            </a:r>
          </a:p>
          <a:p>
            <a:pPr>
              <a:spcAft>
                <a:spcPts val="700"/>
              </a:spcAft>
            </a:pPr>
            <a:r>
              <a:rPr sz="1250" b="0">
                <a:solidFill>
                  <a:srgbClr val="9AA4B0"/>
                </a:solidFill>
                <a:latin typeface="Segoe UI"/>
              </a:rPr>
              <a:t>Figure of Merit 0.0679 carries real signal but is not parcel-accurate</a:t>
            </a:r>
          </a:p>
        </p:txBody>
      </p:sp>
      <p:sp>
        <p:nvSpPr>
          <p:cNvPr id="11" name="Rectangle 10"/>
          <p:cNvSpPr/>
          <p:nvPr/>
        </p:nvSpPr>
        <p:spPr>
          <a:xfrm>
            <a:off x="6309360" y="4160520"/>
            <a:ext cx="5212080" cy="1920240"/>
          </a:xfrm>
          <a:prstGeom prst="rect">
            <a:avLst/>
          </a:prstGeom>
          <a:solidFill>
            <a:srgbClr val="161A20"/>
          </a:solidFill>
          <a:ln w="9525">
            <a:solidFill>
              <a:srgbClr val="262C3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0" y="4315968"/>
            <a:ext cx="4663440" cy="1645920"/>
          </a:xfrm>
          <a:prstGeom prst="rect">
            <a:avLst/>
          </a:prstGeom>
          <a:noFill/>
        </p:spPr>
        <p:txBody>
          <a:bodyPr wrap="square">
            <a:spAutoFit/>
          </a:bodyPr>
          <a:lstStyle/>
          <a:p>
            <a:pPr algn="l">
              <a:spcAft>
                <a:spcPts val="700"/>
              </a:spcAft>
            </a:pPr>
            <a:r>
              <a:rPr sz="1250" b="0">
                <a:solidFill>
                  <a:srgbClr val="9AA4B0"/>
                </a:solidFill>
                <a:latin typeface="Segoe UI"/>
              </a:rPr>
              <a:t>Ground validation of the 15 flagged zones</a:t>
            </a:r>
          </a:p>
          <a:p>
            <a:pPr>
              <a:spcAft>
                <a:spcPts val="700"/>
              </a:spcAft>
            </a:pPr>
            <a:r>
              <a:rPr sz="1250" b="0">
                <a:solidFill>
                  <a:srgbClr val="9AA4B0"/>
                </a:solidFill>
                <a:latin typeface="Segoe UI"/>
              </a:rPr>
              <a:t>Ward-level reporting on Census 2011 boundaries</a:t>
            </a:r>
          </a:p>
          <a:p>
            <a:pPr>
              <a:spcAft>
                <a:spcPts val="700"/>
              </a:spcAft>
            </a:pPr>
            <a:r>
              <a:rPr sz="1250" b="0">
                <a:solidFill>
                  <a:srgbClr val="9AA4B0"/>
                </a:solidFill>
                <a:latin typeface="Segoe UI"/>
              </a:rPr>
              <a:t>City search box replacing the configuration file</a:t>
            </a:r>
          </a:p>
          <a:p>
            <a:pPr>
              <a:spcAft>
                <a:spcPts val="700"/>
              </a:spcAft>
            </a:pPr>
            <a:r>
              <a:rPr sz="1250" b="0">
                <a:solidFill>
                  <a:srgbClr val="9AA4B0"/>
                </a:solidFill>
                <a:latin typeface="Segoe UI"/>
              </a:rPr>
              <a:t>Master-plan overlay: planned versus actual development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